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 autoCompressPictures="0">
  <p:sldMasterIdLst>
    <p:sldMasterId id="2147483648" r:id="rId1"/>
  </p:sldMasterIdLst>
  <p:notesMasterIdLst>
    <p:notesMasterId r:id="rId4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پروپوزال" id="{FBEB0F89-6026-C5F7-74F2-83538D613303}">
          <p14:sldIdLst>
            <p14:sldId id="256"/>
            <p14:sldId id="257"/>
            <p14:sldId id="258"/>
            <p14:sldId id="259"/>
            <p14:sldId id="260"/>
            <p14:sldId id="261"/>
          </p14:sldIdLst>
        </p14:section>
        <p14:section name="مفاهیم پایه" id="{A58CCCB5-96BC-D1C6-3D4A-4B50C7FC81A4}">
          <p14:sldIdLst>
            <p14:sldId id="262"/>
            <p14:sldId id="263"/>
            <p14:sldId id="264"/>
            <p14:sldId id="265"/>
            <p14:sldId id="266"/>
            <p14:sldId id="267"/>
          </p14:sldIdLst>
        </p14:section>
        <p14:section name="طراحی" id="{6556ED22-54B6-B99B-B1F6-54E404367486}">
          <p14:sldIdLst>
            <p14:sldId id="268"/>
            <p14:sldId id="269"/>
            <p14:sldId id="270"/>
            <p14:sldId id="271"/>
            <p14:sldId id="272"/>
            <p14:sldId id="273"/>
            <p14:sldId id="274"/>
          </p14:sldIdLst>
        </p14:section>
        <p14:section name="رمزنگاری" id="{02F34EDF-5719-B3AF-E4ED-0B08BDFBC8B2}">
          <p14:sldIdLst>
            <p14:sldId id="275"/>
            <p14:sldId id="276"/>
            <p14:sldId id="277"/>
            <p14:sldId id="278"/>
            <p14:sldId id="279"/>
            <p14:sldId id="280"/>
          </p14:sldIdLst>
        </p14:section>
        <p14:section name="کد" id="{3362FC4D-9B12-0E53-9B6E-06BAA6A1D4F2}">
          <p14:sldIdLst>
            <p14:sldId id="281"/>
            <p14:sldId id="282"/>
            <p14:sldId id="283"/>
            <p14:sldId id="284"/>
            <p14:sldId id="285"/>
            <p14:sldId id="286"/>
            <p14:sldId id="287"/>
            <p14:sldId id="288"/>
            <p14:sldId id="289"/>
            <p14:sldId id="290"/>
            <p14:sldId id="291"/>
          </p14:sldIdLst>
        </p14:section>
        <p14:section name="تست و استقرار" id="{A009042A-6D4A-9C04-FABA-6C248804E946}">
          <p14:sldIdLst>
            <p14:sldId id="292"/>
            <p14:sldId id="293"/>
            <p14:sldId id="294"/>
            <p14:sldId id="295"/>
            <p14:sldId id="296"/>
            <p14:sldId id="297"/>
          </p14:sldIdLst>
        </p14:section>
        <p14:section name="پایان" id="{9932658A-3CE8-E8AB-0331-C85FECE5E87E}">
          <p14:sldIdLst>
            <p14:sldId id="29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529"/>
    <p:restoredTop sz="94610"/>
  </p:normalViewPr>
  <p:slideViewPr>
    <p:cSldViewPr snapToGrid="0" snapToObjects="1">
      <p:cViewPr varScale="1">
        <p:scale>
          <a:sx n="93" d="100"/>
          <a:sy n="93" d="100"/>
        </p:scale>
        <p:origin x="584" y="2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642184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امروز می‌خواهم سامانه‌ای را معرفی کنم که جعل مدرک تحصیلی را تقریباً غیرممکن می‌کند.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ارائه شش بخش دارد و از ساده شروع می‌شود تا به کد برسیم.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مدرک کاغذی یا PDF قابل جعل است و راه تأییدش کند و متمرکز است.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ثبت روی بلاکچین برای اعتماد، رمزنگاری برای حریم خصوصی.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هر نقش فقط کارهای مجاز خودش را می‌تواند انجام دهد، و این را خود قرارداد اجرا می‌کند.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نیازمندی‌ها مشخص می‌کنند سیستم چه کاری باید بکند و چه ویژگی‌هایی باید داشته باشد.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حالا مفاهیم را از صفر توضیح می‌دهم.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بلاکچین یک دفتر کل مشترک است که هیچ‌کس به‌تنهایی نمی‌تواند در آن دستکاری کند.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قرارداد هوشمند مثل دستگاه فروش خودکار است: قوانین ثابت، بدون نیاز به فروشنده.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در IPFS فایل با اثر انگشتش شناسایی می‌شود، پس دستکاری آن فوراً معلوم می‌شود.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فایل با یک کلید سریع قفل می‌شود، و آن کلید در یک صندوق پست مخصوص هر گیرنده گذاشته می‌شود.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اعتماد روی بلاکچین، حجم روی IPFS، و رازها فقط دست صاحبشان.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حالا ببینیم این قطعات چطور کنار هم قرار می‌گیرند.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سیستم سرور ندارد: مرورگر مستقیماً با بلاکچین و IPFS صحبت می‌کند.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قرارداد اول می‌گوید «چه کسی مجاز است»، قرارداد دوم «چه چیزی ثبت شده».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هر مدرک یک ساختار کوچک روی بلاکچین است؛ فایل اصلی در آن نیست، فقط اثر انگشتش.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ابطال یک‌طرفه است و انقضا با ساعت بلاکچین محاسبه می‌شود.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رمز کن، آپلود کن، کلید را قفل کن، و سپس روی بلاکچین ثبت کن.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دسترسی یعنی یک کلید قفل‌شده‌ی اختصاصی برای هر نفر؛ لغو دسترسی یعنی حذف آن کلید.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قبل از کد، مکانیزم‌های رمزنگاری را یکی‌یکی توضیح می‌دهم.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چهار ابزار داریم و هر کدام یک کار مشخص دارد؛ بقیه‌ی رمزنگاری ترکیب همین‌هاست.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هش مثل اثر انگشت است: از داده ساخته می‌شود ولی از اثر انگشت نمی‌شود داده را ساخت.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AES-GCM هم محرمانگی می‌دهد و هم تضمین می‌کند فایل دستکاری نشده است.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ECDH اجازه می‌دهد دو نفر بدون رد و بدل کردن راز، به یک راز مشترک برسند.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دو لایه‌ی قفل: فایل با AES، و کلید AES با ECIES برای هر گیرنده.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حالا کد واقعی پروژه را می‌بینیم.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تابع اصلی سیستم: بررسی مجوز، ساخت شناسه یکتا، ذخیره، و ثبت رویداد.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وضعیت هر بار محاسبه می‌شود و ابطال فقط توسط خود صادرکننده ممکن است.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دسترسی فقط یک نگاشت است: مدرک، گیرنده، کلید قفل‌شده.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کلید رمزنگاری از امضای کیف‌پول ساخته می‌شود، پس چیزی برای ذخیره یا گم کردن نیست.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فایل با AES رمز می‌شود؛ کلید AES با ECIES برای هر گیرنده قفل می‌شود.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باز کردن قفل، تقارن دقیق قفل کردن است؛ فقط با کلید خصوصی گیرنده شدنی است.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ذخیره‌سازی فقط دو تابع است و فقط داده‌ی رمزشده از آن‌ها عبور می‌کند.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این تابع تمام قطعات را به هم وصل می‌کند: رمز، آپلود، قفل کلید، ثبت روی بلاکچین.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کارفرما بدون اجازه فقط وضعیت را می‌بیند؛ با اجازه، فایل را در مرورگر خودش باز می‌کند.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استقرار یک اسکریپت دو مرحله‌ای است و فرانت‌اند فقط با آدرس و ABI به قرارداد وصل می‌شود.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ببینیم چطور مطمئن شدم کد درست کار می‌کند.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هم حالت‌های معمول را می‌آزماییم و هم ورودی‌های تصادفی و توالی‌های غیرمنتظره را.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سیستم روی یک شبکه‌ی عمومی واقعی مستقر شده و هر کس می‌تواند قراردادها را ببیند.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حالا همان چرخه را زنده نشان می‌دهم.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هیچ سیستمی کامل نیست؛ مهم است محدودیت‌ها را بدانیم و مسیر بهبود را داشته باشیم.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اعتماد از بلاکچین، حریم خصوصی از رمزنگاری، و کنترل دست صاحب مدرک.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ممنون از توجه شما. آماده‌ی پاسخ به سؤالات هستم.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642823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chemeClr val="accent5"/>
                </a:solidFill>
              </a:rPr>
              <a:t>Attestera</a:t>
            </a:r>
            <a:endParaRPr lang="en-US" sz="1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-1371600" y="3840480"/>
            <a:ext cx="4572000" cy="4572000"/>
          </a:xfrm>
          <a:prstGeom prst="ellipse">
            <a:avLst/>
          </a:prstGeom>
          <a:solidFill>
            <a:schemeClr val="accent1">
              <a:alpha val="30000"/>
            </a:schemeClr>
          </a:solidFill>
          <a:ln w="12700">
            <a:solidFill>
              <a:schemeClr val="accent1">
                <a:alpha val="30000"/>
              </a:schemeClr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80192" y="1097280"/>
            <a:ext cx="914400" cy="914400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2450592" y="2194560"/>
            <a:ext cx="9144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fa-IR" altLang="en-US" sz="6600" b="1" dirty="0">
                <a:solidFill>
                  <a:schemeClr val="bg1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Attestera</a:t>
            </a:r>
            <a:endParaRPr lang="fa-IR" sz="6900" dirty="0"/>
          </a:p>
        </p:txBody>
      </p:sp>
      <p:sp>
        <p:nvSpPr>
          <p:cNvPr id="6" name="Text 2"/>
          <p:cNvSpPr txBox="1"/>
          <p:nvPr/>
        </p:nvSpPr>
        <p:spPr>
          <a:xfrm>
            <a:off x="2450592" y="352044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fa-IR" altLang="en-US" sz="2600" dirty="0">
                <a:solidFill>
                  <a:schemeClr val="accent2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سامانه غیرمتمرکز ثبت و اعتبارسنجی مدارک تحصیلی</a:t>
            </a:r>
            <a:endParaRPr lang="fa-IR" sz="2900" dirty="0"/>
          </a:p>
        </p:txBody>
      </p:sp>
      <p:sp>
        <p:nvSpPr>
          <p:cNvPr id="7" name="Text 3"/>
          <p:cNvSpPr txBox="1"/>
          <p:nvPr/>
        </p:nvSpPr>
        <p:spPr>
          <a:xfrm>
            <a:off x="2450592" y="530352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fa-IR" altLang="en-US" sz="1500" dirty="0">
                <a:solidFill>
                  <a:schemeClr val="bg2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پروژه کارشناسی · مهندسی کامپیوتر · دانشگاه صنعتی تبریز · الميرا تقی‌نسب</a:t>
            </a:r>
            <a:endParaRPr lang="fa-IR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"/>
          <p:cNvSpPr txBox="1"/>
          <p:nvPr/>
        </p:nvSpPr>
        <p:spPr>
          <a:xfrm>
            <a:off x="10680192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fa-IR" altLang="en-US" sz="1200" dirty="0">
                <a:solidFill>
                  <a:schemeClr val="accent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۲</a:t>
            </a:r>
            <a:endParaRPr lang="fa-IR" sz="1500" dirty="0"/>
          </a:p>
        </p:txBody>
      </p:sp>
      <p:sp>
        <p:nvSpPr>
          <p:cNvPr id="4" name="Text 1"/>
          <p:cNvSpPr txBox="1"/>
          <p:nvPr/>
        </p:nvSpPr>
        <p:spPr>
          <a:xfrm>
            <a:off x="4279392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fa-IR" altLang="en-US" sz="1200" b="1" dirty="0">
                <a:solidFill>
                  <a:schemeClr val="accent1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پروپوزال</a:t>
            </a:r>
            <a:endParaRPr lang="fa-IR" sz="1500" dirty="0"/>
          </a:p>
        </p:txBody>
      </p:sp>
      <p:sp>
        <p:nvSpPr>
          <p:cNvPr id="5" name="Text 2"/>
          <p:cNvSpPr txBox="1"/>
          <p:nvPr/>
        </p:nvSpPr>
        <p:spPr>
          <a:xfrm>
            <a:off x="2084832" y="640080"/>
            <a:ext cx="9509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 rtl="1">
              <a:buNone/>
            </a:pPr>
            <a:r>
              <a:rPr lang="fa-IR" altLang="en-US" sz="3000" b="1" dirty="0">
                <a:solidFill>
                  <a:schemeClr val="tx2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نقشه‌ی ارائه</a:t>
            </a:r>
            <a:endParaRPr lang="fa-IR" sz="3300" dirty="0"/>
          </a:p>
        </p:txBody>
      </p:sp>
      <p:sp>
        <p:nvSpPr>
          <p:cNvPr id="6" name="Icon circle"/>
          <p:cNvSpPr/>
          <p:nvPr/>
        </p:nvSpPr>
        <p:spPr>
          <a:xfrm>
            <a:off x="594360" y="502920"/>
            <a:ext cx="777240" cy="7772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7" name="Icon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8" y="704088"/>
            <a:ext cx="374904" cy="374904"/>
          </a:xfrm>
          <a:prstGeom prst="rect">
            <a:avLst/>
          </a:prstGeom>
        </p:spPr>
      </p:pic>
      <p:sp>
        <p:nvSpPr>
          <p:cNvPr id="8" name="Card 1"/>
          <p:cNvSpPr/>
          <p:nvPr/>
        </p:nvSpPr>
        <p:spPr>
          <a:xfrm>
            <a:off x="594360" y="1691640"/>
            <a:ext cx="11000232" cy="624840"/>
          </a:xfrm>
          <a:prstGeom prst="roundRect">
            <a:avLst>
              <a:gd name="adj" fmla="val 11707"/>
            </a:avLst>
          </a:prstGeom>
          <a:solidFill>
            <a:schemeClr val="bg1"/>
          </a:solidFill>
          <a:ln w="9525">
            <a:solidFill>
              <a:srgbClr val="E3DFD3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10954512" y="1784604"/>
            <a:ext cx="438912" cy="43891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10954512" y="178460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a-IR" altLang="en-US" sz="1500" b="1" dirty="0">
                <a:solidFill>
                  <a:schemeClr val="bg1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۱</a:t>
            </a:r>
            <a:endParaRPr lang="fa-IR" sz="1800" dirty="0"/>
          </a:p>
        </p:txBody>
      </p:sp>
      <p:sp>
        <p:nvSpPr>
          <p:cNvPr id="11" name="Text 7"/>
          <p:cNvSpPr txBox="1"/>
          <p:nvPr/>
        </p:nvSpPr>
        <p:spPr>
          <a:xfrm>
            <a:off x="7754112" y="1691640"/>
            <a:ext cx="3063240" cy="624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fa-IR" altLang="en-US" sz="2000" b="1" dirty="0">
                <a:solidFill>
                  <a:schemeClr val="tx2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پروپوزال</a:t>
            </a:r>
            <a:endParaRPr lang="fa-IR" sz="2300" dirty="0"/>
          </a:p>
        </p:txBody>
      </p:sp>
      <p:sp>
        <p:nvSpPr>
          <p:cNvPr id="12" name="Text 8"/>
          <p:cNvSpPr txBox="1"/>
          <p:nvPr/>
        </p:nvSpPr>
        <p:spPr>
          <a:xfrm>
            <a:off x="868680" y="1691640"/>
            <a:ext cx="6766560" cy="624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fa-IR" altLang="en-US" sz="1900" dirty="0">
                <a:solidFill>
                  <a:schemeClr val="tx1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مسئله، راه‌حل، نقش‌ها، نیازمندی‌ها</a:t>
            </a:r>
            <a:endParaRPr lang="fa-IR" sz="2200" dirty="0"/>
          </a:p>
        </p:txBody>
      </p:sp>
      <p:sp>
        <p:nvSpPr>
          <p:cNvPr id="13" name="Card 2"/>
          <p:cNvSpPr/>
          <p:nvPr/>
        </p:nvSpPr>
        <p:spPr>
          <a:xfrm>
            <a:off x="594360" y="2444496"/>
            <a:ext cx="11000232" cy="624840"/>
          </a:xfrm>
          <a:prstGeom prst="roundRect">
            <a:avLst>
              <a:gd name="adj" fmla="val 11707"/>
            </a:avLst>
          </a:prstGeom>
          <a:solidFill>
            <a:schemeClr val="bg1"/>
          </a:solidFill>
          <a:ln w="9525">
            <a:solidFill>
              <a:srgbClr val="E3DFD3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10954512" y="2537460"/>
            <a:ext cx="438912" cy="43891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10954512" y="253746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a-IR" altLang="en-US" sz="1500" b="1" dirty="0">
                <a:solidFill>
                  <a:schemeClr val="bg1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۲</a:t>
            </a:r>
            <a:endParaRPr lang="fa-IR" sz="1800" dirty="0"/>
          </a:p>
        </p:txBody>
      </p:sp>
      <p:sp>
        <p:nvSpPr>
          <p:cNvPr id="16" name="Text 12"/>
          <p:cNvSpPr txBox="1"/>
          <p:nvPr/>
        </p:nvSpPr>
        <p:spPr>
          <a:xfrm>
            <a:off x="7754112" y="2444496"/>
            <a:ext cx="3063240" cy="624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fa-IR" altLang="en-US" sz="2000" b="1" dirty="0">
                <a:solidFill>
                  <a:schemeClr val="tx2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مفاهیم پایه</a:t>
            </a:r>
            <a:endParaRPr lang="fa-IR" sz="2300" dirty="0"/>
          </a:p>
        </p:txBody>
      </p:sp>
      <p:sp>
        <p:nvSpPr>
          <p:cNvPr id="17" name="Text 13"/>
          <p:cNvSpPr txBox="1"/>
          <p:nvPr/>
        </p:nvSpPr>
        <p:spPr>
          <a:xfrm>
            <a:off x="868680" y="2444496"/>
            <a:ext cx="6766560" cy="624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fa-IR" altLang="en-US" sz="1900" dirty="0">
                <a:solidFill>
                  <a:schemeClr val="tx1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بلاکچین، قرارداد هوشمند، IPFS، مقدمه‌ی رمزنگاری</a:t>
            </a:r>
            <a:endParaRPr lang="fa-IR" sz="2200" dirty="0"/>
          </a:p>
        </p:txBody>
      </p:sp>
      <p:sp>
        <p:nvSpPr>
          <p:cNvPr id="18" name="Card 3"/>
          <p:cNvSpPr/>
          <p:nvPr/>
        </p:nvSpPr>
        <p:spPr>
          <a:xfrm>
            <a:off x="594360" y="3197352"/>
            <a:ext cx="11000232" cy="624840"/>
          </a:xfrm>
          <a:prstGeom prst="roundRect">
            <a:avLst>
              <a:gd name="adj" fmla="val 11707"/>
            </a:avLst>
          </a:prstGeom>
          <a:solidFill>
            <a:schemeClr val="bg1"/>
          </a:solidFill>
          <a:ln w="9525">
            <a:solidFill>
              <a:srgbClr val="E3DFD3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10954512" y="3290316"/>
            <a:ext cx="438912" cy="43891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10954512" y="329031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a-IR" altLang="en-US" sz="1500" b="1" dirty="0">
                <a:solidFill>
                  <a:schemeClr val="bg1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۳</a:t>
            </a:r>
            <a:endParaRPr lang="fa-IR" sz="1800" dirty="0"/>
          </a:p>
        </p:txBody>
      </p:sp>
      <p:sp>
        <p:nvSpPr>
          <p:cNvPr id="21" name="Text 17"/>
          <p:cNvSpPr txBox="1"/>
          <p:nvPr/>
        </p:nvSpPr>
        <p:spPr>
          <a:xfrm>
            <a:off x="7754112" y="3197352"/>
            <a:ext cx="3063240" cy="624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fa-IR" altLang="en-US" sz="2000" b="1" dirty="0">
                <a:solidFill>
                  <a:schemeClr val="tx2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طراحی</a:t>
            </a:r>
            <a:endParaRPr lang="fa-IR" sz="2300" dirty="0"/>
          </a:p>
        </p:txBody>
      </p:sp>
      <p:sp>
        <p:nvSpPr>
          <p:cNvPr id="22" name="Text 18"/>
          <p:cNvSpPr txBox="1"/>
          <p:nvPr/>
        </p:nvSpPr>
        <p:spPr>
          <a:xfrm>
            <a:off x="868680" y="3197352"/>
            <a:ext cx="6766560" cy="624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fa-IR" altLang="en-US" sz="1900" dirty="0">
                <a:solidFill>
                  <a:schemeClr val="tx1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معماری، مدل داده، جریان‌ها</a:t>
            </a:r>
            <a:endParaRPr lang="fa-IR" sz="2200" dirty="0"/>
          </a:p>
        </p:txBody>
      </p:sp>
      <p:sp>
        <p:nvSpPr>
          <p:cNvPr id="23" name="Card 4"/>
          <p:cNvSpPr/>
          <p:nvPr/>
        </p:nvSpPr>
        <p:spPr>
          <a:xfrm>
            <a:off x="594360" y="3950208"/>
            <a:ext cx="11000232" cy="624840"/>
          </a:xfrm>
          <a:prstGeom prst="roundRect">
            <a:avLst>
              <a:gd name="adj" fmla="val 11707"/>
            </a:avLst>
          </a:prstGeom>
          <a:solidFill>
            <a:schemeClr val="bg1"/>
          </a:solidFill>
          <a:ln w="9525">
            <a:solidFill>
              <a:srgbClr val="E3DFD3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10954512" y="4043172"/>
            <a:ext cx="438912" cy="43891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5" name="Text 21"/>
          <p:cNvSpPr txBox="1"/>
          <p:nvPr/>
        </p:nvSpPr>
        <p:spPr>
          <a:xfrm>
            <a:off x="10954512" y="404317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a-IR" altLang="en-US" sz="1500" b="1" dirty="0">
                <a:solidFill>
                  <a:schemeClr val="bg1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۴</a:t>
            </a:r>
            <a:endParaRPr lang="fa-IR" sz="1800" dirty="0"/>
          </a:p>
        </p:txBody>
      </p:sp>
      <p:sp>
        <p:nvSpPr>
          <p:cNvPr id="26" name="Text 22"/>
          <p:cNvSpPr txBox="1"/>
          <p:nvPr/>
        </p:nvSpPr>
        <p:spPr>
          <a:xfrm>
            <a:off x="7754112" y="3950208"/>
            <a:ext cx="3063240" cy="624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fa-IR" altLang="en-US" sz="2000" b="1" dirty="0">
                <a:solidFill>
                  <a:schemeClr val="tx2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رمزنگاری</a:t>
            </a:r>
            <a:endParaRPr lang="fa-IR" sz="2300" dirty="0"/>
          </a:p>
        </p:txBody>
      </p:sp>
      <p:sp>
        <p:nvSpPr>
          <p:cNvPr id="27" name="Text 23"/>
          <p:cNvSpPr txBox="1"/>
          <p:nvPr/>
        </p:nvSpPr>
        <p:spPr>
          <a:xfrm>
            <a:off x="868680" y="3950208"/>
            <a:ext cx="6766560" cy="624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fa-IR" altLang="en-US" sz="1900" dirty="0">
                <a:solidFill>
                  <a:schemeClr val="tx1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هش، AES-GCM، تبادل کلید، ECIES</a:t>
            </a:r>
            <a:endParaRPr lang="fa-IR" sz="2200" dirty="0"/>
          </a:p>
        </p:txBody>
      </p:sp>
      <p:sp>
        <p:nvSpPr>
          <p:cNvPr id="28" name="Card 5"/>
          <p:cNvSpPr/>
          <p:nvPr/>
        </p:nvSpPr>
        <p:spPr>
          <a:xfrm>
            <a:off x="594360" y="4703064"/>
            <a:ext cx="11000232" cy="624840"/>
          </a:xfrm>
          <a:prstGeom prst="roundRect">
            <a:avLst>
              <a:gd name="adj" fmla="val 11707"/>
            </a:avLst>
          </a:prstGeom>
          <a:solidFill>
            <a:schemeClr val="bg1"/>
          </a:solidFill>
          <a:ln w="9525">
            <a:solidFill>
              <a:srgbClr val="E3DFD3"/>
            </a:solidFill>
            <a:prstDash val="solid"/>
          </a:ln>
        </p:spPr>
      </p:sp>
      <p:sp>
        <p:nvSpPr>
          <p:cNvPr id="29" name="Shape 25"/>
          <p:cNvSpPr/>
          <p:nvPr/>
        </p:nvSpPr>
        <p:spPr>
          <a:xfrm>
            <a:off x="10954512" y="4796028"/>
            <a:ext cx="438912" cy="43891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0" name="Text 26"/>
          <p:cNvSpPr txBox="1"/>
          <p:nvPr/>
        </p:nvSpPr>
        <p:spPr>
          <a:xfrm>
            <a:off x="10954512" y="479602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a-IR" altLang="en-US" sz="1500" b="1" dirty="0">
                <a:solidFill>
                  <a:schemeClr val="bg1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۵</a:t>
            </a:r>
            <a:endParaRPr lang="fa-IR" sz="1800" dirty="0"/>
          </a:p>
        </p:txBody>
      </p:sp>
      <p:sp>
        <p:nvSpPr>
          <p:cNvPr id="31" name="Text 27"/>
          <p:cNvSpPr txBox="1"/>
          <p:nvPr/>
        </p:nvSpPr>
        <p:spPr>
          <a:xfrm>
            <a:off x="7754112" y="4703064"/>
            <a:ext cx="3063240" cy="624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fa-IR" altLang="en-US" sz="2000" b="1" dirty="0">
                <a:solidFill>
                  <a:schemeClr val="tx2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کد</a:t>
            </a:r>
            <a:endParaRPr lang="fa-IR" sz="2300" dirty="0"/>
          </a:p>
        </p:txBody>
      </p:sp>
      <p:sp>
        <p:nvSpPr>
          <p:cNvPr id="32" name="Text 28"/>
          <p:cNvSpPr txBox="1"/>
          <p:nvPr/>
        </p:nvSpPr>
        <p:spPr>
          <a:xfrm>
            <a:off x="868680" y="4703064"/>
            <a:ext cx="6766560" cy="624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fa-IR" altLang="en-US" sz="1900" dirty="0">
                <a:solidFill>
                  <a:schemeClr val="tx1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قراردادها، ماژول رمزنگاری، فرانت‌اند</a:t>
            </a:r>
            <a:endParaRPr lang="fa-IR" sz="2200" dirty="0"/>
          </a:p>
        </p:txBody>
      </p:sp>
      <p:sp>
        <p:nvSpPr>
          <p:cNvPr id="33" name="Card 6"/>
          <p:cNvSpPr/>
          <p:nvPr/>
        </p:nvSpPr>
        <p:spPr>
          <a:xfrm>
            <a:off x="594360" y="5455920"/>
            <a:ext cx="11000232" cy="624840"/>
          </a:xfrm>
          <a:prstGeom prst="roundRect">
            <a:avLst>
              <a:gd name="adj" fmla="val 11707"/>
            </a:avLst>
          </a:prstGeom>
          <a:solidFill>
            <a:schemeClr val="bg1"/>
          </a:solidFill>
          <a:ln w="9525">
            <a:solidFill>
              <a:srgbClr val="E3DFD3"/>
            </a:solidFill>
            <a:prstDash val="solid"/>
          </a:ln>
        </p:spPr>
      </p:sp>
      <p:sp>
        <p:nvSpPr>
          <p:cNvPr id="34" name="Shape 30"/>
          <p:cNvSpPr/>
          <p:nvPr/>
        </p:nvSpPr>
        <p:spPr>
          <a:xfrm>
            <a:off x="10954512" y="5548884"/>
            <a:ext cx="438912" cy="43891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5" name="Text 31"/>
          <p:cNvSpPr txBox="1"/>
          <p:nvPr/>
        </p:nvSpPr>
        <p:spPr>
          <a:xfrm>
            <a:off x="10954512" y="554888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a-IR" altLang="en-US" sz="1500" b="1" dirty="0">
                <a:solidFill>
                  <a:schemeClr val="bg1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۶</a:t>
            </a:r>
            <a:endParaRPr lang="fa-IR" sz="1800" dirty="0"/>
          </a:p>
        </p:txBody>
      </p:sp>
      <p:sp>
        <p:nvSpPr>
          <p:cNvPr id="36" name="Text 32"/>
          <p:cNvSpPr txBox="1"/>
          <p:nvPr/>
        </p:nvSpPr>
        <p:spPr>
          <a:xfrm>
            <a:off x="7754112" y="5455920"/>
            <a:ext cx="3063240" cy="624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fa-IR" altLang="en-US" sz="2000" b="1" dirty="0">
                <a:solidFill>
                  <a:schemeClr val="tx2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تست و استقرار</a:t>
            </a:r>
            <a:endParaRPr lang="fa-IR" sz="2300" dirty="0"/>
          </a:p>
        </p:txBody>
      </p:sp>
      <p:sp>
        <p:nvSpPr>
          <p:cNvPr id="37" name="Text 33"/>
          <p:cNvSpPr txBox="1"/>
          <p:nvPr/>
        </p:nvSpPr>
        <p:spPr>
          <a:xfrm>
            <a:off x="868680" y="5455920"/>
            <a:ext cx="6766560" cy="624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fa-IR" altLang="en-US" sz="1900" dirty="0">
                <a:solidFill>
                  <a:schemeClr val="tx1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۶۴ تست، شبکه Arbitrum Sepolia، دمو</a:t>
            </a:r>
            <a:endParaRPr lang="fa-IR" sz="2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"/>
          <p:cNvSpPr txBox="1"/>
          <p:nvPr/>
        </p:nvSpPr>
        <p:spPr>
          <a:xfrm>
            <a:off x="10680192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fa-IR" altLang="en-US" sz="1200" dirty="0">
                <a:solidFill>
                  <a:schemeClr val="accent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۳</a:t>
            </a:r>
            <a:endParaRPr lang="fa-IR" sz="1500" dirty="0"/>
          </a:p>
        </p:txBody>
      </p:sp>
      <p:sp>
        <p:nvSpPr>
          <p:cNvPr id="4" name="Text 1"/>
          <p:cNvSpPr txBox="1"/>
          <p:nvPr/>
        </p:nvSpPr>
        <p:spPr>
          <a:xfrm>
            <a:off x="4279392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fa-IR" altLang="en-US" sz="1200" b="1" dirty="0">
                <a:solidFill>
                  <a:schemeClr val="accent1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پروپوزال</a:t>
            </a:r>
            <a:endParaRPr lang="fa-IR" sz="1500" dirty="0"/>
          </a:p>
        </p:txBody>
      </p:sp>
      <p:sp>
        <p:nvSpPr>
          <p:cNvPr id="5" name="Text 2"/>
          <p:cNvSpPr txBox="1"/>
          <p:nvPr/>
        </p:nvSpPr>
        <p:spPr>
          <a:xfrm>
            <a:off x="2084832" y="640080"/>
            <a:ext cx="9509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 rtl="1">
              <a:buNone/>
            </a:pPr>
            <a:r>
              <a:rPr lang="fa-IR" altLang="en-US" sz="3000" b="1" dirty="0">
                <a:solidFill>
                  <a:schemeClr val="tx2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مسئله: چرا مدارک تحصیلی قابل اعتماد نیستند؟</a:t>
            </a:r>
            <a:endParaRPr lang="fa-IR" sz="3300" dirty="0"/>
          </a:p>
        </p:txBody>
      </p:sp>
      <p:sp>
        <p:nvSpPr>
          <p:cNvPr id="6" name="Icon circle"/>
          <p:cNvSpPr/>
          <p:nvPr/>
        </p:nvSpPr>
        <p:spPr>
          <a:xfrm>
            <a:off x="594360" y="502920"/>
            <a:ext cx="777240" cy="7772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7" name="Icon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8" y="704088"/>
            <a:ext cx="374904" cy="374904"/>
          </a:xfrm>
          <a:prstGeom prst="rect">
            <a:avLst/>
          </a:prstGeom>
        </p:spPr>
      </p:pic>
      <p:sp>
        <p:nvSpPr>
          <p:cNvPr id="8" name="Card 1"/>
          <p:cNvSpPr/>
          <p:nvPr/>
        </p:nvSpPr>
        <p:spPr>
          <a:xfrm>
            <a:off x="6231636" y="1691640"/>
            <a:ext cx="5362956" cy="2057400"/>
          </a:xfrm>
          <a:prstGeom prst="roundRect">
            <a:avLst>
              <a:gd name="adj" fmla="val 4444"/>
            </a:avLst>
          </a:prstGeom>
          <a:solidFill>
            <a:schemeClr val="bg1"/>
          </a:solidFill>
          <a:ln w="9525">
            <a:solidFill>
              <a:srgbClr val="E3DFD3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10908792" y="1920240"/>
            <a:ext cx="438912" cy="43891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10908792" y="192024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a-IR" altLang="en-US" sz="1500" b="1" dirty="0">
                <a:solidFill>
                  <a:schemeClr val="bg1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۱</a:t>
            </a:r>
            <a:endParaRPr lang="fa-IR" sz="1800" dirty="0"/>
          </a:p>
        </p:txBody>
      </p:sp>
      <p:sp>
        <p:nvSpPr>
          <p:cNvPr id="11" name="Text 7"/>
          <p:cNvSpPr txBox="1"/>
          <p:nvPr/>
        </p:nvSpPr>
        <p:spPr>
          <a:xfrm>
            <a:off x="6505956" y="1920240"/>
            <a:ext cx="42656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fa-IR" altLang="en-US" sz="2200" b="1" dirty="0">
                <a:solidFill>
                  <a:schemeClr val="tx2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جعل مدرک</a:t>
            </a:r>
            <a:endParaRPr lang="fa-IR" sz="2500" dirty="0"/>
          </a:p>
        </p:txBody>
      </p:sp>
      <p:sp>
        <p:nvSpPr>
          <p:cNvPr id="12" name="Text 8"/>
          <p:cNvSpPr txBox="1"/>
          <p:nvPr/>
        </p:nvSpPr>
        <p:spPr>
          <a:xfrm>
            <a:off x="6505956" y="2514600"/>
            <a:ext cx="481431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 rtl="1">
              <a:buNone/>
            </a:pPr>
            <a:r>
              <a:rPr lang="fa-IR" altLang="en-US" sz="2000" dirty="0">
                <a:solidFill>
                  <a:schemeClr val="tx1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ساخت مدرک تقلبی با ابزارهای ساده ممکن است و تشخیصش برای کارفرما سخت است</a:t>
            </a:r>
            <a:endParaRPr lang="fa-IR" sz="2300" dirty="0"/>
          </a:p>
        </p:txBody>
      </p:sp>
      <p:sp>
        <p:nvSpPr>
          <p:cNvPr id="13" name="Card 2"/>
          <p:cNvSpPr/>
          <p:nvPr/>
        </p:nvSpPr>
        <p:spPr>
          <a:xfrm>
            <a:off x="594360" y="1691640"/>
            <a:ext cx="5362956" cy="2057400"/>
          </a:xfrm>
          <a:prstGeom prst="roundRect">
            <a:avLst>
              <a:gd name="adj" fmla="val 4444"/>
            </a:avLst>
          </a:prstGeom>
          <a:solidFill>
            <a:schemeClr val="bg1"/>
          </a:solidFill>
          <a:ln w="9525">
            <a:solidFill>
              <a:srgbClr val="E3DFD3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5271516" y="1920240"/>
            <a:ext cx="438912" cy="43891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5271516" y="192024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a-IR" altLang="en-US" sz="1500" b="1" dirty="0">
                <a:solidFill>
                  <a:schemeClr val="bg1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۲</a:t>
            </a:r>
            <a:endParaRPr lang="fa-IR" sz="1800" dirty="0"/>
          </a:p>
        </p:txBody>
      </p:sp>
      <p:sp>
        <p:nvSpPr>
          <p:cNvPr id="16" name="Text 12"/>
          <p:cNvSpPr txBox="1"/>
          <p:nvPr/>
        </p:nvSpPr>
        <p:spPr>
          <a:xfrm>
            <a:off x="868680" y="1920240"/>
            <a:ext cx="42656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fa-IR" altLang="en-US" sz="2200" b="1" dirty="0">
                <a:solidFill>
                  <a:schemeClr val="tx2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تأیید کند و پرهزینه</a:t>
            </a:r>
            <a:endParaRPr lang="fa-IR" sz="2500" dirty="0"/>
          </a:p>
        </p:txBody>
      </p:sp>
      <p:sp>
        <p:nvSpPr>
          <p:cNvPr id="17" name="Text 13"/>
          <p:cNvSpPr txBox="1"/>
          <p:nvPr/>
        </p:nvSpPr>
        <p:spPr>
          <a:xfrm>
            <a:off x="868680" y="2514600"/>
            <a:ext cx="481431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 rtl="1">
              <a:buNone/>
            </a:pPr>
            <a:r>
              <a:rPr lang="fa-IR" altLang="en-US" sz="2000" dirty="0">
                <a:solidFill>
                  <a:schemeClr val="tx1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استعلام از دانشگاه ممکن است هفته‌ها طول بکشد و نیاز به مکاتبه‌ی رسمی دارد</a:t>
            </a:r>
            <a:endParaRPr lang="fa-IR" sz="2300" dirty="0"/>
          </a:p>
        </p:txBody>
      </p:sp>
      <p:sp>
        <p:nvSpPr>
          <p:cNvPr id="18" name="Card 3"/>
          <p:cNvSpPr/>
          <p:nvPr/>
        </p:nvSpPr>
        <p:spPr>
          <a:xfrm>
            <a:off x="6231636" y="4023360"/>
            <a:ext cx="5362956" cy="2057400"/>
          </a:xfrm>
          <a:prstGeom prst="roundRect">
            <a:avLst>
              <a:gd name="adj" fmla="val 4444"/>
            </a:avLst>
          </a:prstGeom>
          <a:solidFill>
            <a:schemeClr val="bg1"/>
          </a:solidFill>
          <a:ln w="9525">
            <a:solidFill>
              <a:srgbClr val="E3DFD3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10908792" y="4251960"/>
            <a:ext cx="438912" cy="43891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10908792" y="425196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a-IR" altLang="en-US" sz="1500" b="1" dirty="0">
                <a:solidFill>
                  <a:schemeClr val="bg1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۳</a:t>
            </a:r>
            <a:endParaRPr lang="fa-IR" sz="1800" dirty="0"/>
          </a:p>
        </p:txBody>
      </p:sp>
      <p:sp>
        <p:nvSpPr>
          <p:cNvPr id="21" name="Text 17"/>
          <p:cNvSpPr txBox="1"/>
          <p:nvPr/>
        </p:nvSpPr>
        <p:spPr>
          <a:xfrm>
            <a:off x="6505956" y="4251960"/>
            <a:ext cx="42656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fa-IR" altLang="en-US" sz="2200" b="1" dirty="0">
                <a:solidFill>
                  <a:schemeClr val="tx2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تمرکز و ریسک</a:t>
            </a:r>
            <a:endParaRPr lang="fa-IR" sz="2500" dirty="0"/>
          </a:p>
        </p:txBody>
      </p:sp>
      <p:sp>
        <p:nvSpPr>
          <p:cNvPr id="22" name="Text 18"/>
          <p:cNvSpPr txBox="1"/>
          <p:nvPr/>
        </p:nvSpPr>
        <p:spPr>
          <a:xfrm>
            <a:off x="6505956" y="4846320"/>
            <a:ext cx="481431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 rtl="1">
              <a:buNone/>
            </a:pPr>
            <a:r>
              <a:rPr lang="fa-IR" altLang="en-US" sz="2000" dirty="0">
                <a:solidFill>
                  <a:schemeClr val="tx1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پایگاه‌داده‌ی یک نهاد واحد می‌تواند هک، دستکاری یا از دسترس خارج شود</a:t>
            </a:r>
            <a:endParaRPr lang="fa-IR" sz="2300" dirty="0"/>
          </a:p>
        </p:txBody>
      </p:sp>
      <p:sp>
        <p:nvSpPr>
          <p:cNvPr id="23" name="Card 4"/>
          <p:cNvSpPr/>
          <p:nvPr/>
        </p:nvSpPr>
        <p:spPr>
          <a:xfrm>
            <a:off x="594360" y="4023360"/>
            <a:ext cx="5362956" cy="2057400"/>
          </a:xfrm>
          <a:prstGeom prst="roundRect">
            <a:avLst>
              <a:gd name="adj" fmla="val 4444"/>
            </a:avLst>
          </a:prstGeom>
          <a:solidFill>
            <a:schemeClr val="bg1"/>
          </a:solidFill>
          <a:ln w="9525">
            <a:solidFill>
              <a:srgbClr val="E3DFD3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5271516" y="4251960"/>
            <a:ext cx="438912" cy="43891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5" name="Text 21"/>
          <p:cNvSpPr txBox="1"/>
          <p:nvPr/>
        </p:nvSpPr>
        <p:spPr>
          <a:xfrm>
            <a:off x="5271516" y="425196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a-IR" altLang="en-US" sz="1500" b="1" dirty="0">
                <a:solidFill>
                  <a:schemeClr val="bg1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۴</a:t>
            </a:r>
            <a:endParaRPr lang="fa-IR" sz="1800" dirty="0"/>
          </a:p>
        </p:txBody>
      </p:sp>
      <p:sp>
        <p:nvSpPr>
          <p:cNvPr id="26" name="Text 22"/>
          <p:cNvSpPr txBox="1"/>
          <p:nvPr/>
        </p:nvSpPr>
        <p:spPr>
          <a:xfrm>
            <a:off x="868680" y="4251960"/>
            <a:ext cx="42656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fa-IR" altLang="en-US" sz="2200" b="1" dirty="0">
                <a:solidFill>
                  <a:schemeClr val="tx2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حریم خصوصی</a:t>
            </a:r>
            <a:endParaRPr lang="fa-IR" sz="2500" dirty="0"/>
          </a:p>
        </p:txBody>
      </p:sp>
      <p:sp>
        <p:nvSpPr>
          <p:cNvPr id="27" name="Text 23"/>
          <p:cNvSpPr txBox="1"/>
          <p:nvPr/>
        </p:nvSpPr>
        <p:spPr>
          <a:xfrm>
            <a:off x="868680" y="4846320"/>
            <a:ext cx="481431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 rtl="1">
              <a:buNone/>
            </a:pPr>
            <a:r>
              <a:rPr lang="fa-IR" altLang="en-US" sz="2000" dirty="0">
                <a:solidFill>
                  <a:schemeClr val="tx1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با دادن مدرک، همه‌چیز را در اختیار طرف مقابل می‌گذاریم و کنترلی روی آن نداریم</a:t>
            </a:r>
            <a:endParaRPr lang="fa-IR" sz="2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"/>
          <p:cNvSpPr txBox="1"/>
          <p:nvPr/>
        </p:nvSpPr>
        <p:spPr>
          <a:xfrm>
            <a:off x="10680192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fa-IR" altLang="en-US" sz="1200" dirty="0">
                <a:solidFill>
                  <a:schemeClr val="accent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۴</a:t>
            </a:r>
            <a:endParaRPr lang="fa-IR" sz="1500" dirty="0"/>
          </a:p>
        </p:txBody>
      </p:sp>
      <p:sp>
        <p:nvSpPr>
          <p:cNvPr id="4" name="Text 1"/>
          <p:cNvSpPr txBox="1"/>
          <p:nvPr/>
        </p:nvSpPr>
        <p:spPr>
          <a:xfrm>
            <a:off x="4279392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fa-IR" altLang="en-US" sz="1200" b="1" dirty="0">
                <a:solidFill>
                  <a:schemeClr val="accent1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پروپوزال</a:t>
            </a:r>
            <a:endParaRPr lang="fa-IR" sz="1500" dirty="0"/>
          </a:p>
        </p:txBody>
      </p:sp>
      <p:sp>
        <p:nvSpPr>
          <p:cNvPr id="5" name="Text 2"/>
          <p:cNvSpPr txBox="1"/>
          <p:nvPr/>
        </p:nvSpPr>
        <p:spPr>
          <a:xfrm>
            <a:off x="2084832" y="640080"/>
            <a:ext cx="9509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 rtl="1">
              <a:buNone/>
            </a:pPr>
            <a:r>
              <a:rPr lang="fa-IR" altLang="en-US" sz="3000" b="1" dirty="0">
                <a:solidFill>
                  <a:schemeClr val="tx2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راه‌حل پیشنهادی</a:t>
            </a:r>
            <a:endParaRPr lang="fa-IR" sz="3300" dirty="0"/>
          </a:p>
        </p:txBody>
      </p:sp>
      <p:sp>
        <p:nvSpPr>
          <p:cNvPr id="6" name="Statement card"/>
          <p:cNvSpPr/>
          <p:nvPr/>
        </p:nvSpPr>
        <p:spPr>
          <a:xfrm>
            <a:off x="594360" y="1737360"/>
            <a:ext cx="11000232" cy="2103120"/>
          </a:xfrm>
          <a:prstGeom prst="roundRect">
            <a:avLst>
              <a:gd name="adj" fmla="val 4348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051560" y="1737360"/>
            <a:ext cx="10085832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fa-IR" altLang="en-US" sz="2600" b="1" dirty="0">
                <a:solidFill>
                  <a:schemeClr val="bg1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دانشگاه مدرک را روی بلاکچین ثبت می‌کند؛ خود فایل رمزشده در IPFS ذخیره می‌شود؛ و فقط صاحب مدرک تصمیم می‌گیرد چه کسی آن را ببیند.</a:t>
            </a:r>
            <a:endParaRPr lang="fa-IR" sz="2900" dirty="0"/>
          </a:p>
        </p:txBody>
      </p:sp>
      <p:sp>
        <p:nvSpPr>
          <p:cNvPr id="8" name="Point 1"/>
          <p:cNvSpPr/>
          <p:nvPr/>
        </p:nvSpPr>
        <p:spPr>
          <a:xfrm>
            <a:off x="8110728" y="4160520"/>
            <a:ext cx="3483864" cy="1737360"/>
          </a:xfrm>
          <a:prstGeom prst="roundRect">
            <a:avLst>
              <a:gd name="adj" fmla="val 5263"/>
            </a:avLst>
          </a:prstGeom>
          <a:solidFill>
            <a:schemeClr val="bg1"/>
          </a:solidFill>
          <a:ln w="9525">
            <a:solidFill>
              <a:srgbClr val="E3DFD3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385048" y="4343400"/>
            <a:ext cx="29352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fa-IR" altLang="en-US" sz="2400" b="1" dirty="0">
                <a:solidFill>
                  <a:schemeClr val="accent1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اصالت</a:t>
            </a:r>
            <a:endParaRPr lang="fa-IR" sz="2700" dirty="0"/>
          </a:p>
        </p:txBody>
      </p:sp>
      <p:sp>
        <p:nvSpPr>
          <p:cNvPr id="10" name="Text 7"/>
          <p:cNvSpPr txBox="1"/>
          <p:nvPr/>
        </p:nvSpPr>
        <p:spPr>
          <a:xfrm>
            <a:off x="8385048" y="4937760"/>
            <a:ext cx="29352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buNone/>
            </a:pPr>
            <a:r>
              <a:rPr lang="fa-IR" altLang="en-US" sz="1700" dirty="0">
                <a:solidFill>
                  <a:schemeClr val="tx1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ثبت دائمی و غیرقابل دستکاری</a:t>
            </a:r>
            <a:endParaRPr lang="fa-IR" sz="2000" dirty="0"/>
          </a:p>
        </p:txBody>
      </p:sp>
      <p:sp>
        <p:nvSpPr>
          <p:cNvPr id="11" name="Point 2"/>
          <p:cNvSpPr/>
          <p:nvPr/>
        </p:nvSpPr>
        <p:spPr>
          <a:xfrm>
            <a:off x="4352544" y="4160520"/>
            <a:ext cx="3483864" cy="1737360"/>
          </a:xfrm>
          <a:prstGeom prst="roundRect">
            <a:avLst>
              <a:gd name="adj" fmla="val 5263"/>
            </a:avLst>
          </a:prstGeom>
          <a:solidFill>
            <a:schemeClr val="bg1"/>
          </a:solidFill>
          <a:ln w="9525">
            <a:solidFill>
              <a:srgbClr val="E3DFD3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4626864" y="4343400"/>
            <a:ext cx="29352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fa-IR" altLang="en-US" sz="2400" b="1" dirty="0">
                <a:solidFill>
                  <a:schemeClr val="accent1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حریم خصوصی</a:t>
            </a:r>
            <a:endParaRPr lang="fa-IR" sz="2700" dirty="0"/>
          </a:p>
        </p:txBody>
      </p:sp>
      <p:sp>
        <p:nvSpPr>
          <p:cNvPr id="13" name="Text 10"/>
          <p:cNvSpPr txBox="1"/>
          <p:nvPr/>
        </p:nvSpPr>
        <p:spPr>
          <a:xfrm>
            <a:off x="4626864" y="4937760"/>
            <a:ext cx="29352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buNone/>
            </a:pPr>
            <a:r>
              <a:rPr lang="fa-IR" altLang="en-US" sz="1700" dirty="0">
                <a:solidFill>
                  <a:schemeClr val="tx1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فایل رمزشده، کلید دست صاحبش</a:t>
            </a:r>
            <a:endParaRPr lang="fa-IR" sz="2000" dirty="0"/>
          </a:p>
        </p:txBody>
      </p:sp>
      <p:sp>
        <p:nvSpPr>
          <p:cNvPr id="14" name="Point 3"/>
          <p:cNvSpPr/>
          <p:nvPr/>
        </p:nvSpPr>
        <p:spPr>
          <a:xfrm>
            <a:off x="594360" y="4160520"/>
            <a:ext cx="3483864" cy="1737360"/>
          </a:xfrm>
          <a:prstGeom prst="roundRect">
            <a:avLst>
              <a:gd name="adj" fmla="val 5263"/>
            </a:avLst>
          </a:prstGeom>
          <a:solidFill>
            <a:schemeClr val="bg1"/>
          </a:solidFill>
          <a:ln w="9525">
            <a:solidFill>
              <a:srgbClr val="E3DFD3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868680" y="4343400"/>
            <a:ext cx="29352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fa-IR" altLang="en-US" sz="2400" b="1" dirty="0">
                <a:solidFill>
                  <a:schemeClr val="accent1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سرعت</a:t>
            </a:r>
            <a:endParaRPr lang="fa-IR" sz="2700" dirty="0"/>
          </a:p>
        </p:txBody>
      </p:sp>
      <p:sp>
        <p:nvSpPr>
          <p:cNvPr id="16" name="Text 13"/>
          <p:cNvSpPr txBox="1"/>
          <p:nvPr/>
        </p:nvSpPr>
        <p:spPr>
          <a:xfrm>
            <a:off x="868680" y="4937760"/>
            <a:ext cx="29352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buNone/>
            </a:pPr>
            <a:r>
              <a:rPr lang="fa-IR" altLang="en-US" sz="1700" dirty="0">
                <a:solidFill>
                  <a:schemeClr val="tx1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استعلام در چند ثانیه، بدون واسطه</a:t>
            </a:r>
            <a:endParaRPr lang="fa-IR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"/>
          <p:cNvSpPr txBox="1"/>
          <p:nvPr/>
        </p:nvSpPr>
        <p:spPr>
          <a:xfrm>
            <a:off x="10680192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fa-IR" altLang="en-US" sz="1200" dirty="0">
                <a:solidFill>
                  <a:schemeClr val="accent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۵</a:t>
            </a:r>
            <a:endParaRPr lang="fa-IR" sz="1500" dirty="0"/>
          </a:p>
        </p:txBody>
      </p:sp>
      <p:sp>
        <p:nvSpPr>
          <p:cNvPr id="4" name="Text 1"/>
          <p:cNvSpPr txBox="1"/>
          <p:nvPr/>
        </p:nvSpPr>
        <p:spPr>
          <a:xfrm>
            <a:off x="4279392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fa-IR" altLang="en-US" sz="1200" b="1" dirty="0">
                <a:solidFill>
                  <a:schemeClr val="accent1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پروپوزال</a:t>
            </a:r>
            <a:endParaRPr lang="fa-IR" sz="1500" dirty="0"/>
          </a:p>
        </p:txBody>
      </p:sp>
      <p:sp>
        <p:nvSpPr>
          <p:cNvPr id="5" name="Text 2"/>
          <p:cNvSpPr txBox="1"/>
          <p:nvPr/>
        </p:nvSpPr>
        <p:spPr>
          <a:xfrm>
            <a:off x="2084832" y="640080"/>
            <a:ext cx="9509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 rtl="1">
              <a:buNone/>
            </a:pPr>
            <a:r>
              <a:rPr lang="fa-IR" altLang="en-US" sz="3000" b="1" dirty="0">
                <a:solidFill>
                  <a:schemeClr val="tx2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چهار نقش در سیستم</a:t>
            </a:r>
            <a:endParaRPr lang="fa-IR" sz="3300" dirty="0"/>
          </a:p>
        </p:txBody>
      </p:sp>
      <p:sp>
        <p:nvSpPr>
          <p:cNvPr id="6" name="Icon circle"/>
          <p:cNvSpPr/>
          <p:nvPr/>
        </p:nvSpPr>
        <p:spPr>
          <a:xfrm>
            <a:off x="594360" y="502920"/>
            <a:ext cx="777240" cy="7772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7" name="Icon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8" y="704088"/>
            <a:ext cx="374904" cy="374904"/>
          </a:xfrm>
          <a:prstGeom prst="rect">
            <a:avLst/>
          </a:prstGeom>
        </p:spPr>
      </p:pic>
      <p:sp>
        <p:nvSpPr>
          <p:cNvPr id="8" name="Card 1"/>
          <p:cNvSpPr/>
          <p:nvPr/>
        </p:nvSpPr>
        <p:spPr>
          <a:xfrm>
            <a:off x="6231636" y="1691640"/>
            <a:ext cx="5362956" cy="2057400"/>
          </a:xfrm>
          <a:prstGeom prst="roundRect">
            <a:avLst>
              <a:gd name="adj" fmla="val 4444"/>
            </a:avLst>
          </a:prstGeom>
          <a:solidFill>
            <a:schemeClr val="bg1"/>
          </a:solidFill>
          <a:ln w="9525">
            <a:solidFill>
              <a:srgbClr val="E3DFD3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10908792" y="1920240"/>
            <a:ext cx="438912" cy="43891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10908792" y="192024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a-IR" altLang="en-US" sz="1500" b="1" dirty="0">
                <a:solidFill>
                  <a:schemeClr val="bg1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۱</a:t>
            </a:r>
            <a:endParaRPr lang="fa-IR" sz="1800" dirty="0"/>
          </a:p>
        </p:txBody>
      </p:sp>
      <p:sp>
        <p:nvSpPr>
          <p:cNvPr id="11" name="Text 7"/>
          <p:cNvSpPr txBox="1"/>
          <p:nvPr/>
        </p:nvSpPr>
        <p:spPr>
          <a:xfrm>
            <a:off x="6505956" y="1920240"/>
            <a:ext cx="42656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fa-IR" altLang="en-US" sz="2200" b="1" dirty="0">
                <a:solidFill>
                  <a:schemeClr val="tx2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مدیر – Admin</a:t>
            </a:r>
            <a:endParaRPr lang="fa-IR" sz="2500" dirty="0"/>
          </a:p>
        </p:txBody>
      </p:sp>
      <p:sp>
        <p:nvSpPr>
          <p:cNvPr id="12" name="Text 8"/>
          <p:cNvSpPr txBox="1"/>
          <p:nvPr/>
        </p:nvSpPr>
        <p:spPr>
          <a:xfrm>
            <a:off x="6505956" y="2514600"/>
            <a:ext cx="481431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 rtl="1">
              <a:buNone/>
            </a:pPr>
            <a:r>
              <a:rPr lang="fa-IR" altLang="en-US" sz="2000" dirty="0">
                <a:solidFill>
                  <a:schemeClr val="tx1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دانشگاه‌ها را تأیید یا حذف می‌کند و رشته‌های تحصیلی را اضافه می‌کند</a:t>
            </a:r>
            <a:endParaRPr lang="fa-IR" sz="2300" dirty="0"/>
          </a:p>
        </p:txBody>
      </p:sp>
      <p:sp>
        <p:nvSpPr>
          <p:cNvPr id="13" name="Card 2"/>
          <p:cNvSpPr/>
          <p:nvPr/>
        </p:nvSpPr>
        <p:spPr>
          <a:xfrm>
            <a:off x="594360" y="1691640"/>
            <a:ext cx="5362956" cy="2057400"/>
          </a:xfrm>
          <a:prstGeom prst="roundRect">
            <a:avLst>
              <a:gd name="adj" fmla="val 4444"/>
            </a:avLst>
          </a:prstGeom>
          <a:solidFill>
            <a:schemeClr val="bg1"/>
          </a:solidFill>
          <a:ln w="9525">
            <a:solidFill>
              <a:srgbClr val="E3DFD3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5271516" y="1920240"/>
            <a:ext cx="438912" cy="43891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5271516" y="192024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a-IR" altLang="en-US" sz="1500" b="1" dirty="0">
                <a:solidFill>
                  <a:schemeClr val="bg1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۲</a:t>
            </a:r>
            <a:endParaRPr lang="fa-IR" sz="1800" dirty="0"/>
          </a:p>
        </p:txBody>
      </p:sp>
      <p:sp>
        <p:nvSpPr>
          <p:cNvPr id="16" name="Text 12"/>
          <p:cNvSpPr txBox="1"/>
          <p:nvPr/>
        </p:nvSpPr>
        <p:spPr>
          <a:xfrm>
            <a:off x="868680" y="1920240"/>
            <a:ext cx="42656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fa-IR" altLang="en-US" sz="2200" b="1" dirty="0">
                <a:solidFill>
                  <a:schemeClr val="tx2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دانشگاه – Issuer</a:t>
            </a:r>
            <a:endParaRPr lang="fa-IR" sz="2500" dirty="0"/>
          </a:p>
        </p:txBody>
      </p:sp>
      <p:sp>
        <p:nvSpPr>
          <p:cNvPr id="17" name="Text 13"/>
          <p:cNvSpPr txBox="1"/>
          <p:nvPr/>
        </p:nvSpPr>
        <p:spPr>
          <a:xfrm>
            <a:off x="868680" y="2514600"/>
            <a:ext cx="481431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 rtl="1">
              <a:buNone/>
            </a:pPr>
            <a:r>
              <a:rPr lang="fa-IR" altLang="en-US" sz="2000" dirty="0">
                <a:solidFill>
                  <a:schemeClr val="tx1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فقط اگر تأیید شده باشد می‌تواند مدرک صادر یا ابطال کند</a:t>
            </a:r>
            <a:endParaRPr lang="fa-IR" sz="2300" dirty="0"/>
          </a:p>
        </p:txBody>
      </p:sp>
      <p:sp>
        <p:nvSpPr>
          <p:cNvPr id="18" name="Card 3"/>
          <p:cNvSpPr/>
          <p:nvPr/>
        </p:nvSpPr>
        <p:spPr>
          <a:xfrm>
            <a:off x="6231636" y="4023360"/>
            <a:ext cx="5362956" cy="2057400"/>
          </a:xfrm>
          <a:prstGeom prst="roundRect">
            <a:avLst>
              <a:gd name="adj" fmla="val 4444"/>
            </a:avLst>
          </a:prstGeom>
          <a:solidFill>
            <a:schemeClr val="bg1"/>
          </a:solidFill>
          <a:ln w="9525">
            <a:solidFill>
              <a:srgbClr val="E3DFD3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10908792" y="4251960"/>
            <a:ext cx="438912" cy="43891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10908792" y="425196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a-IR" altLang="en-US" sz="1500" b="1" dirty="0">
                <a:solidFill>
                  <a:schemeClr val="bg1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۳</a:t>
            </a:r>
            <a:endParaRPr lang="fa-IR" sz="1800" dirty="0"/>
          </a:p>
        </p:txBody>
      </p:sp>
      <p:sp>
        <p:nvSpPr>
          <p:cNvPr id="21" name="Text 17"/>
          <p:cNvSpPr txBox="1"/>
          <p:nvPr/>
        </p:nvSpPr>
        <p:spPr>
          <a:xfrm>
            <a:off x="6505956" y="4251960"/>
            <a:ext cx="42656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fa-IR" altLang="en-US" sz="2200" b="1" dirty="0">
                <a:solidFill>
                  <a:schemeClr val="tx2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دانشجو – Owner</a:t>
            </a:r>
            <a:endParaRPr lang="fa-IR" sz="2500" dirty="0"/>
          </a:p>
        </p:txBody>
      </p:sp>
      <p:sp>
        <p:nvSpPr>
          <p:cNvPr id="22" name="Text 18"/>
          <p:cNvSpPr txBox="1"/>
          <p:nvPr/>
        </p:nvSpPr>
        <p:spPr>
          <a:xfrm>
            <a:off x="6505956" y="4846320"/>
            <a:ext cx="481431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 rtl="1">
              <a:buNone/>
            </a:pPr>
            <a:r>
              <a:rPr lang="fa-IR" altLang="en-US" sz="2000" dirty="0">
                <a:solidFill>
                  <a:schemeClr val="tx1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صاحب مدرک؛ به هر کس که بخواهد دسترسی می‌دهد یا پس می‌گیرد</a:t>
            </a:r>
            <a:endParaRPr lang="fa-IR" sz="2300" dirty="0"/>
          </a:p>
        </p:txBody>
      </p:sp>
      <p:sp>
        <p:nvSpPr>
          <p:cNvPr id="23" name="Card 4"/>
          <p:cNvSpPr/>
          <p:nvPr/>
        </p:nvSpPr>
        <p:spPr>
          <a:xfrm>
            <a:off x="594360" y="4023360"/>
            <a:ext cx="5362956" cy="2057400"/>
          </a:xfrm>
          <a:prstGeom prst="roundRect">
            <a:avLst>
              <a:gd name="adj" fmla="val 4444"/>
            </a:avLst>
          </a:prstGeom>
          <a:solidFill>
            <a:schemeClr val="bg1"/>
          </a:solidFill>
          <a:ln w="9525">
            <a:solidFill>
              <a:srgbClr val="E3DFD3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5271516" y="4251960"/>
            <a:ext cx="438912" cy="43891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5" name="Text 21"/>
          <p:cNvSpPr txBox="1"/>
          <p:nvPr/>
        </p:nvSpPr>
        <p:spPr>
          <a:xfrm>
            <a:off x="5271516" y="425196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a-IR" altLang="en-US" sz="1500" b="1" dirty="0">
                <a:solidFill>
                  <a:schemeClr val="bg1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۴</a:t>
            </a:r>
            <a:endParaRPr lang="fa-IR" sz="1800" dirty="0"/>
          </a:p>
        </p:txBody>
      </p:sp>
      <p:sp>
        <p:nvSpPr>
          <p:cNvPr id="26" name="Text 22"/>
          <p:cNvSpPr txBox="1"/>
          <p:nvPr/>
        </p:nvSpPr>
        <p:spPr>
          <a:xfrm>
            <a:off x="868680" y="4251960"/>
            <a:ext cx="42656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fa-IR" altLang="en-US" sz="2200" b="1" dirty="0">
                <a:solidFill>
                  <a:schemeClr val="tx2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کارفرما – Verifier</a:t>
            </a:r>
            <a:endParaRPr lang="fa-IR" sz="2500" dirty="0"/>
          </a:p>
        </p:txBody>
      </p:sp>
      <p:sp>
        <p:nvSpPr>
          <p:cNvPr id="27" name="Text 23"/>
          <p:cNvSpPr txBox="1"/>
          <p:nvPr/>
        </p:nvSpPr>
        <p:spPr>
          <a:xfrm>
            <a:off x="868680" y="4846320"/>
            <a:ext cx="481431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 rtl="1">
              <a:buNone/>
            </a:pPr>
            <a:r>
              <a:rPr lang="fa-IR" altLang="en-US" sz="2000" dirty="0">
                <a:solidFill>
                  <a:schemeClr val="tx1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وضعیت مدرک را می‌بیند؛ فایل کامل فقط با اجازه‌ی صاحبش</a:t>
            </a:r>
            <a:endParaRPr lang="fa-IR" sz="2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"/>
          <p:cNvSpPr txBox="1"/>
          <p:nvPr/>
        </p:nvSpPr>
        <p:spPr>
          <a:xfrm>
            <a:off x="10680192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fa-IR" altLang="en-US" sz="1200" dirty="0">
                <a:solidFill>
                  <a:schemeClr val="accent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۶</a:t>
            </a:r>
            <a:endParaRPr lang="fa-IR" sz="1500" dirty="0"/>
          </a:p>
        </p:txBody>
      </p:sp>
      <p:sp>
        <p:nvSpPr>
          <p:cNvPr id="4" name="Text 1"/>
          <p:cNvSpPr txBox="1"/>
          <p:nvPr/>
        </p:nvSpPr>
        <p:spPr>
          <a:xfrm>
            <a:off x="4279392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fa-IR" altLang="en-US" sz="1200" b="1" dirty="0">
                <a:solidFill>
                  <a:schemeClr val="accent1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پروپوزال</a:t>
            </a:r>
            <a:endParaRPr lang="fa-IR" sz="1500" dirty="0"/>
          </a:p>
        </p:txBody>
      </p:sp>
      <p:sp>
        <p:nvSpPr>
          <p:cNvPr id="5" name="Text 2"/>
          <p:cNvSpPr txBox="1"/>
          <p:nvPr/>
        </p:nvSpPr>
        <p:spPr>
          <a:xfrm>
            <a:off x="2084832" y="640080"/>
            <a:ext cx="9509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 rtl="1">
              <a:buNone/>
            </a:pPr>
            <a:r>
              <a:rPr lang="fa-IR" altLang="en-US" sz="3000" b="1" dirty="0">
                <a:solidFill>
                  <a:schemeClr val="tx2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نیازمندی‌های اصلی</a:t>
            </a:r>
            <a:endParaRPr lang="fa-IR" sz="3300" dirty="0"/>
          </a:p>
        </p:txBody>
      </p:sp>
      <p:graphicFrame>
        <p:nvGraphicFramePr>
          <p:cNvPr id="7" name="Data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737360"/>
          <a:ext cx="11000232" cy="3950208"/>
        </p:xfrm>
        <a:graphic>
          <a:graphicData uri="http://schemas.openxmlformats.org/drawingml/2006/table">
            <a:tbl>
              <a:tblPr/>
              <a:tblGrid>
                <a:gridCol w="68201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800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58368">
                <a:tc>
                  <a:txBody>
                    <a:bodyPr/>
                    <a:lstStyle/>
                    <a:p>
                      <a:pPr marL="0" indent="0" algn="r" rtl="1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  <a:latin typeface="Vazirmatn" pitchFamily="34" charset="0"/>
                          <a:ea typeface="Vazirmatn" pitchFamily="34" charset="-122"/>
                          <a:cs typeface="Vazirmatn" pitchFamily="34" charset="-120"/>
                        </a:rPr>
                        <a:t>نیازمندی غیرعملکردی</a:t>
                      </a:r>
                      <a:endParaRPr lang="en-US" sz="1800" dirty="0">
                        <a:latin typeface="Vazirmatn" charset="0"/>
                        <a:ea typeface="Vazirmatn" charset="0"/>
                        <a:cs typeface="Vazirmatn" charset="0"/>
                      </a:endParaRPr>
                    </a:p>
                  </a:txBody>
                  <a:tcPr marL="137160" marR="137160" anchor="ctr">
                    <a:lnL w="9525" cap="flat" cmpd="sng" algn="ctr">
                      <a:solidFill>
                        <a:srgbClr val="E3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 rtl="1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  <a:latin typeface="Vazirmatn" pitchFamily="34" charset="0"/>
                          <a:ea typeface="Vazirmatn" pitchFamily="34" charset="-122"/>
                          <a:cs typeface="Vazirmatn" pitchFamily="34" charset="-120"/>
                        </a:rPr>
                        <a:t>نیازمندی عملکردی</a:t>
                      </a:r>
                      <a:endParaRPr lang="en-US" sz="1800" dirty="0">
                        <a:latin typeface="Vazirmatn" charset="0"/>
                        <a:ea typeface="Vazirmatn" charset="0"/>
                        <a:cs typeface="Vazirmatn" charset="0"/>
                      </a:endParaRPr>
                    </a:p>
                  </a:txBody>
                  <a:tcPr marL="137160" marR="137160" anchor="ctr">
                    <a:lnL w="9525" cap="flat" cmpd="sng" algn="ctr">
                      <a:solidFill>
                        <a:srgbClr val="E3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 algn="r" rtl="1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Vazirmatn" pitchFamily="34" charset="0"/>
                          <a:ea typeface="Vazirmatn" pitchFamily="34" charset="-122"/>
                          <a:cs typeface="Vazirmatn" pitchFamily="34" charset="-120"/>
                        </a:rPr>
                        <a:t>تغییرناپذیری قراردادها، بدون آپگرید</a:t>
                      </a:r>
                      <a:endParaRPr lang="en-US" sz="1800" dirty="0">
                        <a:latin typeface="Vazirmatn" charset="0"/>
                        <a:ea typeface="Vazirmatn" charset="0"/>
                        <a:cs typeface="Vazirmatn" charset="0"/>
                      </a:endParaRPr>
                    </a:p>
                  </a:txBody>
                  <a:tcPr marL="137160" marR="137160" anchor="ctr">
                    <a:lnL w="9525" cap="flat" cmpd="sng" algn="ctr">
                      <a:solidFill>
                        <a:srgbClr val="E3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 rtl="1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  <a:latin typeface="Vazirmatn" pitchFamily="34" charset="0"/>
                          <a:ea typeface="Vazirmatn" pitchFamily="34" charset="-122"/>
                          <a:cs typeface="Vazirmatn" pitchFamily="34" charset="-120"/>
                        </a:rPr>
                        <a:t>ثبت مدرک فقط توسط دانشگاه تأییدشده</a:t>
                      </a:r>
                      <a:endParaRPr lang="en-US" sz="1800" dirty="0">
                        <a:latin typeface="Vazirmatn" charset="0"/>
                        <a:ea typeface="Vazirmatn" charset="0"/>
                        <a:cs typeface="Vazirmatn" charset="0"/>
                      </a:endParaRPr>
                    </a:p>
                  </a:txBody>
                  <a:tcPr marL="137160" marR="137160" anchor="ctr">
                    <a:lnL w="9525" cap="flat" cmpd="sng" algn="ctr">
                      <a:solidFill>
                        <a:srgbClr val="E3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 algn="r" rtl="1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Vazirmatn" pitchFamily="34" charset="0"/>
                          <a:ea typeface="Vazirmatn" pitchFamily="34" charset="-122"/>
                          <a:cs typeface="Vazirmatn" pitchFamily="34" charset="-120"/>
                        </a:rPr>
                        <a:t>رمزنگاری سمت کاربر؛ کلید هرگز به سرور نمی‌رود</a:t>
                      </a:r>
                      <a:endParaRPr lang="en-US" sz="1800" dirty="0">
                        <a:latin typeface="Vazirmatn" charset="0"/>
                        <a:ea typeface="Vazirmatn" charset="0"/>
                        <a:cs typeface="Vazirmatn" charset="0"/>
                      </a:endParaRPr>
                    </a:p>
                  </a:txBody>
                  <a:tcPr marL="137160" marR="137160" anchor="ctr">
                    <a:lnL w="9525" cap="flat" cmpd="sng" algn="ctr">
                      <a:solidFill>
                        <a:srgbClr val="E3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 rtl="1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  <a:latin typeface="Vazirmatn" pitchFamily="34" charset="0"/>
                          <a:ea typeface="Vazirmatn" pitchFamily="34" charset="-122"/>
                          <a:cs typeface="Vazirmatn" pitchFamily="34" charset="-120"/>
                        </a:rPr>
                        <a:t>انقضای اختیاری برای هر مدرک</a:t>
                      </a:r>
                      <a:endParaRPr lang="en-US" sz="1800" dirty="0">
                        <a:latin typeface="Vazirmatn" charset="0"/>
                        <a:ea typeface="Vazirmatn" charset="0"/>
                        <a:cs typeface="Vazirmatn" charset="0"/>
                      </a:endParaRPr>
                    </a:p>
                  </a:txBody>
                  <a:tcPr marL="137160" marR="137160" anchor="ctr">
                    <a:lnL w="9525" cap="flat" cmpd="sng" algn="ctr">
                      <a:solidFill>
                        <a:srgbClr val="E3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 algn="r" rtl="1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Vazirmatn" pitchFamily="34" charset="0"/>
                          <a:ea typeface="Vazirmatn" pitchFamily="34" charset="-122"/>
                          <a:cs typeface="Vazirmatn" pitchFamily="34" charset="-120"/>
                        </a:rPr>
                        <a:t>هزینه‌ی تراکنش پایین، با شبکه‌ی لایه‌ی دوم</a:t>
                      </a:r>
                      <a:endParaRPr lang="en-US" sz="1800" dirty="0">
                        <a:latin typeface="Vazirmatn" charset="0"/>
                        <a:ea typeface="Vazirmatn" charset="0"/>
                        <a:cs typeface="Vazirmatn" charset="0"/>
                      </a:endParaRPr>
                    </a:p>
                  </a:txBody>
                  <a:tcPr marL="137160" marR="137160" anchor="ctr">
                    <a:lnL w="9525" cap="flat" cmpd="sng" algn="ctr">
                      <a:solidFill>
                        <a:srgbClr val="E3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 rtl="1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  <a:latin typeface="Vazirmatn" pitchFamily="34" charset="0"/>
                          <a:ea typeface="Vazirmatn" pitchFamily="34" charset="-122"/>
                          <a:cs typeface="Vazirmatn" pitchFamily="34" charset="-120"/>
                        </a:rPr>
                        <a:t>ابطال مدرک توسط صادرکننده</a:t>
                      </a:r>
                      <a:endParaRPr lang="en-US" sz="1800" dirty="0">
                        <a:latin typeface="Vazirmatn" charset="0"/>
                        <a:ea typeface="Vazirmatn" charset="0"/>
                        <a:cs typeface="Vazirmatn" charset="0"/>
                      </a:endParaRPr>
                    </a:p>
                  </a:txBody>
                  <a:tcPr marL="137160" marR="137160" anchor="ctr">
                    <a:lnL w="9525" cap="flat" cmpd="sng" algn="ctr">
                      <a:solidFill>
                        <a:srgbClr val="E3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 algn="r" rtl="1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Vazirmatn" pitchFamily="34" charset="0"/>
                          <a:ea typeface="Vazirmatn" pitchFamily="34" charset="-122"/>
                          <a:cs typeface="Vazirmatn" pitchFamily="34" charset="-120"/>
                        </a:rPr>
                        <a:t>ثبت رویداد برای هر تغییر مهم تا قابل ردیابی باشد</a:t>
                      </a:r>
                      <a:endParaRPr lang="en-US" sz="1800" dirty="0">
                        <a:latin typeface="Vazirmatn" charset="0"/>
                        <a:ea typeface="Vazirmatn" charset="0"/>
                        <a:cs typeface="Vazirmatn" charset="0"/>
                      </a:endParaRPr>
                    </a:p>
                  </a:txBody>
                  <a:tcPr marL="137160" marR="137160" anchor="ctr">
                    <a:lnL w="9525" cap="flat" cmpd="sng" algn="ctr">
                      <a:solidFill>
                        <a:srgbClr val="E3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 rtl="1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  <a:latin typeface="Vazirmatn" pitchFamily="34" charset="0"/>
                          <a:ea typeface="Vazirmatn" pitchFamily="34" charset="-122"/>
                          <a:cs typeface="Vazirmatn" pitchFamily="34" charset="-120"/>
                        </a:rPr>
                        <a:t>اعطا و پس‌گرفتن دسترسی توسط صاحب مدرک</a:t>
                      </a:r>
                      <a:endParaRPr lang="en-US" sz="1800" dirty="0">
                        <a:latin typeface="Vazirmatn" charset="0"/>
                        <a:ea typeface="Vazirmatn" charset="0"/>
                        <a:cs typeface="Vazirmatn" charset="0"/>
                      </a:endParaRPr>
                    </a:p>
                  </a:txBody>
                  <a:tcPr marL="137160" marR="137160" anchor="ctr">
                    <a:lnL w="9525" cap="flat" cmpd="sng" algn="ctr">
                      <a:solidFill>
                        <a:srgbClr val="E3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 algn="r" rtl="1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Vazirmatn" pitchFamily="34" charset="0"/>
                          <a:ea typeface="Vazirmatn" pitchFamily="34" charset="-122"/>
                          <a:cs typeface="Vazirmatn" pitchFamily="34" charset="-120"/>
                        </a:rPr>
                        <a:t>تست‌پذیری: واحد، فازی و ناوردا</a:t>
                      </a:r>
                      <a:endParaRPr lang="en-US" sz="1800" dirty="0">
                        <a:latin typeface="Vazirmatn" charset="0"/>
                        <a:ea typeface="Vazirmatn" charset="0"/>
                        <a:cs typeface="Vazirmatn" charset="0"/>
                      </a:endParaRPr>
                    </a:p>
                  </a:txBody>
                  <a:tcPr marL="137160" marR="137160" anchor="ctr">
                    <a:lnL w="9525" cap="flat" cmpd="sng" algn="ctr">
                      <a:solidFill>
                        <a:srgbClr val="E3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 rtl="1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  <a:latin typeface="Vazirmatn" pitchFamily="34" charset="0"/>
                          <a:ea typeface="Vazirmatn" pitchFamily="34" charset="-122"/>
                          <a:cs typeface="Vazirmatn" pitchFamily="34" charset="-120"/>
                        </a:rPr>
                        <a:t>استعلام وضعیت توسط هر کس</a:t>
                      </a:r>
                      <a:endParaRPr lang="en-US" sz="1800" dirty="0">
                        <a:latin typeface="Vazirmatn" charset="0"/>
                        <a:ea typeface="Vazirmatn" charset="0"/>
                        <a:cs typeface="Vazirmatn" charset="0"/>
                      </a:endParaRPr>
                    </a:p>
                  </a:txBody>
                  <a:tcPr marL="137160" marR="137160" anchor="ctr">
                    <a:lnL w="9525" cap="flat" cmpd="sng" algn="ctr">
                      <a:solidFill>
                        <a:srgbClr val="E3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-1371600" y="-1371600"/>
            <a:ext cx="4114800" cy="4114800"/>
          </a:xfrm>
          <a:prstGeom prst="ellipse">
            <a:avLst/>
          </a:prstGeom>
          <a:solidFill>
            <a:schemeClr val="accent1">
              <a:alpha val="30000"/>
            </a:schemeClr>
          </a:solidFill>
          <a:ln w="12700">
            <a:solidFill>
              <a:schemeClr val="accent1">
                <a:alpha val="30000"/>
              </a:schemeClr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2450592" y="2468880"/>
            <a:ext cx="9144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fa-IR" altLang="en-US" sz="4800" b="1" dirty="0">
                <a:solidFill>
                  <a:schemeClr val="bg1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مفاهیم پایه</a:t>
            </a:r>
            <a:endParaRPr lang="fa-IR" sz="5100" dirty="0"/>
          </a:p>
        </p:txBody>
      </p:sp>
      <p:sp>
        <p:nvSpPr>
          <p:cNvPr id="5" name="Text 2"/>
          <p:cNvSpPr txBox="1"/>
          <p:nvPr/>
        </p:nvSpPr>
        <p:spPr>
          <a:xfrm>
            <a:off x="2450592" y="365760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fa-IR" altLang="en-US" sz="2200" dirty="0">
                <a:solidFill>
                  <a:schemeClr val="accent2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بلاکچین · قرارداد هوشمند · IPFS · رمزنگاری</a:t>
            </a:r>
            <a:endParaRPr lang="fa-IR" sz="2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"/>
          <p:cNvSpPr txBox="1"/>
          <p:nvPr/>
        </p:nvSpPr>
        <p:spPr>
          <a:xfrm>
            <a:off x="10680192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fa-IR" altLang="en-US" sz="1200" dirty="0">
                <a:solidFill>
                  <a:schemeClr val="accent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۸</a:t>
            </a:r>
            <a:endParaRPr lang="fa-IR" sz="1500" dirty="0"/>
          </a:p>
        </p:txBody>
      </p:sp>
      <p:sp>
        <p:nvSpPr>
          <p:cNvPr id="4" name="Text 1"/>
          <p:cNvSpPr txBox="1"/>
          <p:nvPr/>
        </p:nvSpPr>
        <p:spPr>
          <a:xfrm>
            <a:off x="4279392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fa-IR" altLang="en-US" sz="1200" b="1" dirty="0">
                <a:solidFill>
                  <a:schemeClr val="accent1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مفاهیم پایه</a:t>
            </a:r>
            <a:endParaRPr lang="fa-IR" sz="1500" dirty="0"/>
          </a:p>
        </p:txBody>
      </p:sp>
      <p:sp>
        <p:nvSpPr>
          <p:cNvPr id="5" name="Text 2"/>
          <p:cNvSpPr txBox="1"/>
          <p:nvPr/>
        </p:nvSpPr>
        <p:spPr>
          <a:xfrm>
            <a:off x="2084832" y="640080"/>
            <a:ext cx="9509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 rtl="1">
              <a:buNone/>
            </a:pPr>
            <a:r>
              <a:rPr lang="fa-IR" altLang="en-US" sz="3000" b="1" dirty="0">
                <a:solidFill>
                  <a:schemeClr val="tx2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بلاکچین چیست؟</a:t>
            </a:r>
            <a:endParaRPr lang="fa-IR" sz="3300" dirty="0"/>
          </a:p>
        </p:txBody>
      </p:sp>
      <p:sp>
        <p:nvSpPr>
          <p:cNvPr id="6" name="Icon circle"/>
          <p:cNvSpPr/>
          <p:nvPr/>
        </p:nvSpPr>
        <p:spPr>
          <a:xfrm>
            <a:off x="594360" y="502920"/>
            <a:ext cx="777240" cy="7772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7" name="Icon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8" y="704088"/>
            <a:ext cx="374904" cy="374904"/>
          </a:xfrm>
          <a:prstGeom prst="rect">
            <a:avLst/>
          </a:prstGeom>
        </p:spPr>
      </p:pic>
      <p:sp>
        <p:nvSpPr>
          <p:cNvPr id="8" name="Card 1"/>
          <p:cNvSpPr/>
          <p:nvPr/>
        </p:nvSpPr>
        <p:spPr>
          <a:xfrm>
            <a:off x="6231636" y="1691640"/>
            <a:ext cx="5362956" cy="2057400"/>
          </a:xfrm>
          <a:prstGeom prst="roundRect">
            <a:avLst>
              <a:gd name="adj" fmla="val 4444"/>
            </a:avLst>
          </a:prstGeom>
          <a:solidFill>
            <a:schemeClr val="bg1"/>
          </a:solidFill>
          <a:ln w="9525">
            <a:solidFill>
              <a:srgbClr val="E3DFD3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10908792" y="1920240"/>
            <a:ext cx="438912" cy="43891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10908792" y="192024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a-IR" altLang="en-US" sz="1500" b="1" dirty="0">
                <a:solidFill>
                  <a:schemeClr val="bg1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۱</a:t>
            </a:r>
            <a:endParaRPr lang="fa-IR" sz="1800" dirty="0"/>
          </a:p>
        </p:txBody>
      </p:sp>
      <p:sp>
        <p:nvSpPr>
          <p:cNvPr id="11" name="Text 7"/>
          <p:cNvSpPr txBox="1"/>
          <p:nvPr/>
        </p:nvSpPr>
        <p:spPr>
          <a:xfrm>
            <a:off x="6505956" y="1920240"/>
            <a:ext cx="42656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fa-IR" altLang="en-US" sz="2200" b="1" dirty="0">
                <a:solidFill>
                  <a:schemeClr val="tx2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دفتر کل مشترک</a:t>
            </a:r>
            <a:endParaRPr lang="fa-IR" sz="2500" dirty="0"/>
          </a:p>
        </p:txBody>
      </p:sp>
      <p:sp>
        <p:nvSpPr>
          <p:cNvPr id="12" name="Text 8"/>
          <p:cNvSpPr txBox="1"/>
          <p:nvPr/>
        </p:nvSpPr>
        <p:spPr>
          <a:xfrm>
            <a:off x="6505956" y="2514600"/>
            <a:ext cx="481431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 rtl="1">
              <a:buNone/>
            </a:pPr>
            <a:r>
              <a:rPr lang="fa-IR" altLang="en-US" sz="2000" dirty="0">
                <a:solidFill>
                  <a:schemeClr val="tx1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یک دفتر حسابداری که نسخه‌ی یکسانش پیش هزاران کامپیوتر است</a:t>
            </a:r>
            <a:endParaRPr lang="fa-IR" sz="2300" dirty="0"/>
          </a:p>
        </p:txBody>
      </p:sp>
      <p:sp>
        <p:nvSpPr>
          <p:cNvPr id="13" name="Card 2"/>
          <p:cNvSpPr/>
          <p:nvPr/>
        </p:nvSpPr>
        <p:spPr>
          <a:xfrm>
            <a:off x="594360" y="1691640"/>
            <a:ext cx="5362956" cy="2057400"/>
          </a:xfrm>
          <a:prstGeom prst="roundRect">
            <a:avLst>
              <a:gd name="adj" fmla="val 4444"/>
            </a:avLst>
          </a:prstGeom>
          <a:solidFill>
            <a:schemeClr val="bg1"/>
          </a:solidFill>
          <a:ln w="9525">
            <a:solidFill>
              <a:srgbClr val="E3DFD3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5271516" y="1920240"/>
            <a:ext cx="438912" cy="43891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5271516" y="192024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a-IR" altLang="en-US" sz="1500" b="1" dirty="0">
                <a:solidFill>
                  <a:schemeClr val="bg1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۲</a:t>
            </a:r>
            <a:endParaRPr lang="fa-IR" sz="1800" dirty="0"/>
          </a:p>
        </p:txBody>
      </p:sp>
      <p:sp>
        <p:nvSpPr>
          <p:cNvPr id="16" name="Text 12"/>
          <p:cNvSpPr txBox="1"/>
          <p:nvPr/>
        </p:nvSpPr>
        <p:spPr>
          <a:xfrm>
            <a:off x="868680" y="1920240"/>
            <a:ext cx="42656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fa-IR" altLang="en-US" sz="2200" b="1" dirty="0">
                <a:solidFill>
                  <a:schemeClr val="tx2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فقط افزودنی</a:t>
            </a:r>
            <a:endParaRPr lang="fa-IR" sz="2500" dirty="0"/>
          </a:p>
        </p:txBody>
      </p:sp>
      <p:sp>
        <p:nvSpPr>
          <p:cNvPr id="17" name="Text 13"/>
          <p:cNvSpPr txBox="1"/>
          <p:nvPr/>
        </p:nvSpPr>
        <p:spPr>
          <a:xfrm>
            <a:off x="868680" y="2514600"/>
            <a:ext cx="481431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 rtl="1">
              <a:buNone/>
            </a:pPr>
            <a:r>
              <a:rPr lang="fa-IR" altLang="en-US" sz="2000" dirty="0">
                <a:solidFill>
                  <a:schemeClr val="tx1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رکورد جدید اضافه می‌شود؛ رکورد قدیمی نه پاک می‌شود نه ویرایش</a:t>
            </a:r>
            <a:endParaRPr lang="fa-IR" sz="2300" dirty="0"/>
          </a:p>
        </p:txBody>
      </p:sp>
      <p:sp>
        <p:nvSpPr>
          <p:cNvPr id="18" name="Card 3"/>
          <p:cNvSpPr/>
          <p:nvPr/>
        </p:nvSpPr>
        <p:spPr>
          <a:xfrm>
            <a:off x="6231636" y="4023360"/>
            <a:ext cx="5362956" cy="2057400"/>
          </a:xfrm>
          <a:prstGeom prst="roundRect">
            <a:avLst>
              <a:gd name="adj" fmla="val 4444"/>
            </a:avLst>
          </a:prstGeom>
          <a:solidFill>
            <a:schemeClr val="bg1"/>
          </a:solidFill>
          <a:ln w="9525">
            <a:solidFill>
              <a:srgbClr val="E3DFD3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10908792" y="4251960"/>
            <a:ext cx="438912" cy="43891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10908792" y="425196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a-IR" altLang="en-US" sz="1500" b="1" dirty="0">
                <a:solidFill>
                  <a:schemeClr val="bg1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۳</a:t>
            </a:r>
            <a:endParaRPr lang="fa-IR" sz="1800" dirty="0"/>
          </a:p>
        </p:txBody>
      </p:sp>
      <p:sp>
        <p:nvSpPr>
          <p:cNvPr id="21" name="Text 17"/>
          <p:cNvSpPr txBox="1"/>
          <p:nvPr/>
        </p:nvSpPr>
        <p:spPr>
          <a:xfrm>
            <a:off x="6505956" y="4251960"/>
            <a:ext cx="42656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fa-IR" altLang="en-US" sz="2200" b="1" dirty="0">
                <a:solidFill>
                  <a:schemeClr val="tx2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بدون مالک واحد</a:t>
            </a:r>
            <a:endParaRPr lang="fa-IR" sz="2500" dirty="0"/>
          </a:p>
        </p:txBody>
      </p:sp>
      <p:sp>
        <p:nvSpPr>
          <p:cNvPr id="22" name="Text 18"/>
          <p:cNvSpPr txBox="1"/>
          <p:nvPr/>
        </p:nvSpPr>
        <p:spPr>
          <a:xfrm>
            <a:off x="6505956" y="4846320"/>
            <a:ext cx="481431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 rtl="1">
              <a:buNone/>
            </a:pPr>
            <a:r>
              <a:rPr lang="fa-IR" altLang="en-US" sz="2000" dirty="0">
                <a:solidFill>
                  <a:schemeClr val="tx1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هیچ شرکت یا دولتی نمی‌تواند به‌تنهایی آن را تغییر دهد</a:t>
            </a:r>
            <a:endParaRPr lang="fa-IR" sz="2300" dirty="0"/>
          </a:p>
        </p:txBody>
      </p:sp>
      <p:sp>
        <p:nvSpPr>
          <p:cNvPr id="23" name="Card 4"/>
          <p:cNvSpPr/>
          <p:nvPr/>
        </p:nvSpPr>
        <p:spPr>
          <a:xfrm>
            <a:off x="594360" y="4023360"/>
            <a:ext cx="5362956" cy="2057400"/>
          </a:xfrm>
          <a:prstGeom prst="roundRect">
            <a:avLst>
              <a:gd name="adj" fmla="val 4444"/>
            </a:avLst>
          </a:prstGeom>
          <a:solidFill>
            <a:schemeClr val="bg1"/>
          </a:solidFill>
          <a:ln w="9525">
            <a:solidFill>
              <a:srgbClr val="E3DFD3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5271516" y="4251960"/>
            <a:ext cx="438912" cy="43891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5" name="Text 21"/>
          <p:cNvSpPr txBox="1"/>
          <p:nvPr/>
        </p:nvSpPr>
        <p:spPr>
          <a:xfrm>
            <a:off x="5271516" y="425196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a-IR" altLang="en-US" sz="1500" b="1" dirty="0">
                <a:solidFill>
                  <a:schemeClr val="bg1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۴</a:t>
            </a:r>
            <a:endParaRPr lang="fa-IR" sz="1800" dirty="0"/>
          </a:p>
        </p:txBody>
      </p:sp>
      <p:sp>
        <p:nvSpPr>
          <p:cNvPr id="26" name="Text 22"/>
          <p:cNvSpPr txBox="1"/>
          <p:nvPr/>
        </p:nvSpPr>
        <p:spPr>
          <a:xfrm>
            <a:off x="868680" y="4251960"/>
            <a:ext cx="42656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fa-IR" altLang="en-US" sz="2200" b="1" dirty="0">
                <a:solidFill>
                  <a:schemeClr val="tx2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ردیابی‌پذیر</a:t>
            </a:r>
            <a:endParaRPr lang="fa-IR" sz="2500" dirty="0"/>
          </a:p>
        </p:txBody>
      </p:sp>
      <p:sp>
        <p:nvSpPr>
          <p:cNvPr id="27" name="Text 23"/>
          <p:cNvSpPr txBox="1"/>
          <p:nvPr/>
        </p:nvSpPr>
        <p:spPr>
          <a:xfrm>
            <a:off x="868680" y="4846320"/>
            <a:ext cx="481431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 rtl="1">
              <a:buNone/>
            </a:pPr>
            <a:r>
              <a:rPr lang="fa-IR" altLang="en-US" sz="2000" dirty="0">
                <a:solidFill>
                  <a:schemeClr val="tx1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هر کار با آدرس کیف‌پول و زمان ثبت می‌شود</a:t>
            </a:r>
            <a:endParaRPr lang="fa-IR" sz="2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"/>
          <p:cNvSpPr txBox="1"/>
          <p:nvPr/>
        </p:nvSpPr>
        <p:spPr>
          <a:xfrm>
            <a:off x="10680192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fa-IR" altLang="en-US" sz="1200" dirty="0">
                <a:solidFill>
                  <a:schemeClr val="accent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۹</a:t>
            </a:r>
            <a:endParaRPr lang="fa-IR" sz="1500" dirty="0"/>
          </a:p>
        </p:txBody>
      </p:sp>
      <p:sp>
        <p:nvSpPr>
          <p:cNvPr id="4" name="Text 1"/>
          <p:cNvSpPr txBox="1"/>
          <p:nvPr/>
        </p:nvSpPr>
        <p:spPr>
          <a:xfrm>
            <a:off x="4279392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fa-IR" altLang="en-US" sz="1200" b="1" dirty="0">
                <a:solidFill>
                  <a:schemeClr val="accent1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مفاهیم پایه</a:t>
            </a:r>
            <a:endParaRPr lang="fa-IR" sz="1500" dirty="0"/>
          </a:p>
        </p:txBody>
      </p:sp>
      <p:sp>
        <p:nvSpPr>
          <p:cNvPr id="5" name="Text 2"/>
          <p:cNvSpPr txBox="1"/>
          <p:nvPr/>
        </p:nvSpPr>
        <p:spPr>
          <a:xfrm>
            <a:off x="2084832" y="640080"/>
            <a:ext cx="9509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 rtl="1">
              <a:buNone/>
            </a:pPr>
            <a:r>
              <a:rPr lang="fa-IR" altLang="en-US" sz="3000" b="1" dirty="0">
                <a:solidFill>
                  <a:schemeClr val="tx2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قرارداد هوشمند و شبکه‌ی Arbitrum</a:t>
            </a:r>
            <a:endParaRPr lang="fa-IR" sz="3300" dirty="0"/>
          </a:p>
        </p:txBody>
      </p:sp>
      <p:sp>
        <p:nvSpPr>
          <p:cNvPr id="6" name="Icon circle"/>
          <p:cNvSpPr/>
          <p:nvPr/>
        </p:nvSpPr>
        <p:spPr>
          <a:xfrm>
            <a:off x="594360" y="502920"/>
            <a:ext cx="777240" cy="7772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7" name="Icon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8" y="704088"/>
            <a:ext cx="374904" cy="374904"/>
          </a:xfrm>
          <a:prstGeom prst="rect">
            <a:avLst/>
          </a:prstGeom>
        </p:spPr>
      </p:pic>
      <p:sp>
        <p:nvSpPr>
          <p:cNvPr id="8" name="Card 1"/>
          <p:cNvSpPr/>
          <p:nvPr/>
        </p:nvSpPr>
        <p:spPr>
          <a:xfrm>
            <a:off x="6231636" y="1691640"/>
            <a:ext cx="5362956" cy="2057400"/>
          </a:xfrm>
          <a:prstGeom prst="roundRect">
            <a:avLst>
              <a:gd name="adj" fmla="val 4444"/>
            </a:avLst>
          </a:prstGeom>
          <a:solidFill>
            <a:schemeClr val="bg1"/>
          </a:solidFill>
          <a:ln w="9525">
            <a:solidFill>
              <a:srgbClr val="E3DFD3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10908792" y="1920240"/>
            <a:ext cx="438912" cy="43891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10908792" y="192024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a-IR" altLang="en-US" sz="1500" b="1" dirty="0">
                <a:solidFill>
                  <a:schemeClr val="bg1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۱</a:t>
            </a:r>
            <a:endParaRPr lang="fa-IR" sz="1800" dirty="0"/>
          </a:p>
        </p:txBody>
      </p:sp>
      <p:sp>
        <p:nvSpPr>
          <p:cNvPr id="11" name="Text 7"/>
          <p:cNvSpPr txBox="1"/>
          <p:nvPr/>
        </p:nvSpPr>
        <p:spPr>
          <a:xfrm>
            <a:off x="6505956" y="1920240"/>
            <a:ext cx="42656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fa-IR" altLang="en-US" sz="2200" b="1" dirty="0">
                <a:solidFill>
                  <a:schemeClr val="tx2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قرارداد هوشمند</a:t>
            </a:r>
            <a:endParaRPr lang="fa-IR" sz="2500" dirty="0"/>
          </a:p>
        </p:txBody>
      </p:sp>
      <p:sp>
        <p:nvSpPr>
          <p:cNvPr id="12" name="Text 8"/>
          <p:cNvSpPr txBox="1"/>
          <p:nvPr/>
        </p:nvSpPr>
        <p:spPr>
          <a:xfrm>
            <a:off x="6505956" y="2514600"/>
            <a:ext cx="481431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 rtl="1">
              <a:buNone/>
            </a:pPr>
            <a:r>
              <a:rPr lang="fa-IR" altLang="en-US" sz="2000" dirty="0">
                <a:solidFill>
                  <a:schemeClr val="tx1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برنامه‌ای که روی بلاکچین مستقر می‌شود و قوانین را خودکار و بدون واسطه اجرا می‌کند؛ مثل دستگاه فروش خودکار</a:t>
            </a:r>
            <a:endParaRPr lang="fa-IR" sz="2300" dirty="0"/>
          </a:p>
        </p:txBody>
      </p:sp>
      <p:sp>
        <p:nvSpPr>
          <p:cNvPr id="13" name="Card 2"/>
          <p:cNvSpPr/>
          <p:nvPr/>
        </p:nvSpPr>
        <p:spPr>
          <a:xfrm>
            <a:off x="594360" y="1691640"/>
            <a:ext cx="5362956" cy="2057400"/>
          </a:xfrm>
          <a:prstGeom prst="roundRect">
            <a:avLst>
              <a:gd name="adj" fmla="val 4444"/>
            </a:avLst>
          </a:prstGeom>
          <a:solidFill>
            <a:schemeClr val="bg1"/>
          </a:solidFill>
          <a:ln w="9525">
            <a:solidFill>
              <a:srgbClr val="E3DFD3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5271516" y="1920240"/>
            <a:ext cx="438912" cy="43891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5271516" y="192024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a-IR" altLang="en-US" sz="1500" b="1" dirty="0">
                <a:solidFill>
                  <a:schemeClr val="bg1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۲</a:t>
            </a:r>
            <a:endParaRPr lang="fa-IR" sz="1800" dirty="0"/>
          </a:p>
        </p:txBody>
      </p:sp>
      <p:sp>
        <p:nvSpPr>
          <p:cNvPr id="16" name="Text 12"/>
          <p:cNvSpPr txBox="1"/>
          <p:nvPr/>
        </p:nvSpPr>
        <p:spPr>
          <a:xfrm>
            <a:off x="868680" y="1920240"/>
            <a:ext cx="42656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fa-IR" altLang="en-US" sz="2200" b="1" dirty="0">
                <a:solidFill>
                  <a:schemeClr val="tx2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Solidity</a:t>
            </a:r>
            <a:endParaRPr lang="fa-IR" sz="2500" dirty="0"/>
          </a:p>
        </p:txBody>
      </p:sp>
      <p:sp>
        <p:nvSpPr>
          <p:cNvPr id="17" name="Text 13"/>
          <p:cNvSpPr txBox="1"/>
          <p:nvPr/>
        </p:nvSpPr>
        <p:spPr>
          <a:xfrm>
            <a:off x="868680" y="2514600"/>
            <a:ext cx="481431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 rtl="1">
              <a:buNone/>
            </a:pPr>
            <a:r>
              <a:rPr lang="fa-IR" altLang="en-US" sz="2000" dirty="0">
                <a:solidFill>
                  <a:schemeClr val="tx1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زبان برنامه‌نویسی قراردادها؛ بعد از استقرار، کد قابل تغییر نیست</a:t>
            </a:r>
            <a:endParaRPr lang="fa-IR" sz="2300" dirty="0"/>
          </a:p>
        </p:txBody>
      </p:sp>
      <p:sp>
        <p:nvSpPr>
          <p:cNvPr id="18" name="Card 3"/>
          <p:cNvSpPr/>
          <p:nvPr/>
        </p:nvSpPr>
        <p:spPr>
          <a:xfrm>
            <a:off x="6231636" y="4023360"/>
            <a:ext cx="5362956" cy="2057400"/>
          </a:xfrm>
          <a:prstGeom prst="roundRect">
            <a:avLst>
              <a:gd name="adj" fmla="val 4444"/>
            </a:avLst>
          </a:prstGeom>
          <a:solidFill>
            <a:schemeClr val="bg1"/>
          </a:solidFill>
          <a:ln w="9525">
            <a:solidFill>
              <a:srgbClr val="E3DFD3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10908792" y="4251960"/>
            <a:ext cx="438912" cy="43891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10908792" y="425196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a-IR" altLang="en-US" sz="1500" b="1" dirty="0">
                <a:solidFill>
                  <a:schemeClr val="bg1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۳</a:t>
            </a:r>
            <a:endParaRPr lang="fa-IR" sz="1800" dirty="0"/>
          </a:p>
        </p:txBody>
      </p:sp>
      <p:sp>
        <p:nvSpPr>
          <p:cNvPr id="21" name="Text 17"/>
          <p:cNvSpPr txBox="1"/>
          <p:nvPr/>
        </p:nvSpPr>
        <p:spPr>
          <a:xfrm>
            <a:off x="6505956" y="4251960"/>
            <a:ext cx="42656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fa-IR" altLang="en-US" sz="2200" b="1" dirty="0">
                <a:solidFill>
                  <a:schemeClr val="tx2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Ethereum</a:t>
            </a:r>
            <a:endParaRPr lang="fa-IR" sz="2500" dirty="0"/>
          </a:p>
        </p:txBody>
      </p:sp>
      <p:sp>
        <p:nvSpPr>
          <p:cNvPr id="22" name="Text 18"/>
          <p:cNvSpPr txBox="1"/>
          <p:nvPr/>
        </p:nvSpPr>
        <p:spPr>
          <a:xfrm>
            <a:off x="6505956" y="4846320"/>
            <a:ext cx="481431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 rtl="1">
              <a:buNone/>
            </a:pPr>
            <a:r>
              <a:rPr lang="fa-IR" altLang="en-US" sz="2000" dirty="0">
                <a:solidFill>
                  <a:schemeClr val="tx1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امن ولی تراکنش‌ها گران و کند است</a:t>
            </a:r>
            <a:endParaRPr lang="fa-IR" sz="2300" dirty="0"/>
          </a:p>
        </p:txBody>
      </p:sp>
      <p:sp>
        <p:nvSpPr>
          <p:cNvPr id="23" name="Card 4"/>
          <p:cNvSpPr/>
          <p:nvPr/>
        </p:nvSpPr>
        <p:spPr>
          <a:xfrm>
            <a:off x="594360" y="4023360"/>
            <a:ext cx="5362956" cy="2057400"/>
          </a:xfrm>
          <a:prstGeom prst="roundRect">
            <a:avLst>
              <a:gd name="adj" fmla="val 4444"/>
            </a:avLst>
          </a:prstGeom>
          <a:solidFill>
            <a:schemeClr val="bg1"/>
          </a:solidFill>
          <a:ln w="9525">
            <a:solidFill>
              <a:srgbClr val="E3DFD3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5271516" y="4251960"/>
            <a:ext cx="438912" cy="43891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5" name="Text 21"/>
          <p:cNvSpPr txBox="1"/>
          <p:nvPr/>
        </p:nvSpPr>
        <p:spPr>
          <a:xfrm>
            <a:off x="5271516" y="425196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a-IR" altLang="en-US" sz="1500" b="1" dirty="0">
                <a:solidFill>
                  <a:schemeClr val="bg1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۴</a:t>
            </a:r>
            <a:endParaRPr lang="fa-IR" sz="1800" dirty="0"/>
          </a:p>
        </p:txBody>
      </p:sp>
      <p:sp>
        <p:nvSpPr>
          <p:cNvPr id="26" name="Text 22"/>
          <p:cNvSpPr txBox="1"/>
          <p:nvPr/>
        </p:nvSpPr>
        <p:spPr>
          <a:xfrm>
            <a:off x="868680" y="4251960"/>
            <a:ext cx="42656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fa-IR" altLang="en-US" sz="2200" b="1" dirty="0">
                <a:solidFill>
                  <a:schemeClr val="tx2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Arbitrum (Layer 2)</a:t>
            </a:r>
            <a:endParaRPr lang="fa-IR" sz="2500" dirty="0"/>
          </a:p>
        </p:txBody>
      </p:sp>
      <p:sp>
        <p:nvSpPr>
          <p:cNvPr id="27" name="Text 23"/>
          <p:cNvSpPr txBox="1"/>
          <p:nvPr/>
        </p:nvSpPr>
        <p:spPr>
          <a:xfrm>
            <a:off x="868680" y="4846320"/>
            <a:ext cx="481431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 rtl="1">
              <a:buNone/>
            </a:pPr>
            <a:r>
              <a:rPr lang="fa-IR" altLang="en-US" sz="2000" dirty="0">
                <a:solidFill>
                  <a:schemeClr val="tx1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روی Ethereum ساخته شده؛ امنیت آن را به ارث می‌برد ولی ارزان‌تر و سریع‌تر است</a:t>
            </a:r>
            <a:endParaRPr lang="fa-IR" sz="2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"/>
          <p:cNvSpPr txBox="1"/>
          <p:nvPr/>
        </p:nvSpPr>
        <p:spPr>
          <a:xfrm>
            <a:off x="10680192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fa-IR" altLang="en-US" sz="1200" dirty="0">
                <a:solidFill>
                  <a:schemeClr val="accent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۱۰</a:t>
            </a:r>
            <a:endParaRPr lang="fa-IR" sz="1500" dirty="0"/>
          </a:p>
        </p:txBody>
      </p:sp>
      <p:sp>
        <p:nvSpPr>
          <p:cNvPr id="4" name="Text 1"/>
          <p:cNvSpPr txBox="1"/>
          <p:nvPr/>
        </p:nvSpPr>
        <p:spPr>
          <a:xfrm>
            <a:off x="4279392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fa-IR" altLang="en-US" sz="1200" b="1" dirty="0">
                <a:solidFill>
                  <a:schemeClr val="accent1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مفاهیم پایه</a:t>
            </a:r>
            <a:endParaRPr lang="fa-IR" sz="1500" dirty="0"/>
          </a:p>
        </p:txBody>
      </p:sp>
      <p:sp>
        <p:nvSpPr>
          <p:cNvPr id="5" name="Text 2"/>
          <p:cNvSpPr txBox="1"/>
          <p:nvPr/>
        </p:nvSpPr>
        <p:spPr>
          <a:xfrm>
            <a:off x="2084832" y="640080"/>
            <a:ext cx="9509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 rtl="1">
              <a:buNone/>
            </a:pPr>
            <a:r>
              <a:rPr lang="fa-IR" altLang="en-US" sz="3000" b="1" dirty="0">
                <a:solidFill>
                  <a:schemeClr val="tx2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IPFS: ذخیره‌ی فایل بر اساس محتوا</a:t>
            </a:r>
            <a:endParaRPr lang="fa-IR" sz="3300" dirty="0"/>
          </a:p>
        </p:txBody>
      </p:sp>
      <p:sp>
        <p:nvSpPr>
          <p:cNvPr id="6" name="Icon circle"/>
          <p:cNvSpPr/>
          <p:nvPr/>
        </p:nvSpPr>
        <p:spPr>
          <a:xfrm>
            <a:off x="594360" y="502920"/>
            <a:ext cx="777240" cy="7772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7" name="Icon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8" y="704088"/>
            <a:ext cx="374904" cy="374904"/>
          </a:xfrm>
          <a:prstGeom prst="rect">
            <a:avLst/>
          </a:prstGeom>
        </p:spPr>
      </p:pic>
      <p:sp>
        <p:nvSpPr>
          <p:cNvPr id="8" name="Card 1"/>
          <p:cNvSpPr/>
          <p:nvPr/>
        </p:nvSpPr>
        <p:spPr>
          <a:xfrm>
            <a:off x="6231636" y="1691640"/>
            <a:ext cx="5362956" cy="2057400"/>
          </a:xfrm>
          <a:prstGeom prst="roundRect">
            <a:avLst>
              <a:gd name="adj" fmla="val 4444"/>
            </a:avLst>
          </a:prstGeom>
          <a:solidFill>
            <a:schemeClr val="bg1"/>
          </a:solidFill>
          <a:ln w="9525">
            <a:solidFill>
              <a:srgbClr val="E3DFD3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10908792" y="1920240"/>
            <a:ext cx="438912" cy="43891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10908792" y="192024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a-IR" altLang="en-US" sz="1500" b="1" dirty="0">
                <a:solidFill>
                  <a:schemeClr val="bg1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۱</a:t>
            </a:r>
            <a:endParaRPr lang="fa-IR" sz="1800" dirty="0"/>
          </a:p>
        </p:txBody>
      </p:sp>
      <p:sp>
        <p:nvSpPr>
          <p:cNvPr id="11" name="Text 7"/>
          <p:cNvSpPr txBox="1"/>
          <p:nvPr/>
        </p:nvSpPr>
        <p:spPr>
          <a:xfrm>
            <a:off x="6505956" y="1920240"/>
            <a:ext cx="42656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fa-IR" altLang="en-US" sz="2200" b="1" dirty="0">
                <a:solidFill>
                  <a:schemeClr val="tx2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مشکل</a:t>
            </a:r>
            <a:endParaRPr lang="fa-IR" sz="2500" dirty="0"/>
          </a:p>
        </p:txBody>
      </p:sp>
      <p:sp>
        <p:nvSpPr>
          <p:cNvPr id="12" name="Text 8"/>
          <p:cNvSpPr txBox="1"/>
          <p:nvPr/>
        </p:nvSpPr>
        <p:spPr>
          <a:xfrm>
            <a:off x="6505956" y="2514600"/>
            <a:ext cx="481431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 rtl="1">
              <a:buNone/>
            </a:pPr>
            <a:r>
              <a:rPr lang="fa-IR" altLang="en-US" sz="2000" dirty="0">
                <a:solidFill>
                  <a:schemeClr val="tx1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ذخیره‌ی فایل روی بلاکچین بسیار گران است و همه‌چیز آن عمومی است</a:t>
            </a:r>
            <a:endParaRPr lang="fa-IR" sz="2300" dirty="0"/>
          </a:p>
        </p:txBody>
      </p:sp>
      <p:sp>
        <p:nvSpPr>
          <p:cNvPr id="13" name="Card 2"/>
          <p:cNvSpPr/>
          <p:nvPr/>
        </p:nvSpPr>
        <p:spPr>
          <a:xfrm>
            <a:off x="594360" y="1691640"/>
            <a:ext cx="5362956" cy="2057400"/>
          </a:xfrm>
          <a:prstGeom prst="roundRect">
            <a:avLst>
              <a:gd name="adj" fmla="val 4444"/>
            </a:avLst>
          </a:prstGeom>
          <a:solidFill>
            <a:schemeClr val="bg1"/>
          </a:solidFill>
          <a:ln w="9525">
            <a:solidFill>
              <a:srgbClr val="E3DFD3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5271516" y="1920240"/>
            <a:ext cx="438912" cy="43891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5271516" y="192024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a-IR" altLang="en-US" sz="1500" b="1" dirty="0">
                <a:solidFill>
                  <a:schemeClr val="bg1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۲</a:t>
            </a:r>
            <a:endParaRPr lang="fa-IR" sz="1800" dirty="0"/>
          </a:p>
        </p:txBody>
      </p:sp>
      <p:sp>
        <p:nvSpPr>
          <p:cNvPr id="16" name="Text 12"/>
          <p:cNvSpPr txBox="1"/>
          <p:nvPr/>
        </p:nvSpPr>
        <p:spPr>
          <a:xfrm>
            <a:off x="868680" y="1920240"/>
            <a:ext cx="42656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fa-IR" altLang="en-US" sz="2200" b="1" dirty="0">
                <a:solidFill>
                  <a:schemeClr val="tx2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IPFS</a:t>
            </a:r>
            <a:endParaRPr lang="fa-IR" sz="2500" dirty="0"/>
          </a:p>
        </p:txBody>
      </p:sp>
      <p:sp>
        <p:nvSpPr>
          <p:cNvPr id="17" name="Text 13"/>
          <p:cNvSpPr txBox="1"/>
          <p:nvPr/>
        </p:nvSpPr>
        <p:spPr>
          <a:xfrm>
            <a:off x="868680" y="2514600"/>
            <a:ext cx="481431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 rtl="1">
              <a:buNone/>
            </a:pPr>
            <a:r>
              <a:rPr lang="fa-IR" altLang="en-US" sz="2000" dirty="0">
                <a:solidFill>
                  <a:schemeClr val="tx1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شبکه‌ی ذخیره‌ی فایل توزیع‌شده؛ فایل را به‌جای «آدرس مکان»، با «اثر انگشت محتوا» پیدا می‌کنیم</a:t>
            </a:r>
            <a:endParaRPr lang="fa-IR" sz="2300" dirty="0"/>
          </a:p>
        </p:txBody>
      </p:sp>
      <p:sp>
        <p:nvSpPr>
          <p:cNvPr id="18" name="Card 3"/>
          <p:cNvSpPr/>
          <p:nvPr/>
        </p:nvSpPr>
        <p:spPr>
          <a:xfrm>
            <a:off x="6231636" y="4023360"/>
            <a:ext cx="5362956" cy="2057400"/>
          </a:xfrm>
          <a:prstGeom prst="roundRect">
            <a:avLst>
              <a:gd name="adj" fmla="val 4444"/>
            </a:avLst>
          </a:prstGeom>
          <a:solidFill>
            <a:schemeClr val="bg1"/>
          </a:solidFill>
          <a:ln w="9525">
            <a:solidFill>
              <a:srgbClr val="E3DFD3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10908792" y="4251960"/>
            <a:ext cx="438912" cy="43891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10908792" y="425196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a-IR" altLang="en-US" sz="1500" b="1" dirty="0">
                <a:solidFill>
                  <a:schemeClr val="bg1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۳</a:t>
            </a:r>
            <a:endParaRPr lang="fa-IR" sz="1800" dirty="0"/>
          </a:p>
        </p:txBody>
      </p:sp>
      <p:sp>
        <p:nvSpPr>
          <p:cNvPr id="21" name="Text 17"/>
          <p:cNvSpPr txBox="1"/>
          <p:nvPr/>
        </p:nvSpPr>
        <p:spPr>
          <a:xfrm>
            <a:off x="6505956" y="4251960"/>
            <a:ext cx="42656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fa-IR" altLang="en-US" sz="2200" b="1" dirty="0">
                <a:solidFill>
                  <a:schemeClr val="tx2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CID</a:t>
            </a:r>
            <a:endParaRPr lang="fa-IR" sz="2500" dirty="0"/>
          </a:p>
        </p:txBody>
      </p:sp>
      <p:sp>
        <p:nvSpPr>
          <p:cNvPr id="22" name="Text 18"/>
          <p:cNvSpPr txBox="1"/>
          <p:nvPr/>
        </p:nvSpPr>
        <p:spPr>
          <a:xfrm>
            <a:off x="6505956" y="4846320"/>
            <a:ext cx="481431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 rtl="1">
              <a:buNone/>
            </a:pPr>
            <a:r>
              <a:rPr lang="fa-IR" altLang="en-US" sz="2000" dirty="0">
                <a:solidFill>
                  <a:schemeClr val="tx1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شناسه‌ی منحصربه‌فرد فایل؛ اگر یک بیت فایل عوض شود، CID هم عوض می‌شود</a:t>
            </a:r>
            <a:endParaRPr lang="fa-IR" sz="2300" dirty="0"/>
          </a:p>
        </p:txBody>
      </p:sp>
      <p:sp>
        <p:nvSpPr>
          <p:cNvPr id="23" name="Card 4"/>
          <p:cNvSpPr/>
          <p:nvPr/>
        </p:nvSpPr>
        <p:spPr>
          <a:xfrm>
            <a:off x="594360" y="4023360"/>
            <a:ext cx="5362956" cy="2057400"/>
          </a:xfrm>
          <a:prstGeom prst="roundRect">
            <a:avLst>
              <a:gd name="adj" fmla="val 4444"/>
            </a:avLst>
          </a:prstGeom>
          <a:solidFill>
            <a:schemeClr val="bg1"/>
          </a:solidFill>
          <a:ln w="9525">
            <a:solidFill>
              <a:srgbClr val="E3DFD3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5271516" y="4251960"/>
            <a:ext cx="438912" cy="43891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5" name="Text 21"/>
          <p:cNvSpPr txBox="1"/>
          <p:nvPr/>
        </p:nvSpPr>
        <p:spPr>
          <a:xfrm>
            <a:off x="5271516" y="425196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a-IR" altLang="en-US" sz="1500" b="1" dirty="0">
                <a:solidFill>
                  <a:schemeClr val="bg1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۴</a:t>
            </a:r>
            <a:endParaRPr lang="fa-IR" sz="1800" dirty="0"/>
          </a:p>
        </p:txBody>
      </p:sp>
      <p:sp>
        <p:nvSpPr>
          <p:cNvPr id="26" name="Text 22"/>
          <p:cNvSpPr txBox="1"/>
          <p:nvPr/>
        </p:nvSpPr>
        <p:spPr>
          <a:xfrm>
            <a:off x="868680" y="4251960"/>
            <a:ext cx="42656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fa-IR" altLang="en-US" sz="2200" b="1" dirty="0">
                <a:solidFill>
                  <a:schemeClr val="tx2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Pinata</a:t>
            </a:r>
            <a:endParaRPr lang="fa-IR" sz="2500" dirty="0"/>
          </a:p>
        </p:txBody>
      </p:sp>
      <p:sp>
        <p:nvSpPr>
          <p:cNvPr id="27" name="Text 23"/>
          <p:cNvSpPr txBox="1"/>
          <p:nvPr/>
        </p:nvSpPr>
        <p:spPr>
          <a:xfrm>
            <a:off x="868680" y="4846320"/>
            <a:ext cx="481431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 rtl="1">
              <a:buNone/>
            </a:pPr>
            <a:r>
              <a:rPr lang="fa-IR" altLang="en-US" sz="2000" dirty="0">
                <a:solidFill>
                  <a:schemeClr val="tx1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سرویسی که فایل‌ها را روی IPFS نگه می‌دارد تا همیشه در دسترس باشند</a:t>
            </a:r>
            <a:endParaRPr lang="fa-IR" sz="2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"/>
          <p:cNvSpPr txBox="1"/>
          <p:nvPr/>
        </p:nvSpPr>
        <p:spPr>
          <a:xfrm>
            <a:off x="10680192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fa-IR" altLang="en-US" sz="1200" dirty="0">
                <a:solidFill>
                  <a:schemeClr val="accent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۱۱</a:t>
            </a:r>
            <a:endParaRPr lang="fa-IR" sz="1500" dirty="0"/>
          </a:p>
        </p:txBody>
      </p:sp>
      <p:sp>
        <p:nvSpPr>
          <p:cNvPr id="4" name="Text 1"/>
          <p:cNvSpPr txBox="1"/>
          <p:nvPr/>
        </p:nvSpPr>
        <p:spPr>
          <a:xfrm>
            <a:off x="4279392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fa-IR" altLang="en-US" sz="1200" b="1" dirty="0">
                <a:solidFill>
                  <a:schemeClr val="accent1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مفاهیم پایه</a:t>
            </a:r>
            <a:endParaRPr lang="fa-IR" sz="1500" dirty="0"/>
          </a:p>
        </p:txBody>
      </p:sp>
      <p:sp>
        <p:nvSpPr>
          <p:cNvPr id="5" name="Text 2"/>
          <p:cNvSpPr txBox="1"/>
          <p:nvPr/>
        </p:nvSpPr>
        <p:spPr>
          <a:xfrm>
            <a:off x="2084832" y="640080"/>
            <a:ext cx="9509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 rtl="1">
              <a:buNone/>
            </a:pPr>
            <a:r>
              <a:rPr lang="fa-IR" altLang="en-US" sz="3000" b="1" dirty="0">
                <a:solidFill>
                  <a:schemeClr val="tx2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رمزنگاری: قفل، کلید و صندوق پست</a:t>
            </a:r>
            <a:endParaRPr lang="fa-IR" sz="3300" dirty="0"/>
          </a:p>
        </p:txBody>
      </p:sp>
      <p:sp>
        <p:nvSpPr>
          <p:cNvPr id="6" name="Icon circle"/>
          <p:cNvSpPr/>
          <p:nvPr/>
        </p:nvSpPr>
        <p:spPr>
          <a:xfrm>
            <a:off x="594360" y="502920"/>
            <a:ext cx="777240" cy="7772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7" name="Icon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8" y="704088"/>
            <a:ext cx="374904" cy="374904"/>
          </a:xfrm>
          <a:prstGeom prst="rect">
            <a:avLst/>
          </a:prstGeom>
        </p:spPr>
      </p:pic>
      <p:sp>
        <p:nvSpPr>
          <p:cNvPr id="8" name="Card 1"/>
          <p:cNvSpPr/>
          <p:nvPr/>
        </p:nvSpPr>
        <p:spPr>
          <a:xfrm>
            <a:off x="8110728" y="1691640"/>
            <a:ext cx="3483864" cy="4389120"/>
          </a:xfrm>
          <a:prstGeom prst="roundRect">
            <a:avLst>
              <a:gd name="adj" fmla="val 2625"/>
            </a:avLst>
          </a:prstGeom>
          <a:solidFill>
            <a:schemeClr val="bg1"/>
          </a:solidFill>
          <a:ln w="9525">
            <a:solidFill>
              <a:srgbClr val="E3DFD3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10908792" y="1920240"/>
            <a:ext cx="438912" cy="43891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10908792" y="192024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a-IR" altLang="en-US" sz="1500" b="1" dirty="0">
                <a:solidFill>
                  <a:schemeClr val="bg1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۱</a:t>
            </a:r>
            <a:endParaRPr lang="fa-IR" sz="1800" dirty="0"/>
          </a:p>
        </p:txBody>
      </p:sp>
      <p:sp>
        <p:nvSpPr>
          <p:cNvPr id="11" name="Text 7"/>
          <p:cNvSpPr txBox="1"/>
          <p:nvPr/>
        </p:nvSpPr>
        <p:spPr>
          <a:xfrm>
            <a:off x="8385048" y="1920240"/>
            <a:ext cx="23865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fa-IR" altLang="en-US" sz="1500" b="1" dirty="0">
                <a:solidFill>
                  <a:schemeClr val="tx2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رمزنگاری متقارن – AES</a:t>
            </a:r>
            <a:endParaRPr lang="fa-IR" sz="1800" dirty="0"/>
          </a:p>
        </p:txBody>
      </p:sp>
      <p:sp>
        <p:nvSpPr>
          <p:cNvPr id="12" name="Text 8"/>
          <p:cNvSpPr txBox="1"/>
          <p:nvPr/>
        </p:nvSpPr>
        <p:spPr>
          <a:xfrm>
            <a:off x="8385048" y="2514600"/>
            <a:ext cx="2935224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 rtl="1">
              <a:buNone/>
            </a:pPr>
            <a:r>
              <a:rPr lang="fa-IR" altLang="en-US" sz="1900" dirty="0">
                <a:solidFill>
                  <a:schemeClr val="tx1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یک کلید هم قفل می‌کند هم باز می‌کند. سریع است، مناسب فایل بزرگ. مشکل: کلید را چطور امن به طرف مقابل برسانیم؟</a:t>
            </a:r>
            <a:endParaRPr lang="fa-IR" sz="2200" dirty="0"/>
          </a:p>
        </p:txBody>
      </p:sp>
      <p:sp>
        <p:nvSpPr>
          <p:cNvPr id="13" name="Card 2"/>
          <p:cNvSpPr/>
          <p:nvPr/>
        </p:nvSpPr>
        <p:spPr>
          <a:xfrm>
            <a:off x="4352544" y="1691640"/>
            <a:ext cx="3483864" cy="4389120"/>
          </a:xfrm>
          <a:prstGeom prst="roundRect">
            <a:avLst>
              <a:gd name="adj" fmla="val 2625"/>
            </a:avLst>
          </a:prstGeom>
          <a:solidFill>
            <a:schemeClr val="bg1"/>
          </a:solidFill>
          <a:ln w="9525">
            <a:solidFill>
              <a:srgbClr val="E3DFD3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7150608" y="1920240"/>
            <a:ext cx="438912" cy="43891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7150608" y="192024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a-IR" altLang="en-US" sz="1500" b="1" dirty="0">
                <a:solidFill>
                  <a:schemeClr val="bg1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۲</a:t>
            </a:r>
            <a:endParaRPr lang="fa-IR" sz="1800" dirty="0"/>
          </a:p>
        </p:txBody>
      </p:sp>
      <p:sp>
        <p:nvSpPr>
          <p:cNvPr id="16" name="Text 12"/>
          <p:cNvSpPr txBox="1"/>
          <p:nvPr/>
        </p:nvSpPr>
        <p:spPr>
          <a:xfrm>
            <a:off x="4626864" y="1920240"/>
            <a:ext cx="23865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fa-IR" altLang="en-US" sz="1500" b="1" dirty="0">
                <a:solidFill>
                  <a:schemeClr val="tx2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رمزنگاری نامتقارن – ECIES</a:t>
            </a:r>
            <a:endParaRPr lang="fa-IR" sz="1800" dirty="0"/>
          </a:p>
        </p:txBody>
      </p:sp>
      <p:sp>
        <p:nvSpPr>
          <p:cNvPr id="17" name="Text 13"/>
          <p:cNvSpPr txBox="1"/>
          <p:nvPr/>
        </p:nvSpPr>
        <p:spPr>
          <a:xfrm>
            <a:off x="4626864" y="2514600"/>
            <a:ext cx="2935224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 rtl="1">
              <a:buNone/>
            </a:pPr>
            <a:r>
              <a:rPr lang="fa-IR" altLang="en-US" sz="1900" dirty="0">
                <a:solidFill>
                  <a:schemeClr val="tx1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مثل صندوق پست: هر کس می‌تواند نامه بیندازد که همان کلید عمومی است؛ فقط صاحب صندوق می‌تواند بردارد که همان کلید خصوصی است</a:t>
            </a:r>
            <a:endParaRPr lang="fa-IR" sz="2200" dirty="0"/>
          </a:p>
        </p:txBody>
      </p:sp>
      <p:sp>
        <p:nvSpPr>
          <p:cNvPr id="18" name="Card 3"/>
          <p:cNvSpPr/>
          <p:nvPr/>
        </p:nvSpPr>
        <p:spPr>
          <a:xfrm>
            <a:off x="594360" y="1691640"/>
            <a:ext cx="3483864" cy="4389120"/>
          </a:xfrm>
          <a:prstGeom prst="roundRect">
            <a:avLst>
              <a:gd name="adj" fmla="val 2625"/>
            </a:avLst>
          </a:prstGeom>
          <a:solidFill>
            <a:schemeClr val="bg1"/>
          </a:solidFill>
          <a:ln w="9525">
            <a:solidFill>
              <a:srgbClr val="E3DFD3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3392424" y="1920240"/>
            <a:ext cx="438912" cy="43891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3392424" y="192024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a-IR" altLang="en-US" sz="1500" b="1" dirty="0">
                <a:solidFill>
                  <a:schemeClr val="bg1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۳</a:t>
            </a:r>
            <a:endParaRPr lang="fa-IR" sz="1800" dirty="0"/>
          </a:p>
        </p:txBody>
      </p:sp>
      <p:sp>
        <p:nvSpPr>
          <p:cNvPr id="21" name="Text 17"/>
          <p:cNvSpPr txBox="1"/>
          <p:nvPr/>
        </p:nvSpPr>
        <p:spPr>
          <a:xfrm>
            <a:off x="868680" y="1920240"/>
            <a:ext cx="23865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fa-IR" altLang="en-US" sz="2000" b="1" dirty="0">
                <a:solidFill>
                  <a:schemeClr val="tx2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ترکیب هر دو</a:t>
            </a:r>
            <a:endParaRPr lang="fa-IR" sz="2300" dirty="0"/>
          </a:p>
        </p:txBody>
      </p:sp>
      <p:sp>
        <p:nvSpPr>
          <p:cNvPr id="22" name="Text 18"/>
          <p:cNvSpPr txBox="1"/>
          <p:nvPr/>
        </p:nvSpPr>
        <p:spPr>
          <a:xfrm>
            <a:off x="868680" y="2514600"/>
            <a:ext cx="2935224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 rtl="1">
              <a:buNone/>
            </a:pPr>
            <a:r>
              <a:rPr lang="fa-IR" altLang="en-US" sz="1900" dirty="0">
                <a:solidFill>
                  <a:schemeClr val="tx1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فایل را با AES رمز می‌کنیم و خود کلید AES را با کلید عمومی گیرنده قفل می‌کنیم</a:t>
            </a:r>
            <a:endParaRPr lang="fa-IR" sz="2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"/>
          <p:cNvSpPr txBox="1"/>
          <p:nvPr/>
        </p:nvSpPr>
        <p:spPr>
          <a:xfrm>
            <a:off x="10680192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fa-IR" altLang="en-US" sz="1200" dirty="0">
                <a:solidFill>
                  <a:schemeClr val="accent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۱۲</a:t>
            </a:r>
            <a:endParaRPr lang="fa-IR" sz="1500" dirty="0"/>
          </a:p>
        </p:txBody>
      </p:sp>
      <p:sp>
        <p:nvSpPr>
          <p:cNvPr id="4" name="Text 1"/>
          <p:cNvSpPr txBox="1"/>
          <p:nvPr/>
        </p:nvSpPr>
        <p:spPr>
          <a:xfrm>
            <a:off x="4279392" y="333895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fa-IR" altLang="en-US" sz="1200" b="1" dirty="0">
                <a:solidFill>
                  <a:schemeClr val="accent1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مفاهیم پایه</a:t>
            </a:r>
            <a:endParaRPr lang="fa-IR" sz="1500" dirty="0"/>
          </a:p>
        </p:txBody>
      </p:sp>
      <p:sp>
        <p:nvSpPr>
          <p:cNvPr id="5" name="Text 2"/>
          <p:cNvSpPr txBox="1"/>
          <p:nvPr/>
        </p:nvSpPr>
        <p:spPr>
          <a:xfrm>
            <a:off x="2084832" y="640080"/>
            <a:ext cx="9509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 rtl="1">
              <a:buNone/>
            </a:pPr>
            <a:r>
              <a:rPr lang="fa-IR" altLang="en-US" sz="3000" b="1" dirty="0">
                <a:solidFill>
                  <a:schemeClr val="tx2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چه چیزی کجا ذخیره می‌شود؟</a:t>
            </a:r>
            <a:endParaRPr lang="fa-IR" sz="3300" dirty="0"/>
          </a:p>
        </p:txBody>
      </p:sp>
      <p:graphicFrame>
        <p:nvGraphicFramePr>
          <p:cNvPr id="13" name="Data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3404610"/>
              </p:ext>
            </p:extLst>
          </p:nvPr>
        </p:nvGraphicFramePr>
        <p:xfrm>
          <a:off x="594360" y="1737360"/>
          <a:ext cx="11000232" cy="3291840"/>
        </p:xfrm>
        <a:graphic>
          <a:graphicData uri="http://schemas.openxmlformats.org/drawingml/2006/table">
            <a:tbl>
              <a:tblPr/>
              <a:tblGrid>
                <a:gridCol w="374007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000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6010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58368">
                <a:tc>
                  <a:txBody>
                    <a:bodyPr/>
                    <a:lstStyle/>
                    <a:p>
                      <a:pPr marL="0" indent="0" algn="r" rtl="1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  <a:latin typeface="Vazirmatn" pitchFamily="34" charset="0"/>
                          <a:ea typeface="Vazirmatn" pitchFamily="34" charset="-122"/>
                          <a:cs typeface="Vazirmatn" pitchFamily="34" charset="-120"/>
                        </a:rPr>
                        <a:t>چرا</a:t>
                      </a:r>
                      <a:endParaRPr lang="en-US" sz="1800" dirty="0">
                        <a:latin typeface="Vazirmatn" charset="0"/>
                        <a:ea typeface="Vazirmatn" charset="0"/>
                        <a:cs typeface="Vazirmatn" charset="0"/>
                      </a:endParaRPr>
                    </a:p>
                  </a:txBody>
                  <a:tcPr marL="137160" marR="137160" anchor="ctr">
                    <a:lnL w="9525" cap="flat" cmpd="sng" algn="ctr">
                      <a:solidFill>
                        <a:srgbClr val="E3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 rtl="1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  <a:latin typeface="Vazirmatn" pitchFamily="34" charset="0"/>
                          <a:ea typeface="Vazirmatn" pitchFamily="34" charset="-122"/>
                          <a:cs typeface="Vazirmatn" pitchFamily="34" charset="-120"/>
                        </a:rPr>
                        <a:t>کجا</a:t>
                      </a:r>
                      <a:endParaRPr lang="en-US" sz="1800" dirty="0">
                        <a:latin typeface="Vazirmatn" charset="0"/>
                        <a:ea typeface="Vazirmatn" charset="0"/>
                        <a:cs typeface="Vazirmatn" charset="0"/>
                      </a:endParaRPr>
                    </a:p>
                  </a:txBody>
                  <a:tcPr marL="137160" marR="137160" anchor="ctr">
                    <a:lnL w="9525" cap="flat" cmpd="sng" algn="ctr">
                      <a:solidFill>
                        <a:srgbClr val="E3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 rtl="1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  <a:latin typeface="Vazirmatn" pitchFamily="34" charset="0"/>
                          <a:ea typeface="Vazirmatn" pitchFamily="34" charset="-122"/>
                          <a:cs typeface="Vazirmatn" pitchFamily="34" charset="-120"/>
                        </a:rPr>
                        <a:t>چه چیزی</a:t>
                      </a:r>
                      <a:endParaRPr lang="en-US" sz="1800" dirty="0">
                        <a:latin typeface="Vazirmatn" charset="0"/>
                        <a:ea typeface="Vazirmatn" charset="0"/>
                        <a:cs typeface="Vazirmatn" charset="0"/>
                      </a:endParaRPr>
                    </a:p>
                  </a:txBody>
                  <a:tcPr marL="137160" marR="137160" anchor="ctr">
                    <a:lnL w="9525" cap="flat" cmpd="sng" algn="ctr">
                      <a:solidFill>
                        <a:srgbClr val="E3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 algn="r" rtl="1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Vazirmatn" pitchFamily="34" charset="0"/>
                          <a:ea typeface="Vazirmatn" pitchFamily="34" charset="-122"/>
                          <a:cs typeface="Vazirmatn" pitchFamily="34" charset="-120"/>
                        </a:rPr>
                        <a:t>باید عمومی، قابل اعتماد و غیرقابل تغییر باشد</a:t>
                      </a:r>
                      <a:endParaRPr lang="en-US" sz="1800" dirty="0">
                        <a:latin typeface="Vazirmatn" charset="0"/>
                        <a:ea typeface="Vazirmatn" charset="0"/>
                        <a:cs typeface="Vazirmatn" charset="0"/>
                      </a:endParaRPr>
                    </a:p>
                  </a:txBody>
                  <a:tcPr marL="137160" marR="137160" anchor="ctr">
                    <a:lnL w="9525" cap="flat" cmpd="sng" algn="ctr">
                      <a:solidFill>
                        <a:srgbClr val="E3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 rtl="1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Vazirmatn" pitchFamily="34" charset="0"/>
                          <a:ea typeface="Vazirmatn" pitchFamily="34" charset="-122"/>
                          <a:cs typeface="Vazirmatn" pitchFamily="34" charset="-120"/>
                        </a:rPr>
                        <a:t> </a:t>
                      </a:r>
                      <a:r>
                        <a:rPr lang="en-US" sz="1500" dirty="0" err="1">
                          <a:solidFill>
                            <a:schemeClr val="tx1"/>
                          </a:solidFill>
                          <a:latin typeface="Vazirmatn" pitchFamily="34" charset="0"/>
                          <a:ea typeface="Vazirmatn" pitchFamily="34" charset="-122"/>
                          <a:cs typeface="Vazirmatn" pitchFamily="34" charset="-120"/>
                        </a:rPr>
                        <a:t>بلاکچین</a:t>
                      </a:r>
                      <a:r>
                        <a:rPr lang="en-US" sz="1500" dirty="0">
                          <a:solidFill>
                            <a:schemeClr val="tx1"/>
                          </a:solidFill>
                          <a:latin typeface="Vazirmatn" pitchFamily="34" charset="0"/>
                          <a:ea typeface="Vazirmatn" pitchFamily="34" charset="-122"/>
                          <a:cs typeface="Vazirmatn" pitchFamily="34" charset="-120"/>
                        </a:rPr>
                        <a:t> </a:t>
                      </a:r>
                      <a:r>
                        <a:rPr lang="en-US" sz="1500" dirty="0" err="1">
                          <a:solidFill>
                            <a:schemeClr val="tx1"/>
                          </a:solidFill>
                          <a:latin typeface="Vazirmatn" pitchFamily="34" charset="0"/>
                          <a:ea typeface="Vazirmatn" pitchFamily="34" charset="-122"/>
                          <a:cs typeface="Vazirmatn" pitchFamily="34" charset="-120"/>
                        </a:rPr>
                        <a:t>Arbitrum</a:t>
                      </a:r>
                      <a:r>
                        <a:rPr lang="en-US" sz="1500" dirty="0">
                          <a:solidFill>
                            <a:schemeClr val="tx1"/>
                          </a:solidFill>
                          <a:latin typeface="Vazirmatn" pitchFamily="34" charset="0"/>
                          <a:ea typeface="Vazirmatn" pitchFamily="34" charset="-122"/>
                          <a:cs typeface="Vazirmatn" pitchFamily="34" charset="-120"/>
                        </a:rPr>
                        <a:t> - </a:t>
                      </a:r>
                      <a:endParaRPr lang="en-US" sz="1800" dirty="0">
                        <a:latin typeface="Vazirmatn" charset="0"/>
                        <a:ea typeface="Vazirmatn" charset="0"/>
                        <a:cs typeface="Vazirmatn" charset="0"/>
                      </a:endParaRPr>
                    </a:p>
                  </a:txBody>
                  <a:tcPr marL="137160" marR="137160" anchor="ctr">
                    <a:lnL w="9525" cap="flat" cmpd="sng" algn="ctr">
                      <a:solidFill>
                        <a:srgbClr val="E3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 rtl="1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  <a:latin typeface="Vazirmatn" pitchFamily="34" charset="0"/>
                          <a:ea typeface="Vazirmatn" pitchFamily="34" charset="-122"/>
                          <a:cs typeface="Vazirmatn" pitchFamily="34" charset="-120"/>
                        </a:rPr>
                        <a:t>وضعیت مدرک، صادرکننده، صاحب، تاریخ‌ها</a:t>
                      </a:r>
                      <a:endParaRPr lang="en-US" sz="1800" dirty="0">
                        <a:latin typeface="Vazirmatn" charset="0"/>
                        <a:ea typeface="Vazirmatn" charset="0"/>
                        <a:cs typeface="Vazirmatn" charset="0"/>
                      </a:endParaRPr>
                    </a:p>
                  </a:txBody>
                  <a:tcPr marL="137160" marR="137160" anchor="ctr">
                    <a:lnL w="9525" cap="flat" cmpd="sng" algn="ctr">
                      <a:solidFill>
                        <a:srgbClr val="E3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 algn="r" rtl="1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Vazirmatn" pitchFamily="34" charset="0"/>
                          <a:ea typeface="Vazirmatn" pitchFamily="34" charset="-122"/>
                          <a:cs typeface="Vazirmatn" pitchFamily="34" charset="-120"/>
                        </a:rPr>
                        <a:t>حجیم است؛ رمزشده است پس عمومی بودنش خطری ندارد</a:t>
                      </a:r>
                      <a:endParaRPr lang="en-US" sz="1800" dirty="0">
                        <a:latin typeface="Vazirmatn" charset="0"/>
                        <a:ea typeface="Vazirmatn" charset="0"/>
                        <a:cs typeface="Vazirmatn" charset="0"/>
                      </a:endParaRPr>
                    </a:p>
                  </a:txBody>
                  <a:tcPr marL="137160" marR="137160" anchor="ctr">
                    <a:lnL w="9525" cap="flat" cmpd="sng" algn="ctr">
                      <a:solidFill>
                        <a:srgbClr val="E3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Vazirmatn" pitchFamily="34" charset="0"/>
                          <a:ea typeface="Vazirmatn" pitchFamily="34" charset="-122"/>
                          <a:cs typeface="Vazirmatn" pitchFamily="34" charset="-120"/>
                        </a:rPr>
                        <a:t>IPFS (Pinata)</a:t>
                      </a:r>
                      <a:endParaRPr lang="en-US" sz="1800" dirty="0">
                        <a:latin typeface="Vazirmatn" charset="0"/>
                        <a:ea typeface="Vazirmatn" charset="0"/>
                        <a:cs typeface="Vazirmatn" charset="0"/>
                      </a:endParaRPr>
                    </a:p>
                  </a:txBody>
                  <a:tcPr marL="137160" marR="137160" anchor="ctr">
                    <a:lnL w="9525" cap="flat" cmpd="sng" algn="ctr">
                      <a:solidFill>
                        <a:srgbClr val="E3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 rtl="1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  <a:latin typeface="Vazirmatn" pitchFamily="34" charset="0"/>
                          <a:ea typeface="Vazirmatn" pitchFamily="34" charset="-122"/>
                          <a:cs typeface="Vazirmatn" pitchFamily="34" charset="-120"/>
                        </a:rPr>
                        <a:t>فایل مدرک، رمزشده</a:t>
                      </a:r>
                      <a:endParaRPr lang="en-US" sz="1800" dirty="0">
                        <a:latin typeface="Vazirmatn" charset="0"/>
                        <a:ea typeface="Vazirmatn" charset="0"/>
                        <a:cs typeface="Vazirmatn" charset="0"/>
                      </a:endParaRPr>
                    </a:p>
                  </a:txBody>
                  <a:tcPr marL="137160" marR="137160" anchor="ctr">
                    <a:lnL w="9525" cap="flat" cmpd="sng" algn="ctr">
                      <a:solidFill>
                        <a:srgbClr val="E3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 algn="r" rtl="1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Vazirmatn" pitchFamily="34" charset="0"/>
                          <a:ea typeface="Vazirmatn" pitchFamily="34" charset="-122"/>
                          <a:cs typeface="Vazirmatn" pitchFamily="34" charset="-120"/>
                        </a:rPr>
                        <a:t>فقط گیرنده می‌تواند آن را باز کند؛ دسترسی را قرارداد کنترل می‌کند</a:t>
                      </a:r>
                      <a:endParaRPr lang="en-US" sz="1800" dirty="0">
                        <a:latin typeface="Vazirmatn" charset="0"/>
                        <a:ea typeface="Vazirmatn" charset="0"/>
                        <a:cs typeface="Vazirmatn" charset="0"/>
                      </a:endParaRPr>
                    </a:p>
                  </a:txBody>
                  <a:tcPr marL="137160" marR="137160" anchor="ctr">
                    <a:lnL w="9525" cap="flat" cmpd="sng" algn="ctr">
                      <a:solidFill>
                        <a:srgbClr val="E3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 rtl="1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Vazirmatn" pitchFamily="34" charset="0"/>
                          <a:ea typeface="Vazirmatn" pitchFamily="34" charset="-122"/>
                          <a:cs typeface="Vazirmatn" pitchFamily="34" charset="-120"/>
                        </a:rPr>
                        <a:t>بلاکچین</a:t>
                      </a:r>
                      <a:endParaRPr lang="en-US" sz="1800" dirty="0">
                        <a:latin typeface="Vazirmatn" charset="0"/>
                        <a:ea typeface="Vazirmatn" charset="0"/>
                        <a:cs typeface="Vazirmatn" charset="0"/>
                      </a:endParaRPr>
                    </a:p>
                  </a:txBody>
                  <a:tcPr marL="137160" marR="137160" anchor="ctr">
                    <a:lnL w="9525" cap="flat" cmpd="sng" algn="ctr">
                      <a:solidFill>
                        <a:srgbClr val="E3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 rtl="1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  <a:latin typeface="Vazirmatn" pitchFamily="34" charset="0"/>
                          <a:ea typeface="Vazirmatn" pitchFamily="34" charset="-122"/>
                          <a:cs typeface="Vazirmatn" pitchFamily="34" charset="-120"/>
                        </a:rPr>
                        <a:t>کلید AES قفل‌شده برای هر گیرنده</a:t>
                      </a:r>
                      <a:endParaRPr lang="en-US" sz="1800" dirty="0">
                        <a:latin typeface="Vazirmatn" charset="0"/>
                        <a:ea typeface="Vazirmatn" charset="0"/>
                        <a:cs typeface="Vazirmatn" charset="0"/>
                      </a:endParaRPr>
                    </a:p>
                  </a:txBody>
                  <a:tcPr marL="137160" marR="137160" anchor="ctr">
                    <a:lnL w="9525" cap="flat" cmpd="sng" algn="ctr">
                      <a:solidFill>
                        <a:srgbClr val="E3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 algn="r" rtl="1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Vazirmatn" pitchFamily="34" charset="0"/>
                          <a:ea typeface="Vazirmatn" pitchFamily="34" charset="-122"/>
                          <a:cs typeface="Vazirmatn" pitchFamily="34" charset="-120"/>
                        </a:rPr>
                        <a:t>هر بار از امضای کیف‌پول دوباره ساخته می‌شود</a:t>
                      </a:r>
                      <a:endParaRPr lang="en-US" sz="1800" dirty="0">
                        <a:latin typeface="Vazirmatn" charset="0"/>
                        <a:ea typeface="Vazirmatn" charset="0"/>
                        <a:cs typeface="Vazirmatn" charset="0"/>
                      </a:endParaRPr>
                    </a:p>
                  </a:txBody>
                  <a:tcPr marL="137160" marR="137160" anchor="ctr">
                    <a:lnL w="9525" cap="flat" cmpd="sng" algn="ctr">
                      <a:solidFill>
                        <a:srgbClr val="E3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 rtl="1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Vazirmatn" pitchFamily="34" charset="0"/>
                          <a:ea typeface="Vazirmatn" pitchFamily="34" charset="-122"/>
                          <a:cs typeface="Vazirmatn" pitchFamily="34" charset="-120"/>
                        </a:rPr>
                        <a:t>هیچ‌جا</a:t>
                      </a:r>
                      <a:endParaRPr lang="en-US" sz="1800" dirty="0">
                        <a:latin typeface="Vazirmatn" charset="0"/>
                        <a:ea typeface="Vazirmatn" charset="0"/>
                        <a:cs typeface="Vazirmatn" charset="0"/>
                      </a:endParaRPr>
                    </a:p>
                  </a:txBody>
                  <a:tcPr marL="137160" marR="137160" anchor="ctr">
                    <a:lnL w="9525" cap="flat" cmpd="sng" algn="ctr">
                      <a:solidFill>
                        <a:srgbClr val="E3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 rtl="1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  <a:latin typeface="Vazirmatn" pitchFamily="34" charset="0"/>
                          <a:ea typeface="Vazirmatn" pitchFamily="34" charset="-122"/>
                          <a:cs typeface="Vazirmatn" pitchFamily="34" charset="-120"/>
                        </a:rPr>
                        <a:t>کلید خصوصی کاربر</a:t>
                      </a:r>
                      <a:endParaRPr lang="en-US" sz="1800" dirty="0">
                        <a:latin typeface="Vazirmatn" charset="0"/>
                        <a:ea typeface="Vazirmatn" charset="0"/>
                        <a:cs typeface="Vazirmatn" charset="0"/>
                      </a:endParaRPr>
                    </a:p>
                  </a:txBody>
                  <a:tcPr marL="137160" marR="137160" anchor="ctr">
                    <a:lnL w="9525" cap="flat" cmpd="sng" algn="ctr">
                      <a:solidFill>
                        <a:srgbClr val="E3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-1371600" y="-1371600"/>
            <a:ext cx="4114800" cy="4114800"/>
          </a:xfrm>
          <a:prstGeom prst="ellipse">
            <a:avLst/>
          </a:prstGeom>
          <a:solidFill>
            <a:schemeClr val="accent1">
              <a:alpha val="30000"/>
            </a:schemeClr>
          </a:solidFill>
          <a:ln w="12700">
            <a:solidFill>
              <a:schemeClr val="accent1">
                <a:alpha val="30000"/>
              </a:schemeClr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2450592" y="2468880"/>
            <a:ext cx="9144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fa-IR" altLang="en-US" sz="4800" b="1" dirty="0">
                <a:solidFill>
                  <a:schemeClr val="bg1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طراحی سیستم</a:t>
            </a:r>
            <a:endParaRPr lang="fa-IR" sz="5100" dirty="0"/>
          </a:p>
        </p:txBody>
      </p:sp>
      <p:sp>
        <p:nvSpPr>
          <p:cNvPr id="5" name="Text 2"/>
          <p:cNvSpPr txBox="1"/>
          <p:nvPr/>
        </p:nvSpPr>
        <p:spPr>
          <a:xfrm>
            <a:off x="2450592" y="365760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fa-IR" altLang="en-US" sz="2200" dirty="0">
                <a:solidFill>
                  <a:schemeClr val="accent2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معماری · مدل داده · وضعیت‌ها · جریان‌ها</a:t>
            </a:r>
            <a:endParaRPr lang="fa-IR" sz="2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"/>
          <p:cNvSpPr txBox="1"/>
          <p:nvPr/>
        </p:nvSpPr>
        <p:spPr>
          <a:xfrm>
            <a:off x="10680192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fa-IR" altLang="en-US" sz="1200" dirty="0">
                <a:solidFill>
                  <a:schemeClr val="accent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۱۴</a:t>
            </a:r>
            <a:endParaRPr lang="fa-IR" sz="1500" dirty="0"/>
          </a:p>
        </p:txBody>
      </p:sp>
      <p:sp>
        <p:nvSpPr>
          <p:cNvPr id="4" name="Text 1"/>
          <p:cNvSpPr txBox="1"/>
          <p:nvPr/>
        </p:nvSpPr>
        <p:spPr>
          <a:xfrm>
            <a:off x="4279392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fa-IR" altLang="en-US" sz="1200" b="1" dirty="0">
                <a:solidFill>
                  <a:schemeClr val="accent1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طراحی</a:t>
            </a:r>
            <a:endParaRPr lang="fa-IR" sz="1500" dirty="0"/>
          </a:p>
        </p:txBody>
      </p:sp>
      <p:sp>
        <p:nvSpPr>
          <p:cNvPr id="5" name="Text 2"/>
          <p:cNvSpPr txBox="1"/>
          <p:nvPr/>
        </p:nvSpPr>
        <p:spPr>
          <a:xfrm>
            <a:off x="2084832" y="640080"/>
            <a:ext cx="9509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 rtl="1">
              <a:buNone/>
            </a:pPr>
            <a:r>
              <a:rPr lang="fa-IR" altLang="en-US" sz="3000" b="1" dirty="0">
                <a:solidFill>
                  <a:schemeClr val="tx2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معماری کلی سیستم</a:t>
            </a:r>
            <a:endParaRPr lang="fa-IR" sz="3300" dirty="0"/>
          </a:p>
        </p:txBody>
      </p:sp>
      <p:sp>
        <p:nvSpPr>
          <p:cNvPr id="6" name="Node 1"/>
          <p:cNvSpPr/>
          <p:nvPr/>
        </p:nvSpPr>
        <p:spPr>
          <a:xfrm>
            <a:off x="9256014" y="2011680"/>
            <a:ext cx="2338578" cy="2926080"/>
          </a:xfrm>
          <a:prstGeom prst="roundRect">
            <a:avLst>
              <a:gd name="adj" fmla="val 4692"/>
            </a:avLst>
          </a:prstGeom>
          <a:solidFill>
            <a:schemeClr val="bg1"/>
          </a:solidFill>
          <a:ln w="25400">
            <a:solidFill>
              <a:schemeClr val="accent1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9256014" y="2011680"/>
            <a:ext cx="2338578" cy="685800"/>
          </a:xfrm>
          <a:prstGeom prst="roundRect">
            <a:avLst>
              <a:gd name="adj" fmla="val 16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9256014" y="2011680"/>
            <a:ext cx="233857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a-IR" altLang="en-US" sz="1800" b="1" dirty="0">
                <a:solidFill>
                  <a:schemeClr val="bg1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مرورگر</a:t>
            </a:r>
            <a:endParaRPr lang="fa-IR" sz="2100" dirty="0"/>
          </a:p>
        </p:txBody>
      </p:sp>
      <p:sp>
        <p:nvSpPr>
          <p:cNvPr id="9" name="Text 6"/>
          <p:cNvSpPr txBox="1"/>
          <p:nvPr/>
        </p:nvSpPr>
        <p:spPr>
          <a:xfrm>
            <a:off x="9393174" y="2788920"/>
            <a:ext cx="2064258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rtl="1">
              <a:buNone/>
            </a:pPr>
            <a:r>
              <a:rPr lang="fa-IR" altLang="en-US" sz="1400" dirty="0">
                <a:solidFill>
                  <a:schemeClr val="tx1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React + ethers.js</a:t>
            </a:r>
            <a:endParaRPr lang="fa-IR" sz="1700" dirty="0"/>
          </a:p>
          <a:p>
            <a:pPr marL="0" indent="0" algn="ctr" rtl="1">
              <a:buNone/>
            </a:pPr>
            <a:r>
              <a:rPr lang="fa-IR" altLang="en-US" sz="1400" dirty="0">
                <a:solidFill>
                  <a:schemeClr val="tx1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رمزنگاری اینجا انجام می‌شود</a:t>
            </a:r>
            <a:endParaRPr lang="fa-IR" sz="1700" dirty="0"/>
          </a:p>
        </p:txBody>
      </p:sp>
      <p:sp>
        <p:nvSpPr>
          <p:cNvPr id="10" name="Arrow"/>
          <p:cNvSpPr/>
          <p:nvPr/>
        </p:nvSpPr>
        <p:spPr>
          <a:xfrm>
            <a:off x="8817102" y="3291840"/>
            <a:ext cx="329184" cy="365760"/>
          </a:xfrm>
          <a:prstGeom prst="leftArrow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1" name="Node 2"/>
          <p:cNvSpPr/>
          <p:nvPr/>
        </p:nvSpPr>
        <p:spPr>
          <a:xfrm>
            <a:off x="6368796" y="2011680"/>
            <a:ext cx="2338578" cy="2926080"/>
          </a:xfrm>
          <a:prstGeom prst="roundRect">
            <a:avLst>
              <a:gd name="adj" fmla="val 4692"/>
            </a:avLst>
          </a:prstGeom>
          <a:solidFill>
            <a:schemeClr val="bg1"/>
          </a:solidFill>
          <a:ln w="25400">
            <a:solidFill>
              <a:schemeClr val="accent2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368796" y="2011680"/>
            <a:ext cx="2338578" cy="685800"/>
          </a:xfrm>
          <a:prstGeom prst="roundRect">
            <a:avLst>
              <a:gd name="adj" fmla="val 16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368796" y="2011680"/>
            <a:ext cx="233857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a-IR" altLang="en-US" sz="1800" b="1" dirty="0">
                <a:solidFill>
                  <a:schemeClr val="bg1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MetaMask</a:t>
            </a:r>
            <a:endParaRPr lang="fa-IR" sz="2100" dirty="0"/>
          </a:p>
        </p:txBody>
      </p:sp>
      <p:sp>
        <p:nvSpPr>
          <p:cNvPr id="14" name="Text 11"/>
          <p:cNvSpPr txBox="1"/>
          <p:nvPr/>
        </p:nvSpPr>
        <p:spPr>
          <a:xfrm>
            <a:off x="6505956" y="2788920"/>
            <a:ext cx="2064258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rtl="1">
              <a:buNone/>
            </a:pPr>
            <a:r>
              <a:rPr lang="fa-IR" altLang="en-US" sz="1400" dirty="0">
                <a:solidFill>
                  <a:schemeClr val="tx1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کیف‌پول و امضای تراکنش</a:t>
            </a:r>
            <a:endParaRPr lang="fa-IR" sz="1700" dirty="0"/>
          </a:p>
        </p:txBody>
      </p:sp>
      <p:sp>
        <p:nvSpPr>
          <p:cNvPr id="15" name="Arrow"/>
          <p:cNvSpPr/>
          <p:nvPr/>
        </p:nvSpPr>
        <p:spPr>
          <a:xfrm>
            <a:off x="5929884" y="3291840"/>
            <a:ext cx="329184" cy="365760"/>
          </a:xfrm>
          <a:prstGeom prst="leftArrow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6" name="Node 3"/>
          <p:cNvSpPr/>
          <p:nvPr/>
        </p:nvSpPr>
        <p:spPr>
          <a:xfrm>
            <a:off x="3481578" y="2011680"/>
            <a:ext cx="2338578" cy="2926080"/>
          </a:xfrm>
          <a:prstGeom prst="roundRect">
            <a:avLst>
              <a:gd name="adj" fmla="val 4692"/>
            </a:avLst>
          </a:prstGeom>
          <a:solidFill>
            <a:schemeClr val="bg1"/>
          </a:solidFill>
          <a:ln w="25400">
            <a:solidFill>
              <a:schemeClr val="accent3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3481578" y="2011680"/>
            <a:ext cx="2338578" cy="685800"/>
          </a:xfrm>
          <a:prstGeom prst="roundRect">
            <a:avLst>
              <a:gd name="adj" fmla="val 16000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3481578" y="2011680"/>
            <a:ext cx="233857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a-IR" altLang="en-US" sz="1800" b="1" dirty="0">
                <a:solidFill>
                  <a:schemeClr val="bg1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Arbitrum Sepolia</a:t>
            </a:r>
            <a:endParaRPr lang="fa-IR" sz="2100" dirty="0"/>
          </a:p>
        </p:txBody>
      </p:sp>
      <p:sp>
        <p:nvSpPr>
          <p:cNvPr id="19" name="Text 16"/>
          <p:cNvSpPr txBox="1"/>
          <p:nvPr/>
        </p:nvSpPr>
        <p:spPr>
          <a:xfrm>
            <a:off x="3618738" y="2788920"/>
            <a:ext cx="2064258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rtl="1">
              <a:buNone/>
            </a:pPr>
            <a:r>
              <a:rPr lang="fa-IR" altLang="en-US" sz="1400" dirty="0">
                <a:solidFill>
                  <a:schemeClr val="tx1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دو قرارداد هوشمند</a:t>
            </a:r>
            <a:endParaRPr lang="fa-IR" sz="1700" dirty="0"/>
          </a:p>
          <a:p>
            <a:pPr marL="0" indent="0" algn="ctr" rtl="1">
              <a:buNone/>
            </a:pPr>
            <a:r>
              <a:rPr lang="fa-IR" altLang="en-US" sz="1400" dirty="0">
                <a:solidFill>
                  <a:schemeClr val="tx1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AccessControlRegistry</a:t>
            </a:r>
            <a:endParaRPr lang="fa-IR" sz="1700" dirty="0"/>
          </a:p>
          <a:p>
            <a:pPr marL="0" indent="0" algn="ctr" rtl="1">
              <a:buNone/>
            </a:pPr>
            <a:r>
              <a:rPr lang="fa-IR" altLang="en-US" sz="1400" dirty="0">
                <a:solidFill>
                  <a:schemeClr val="tx1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CredentialRegistry</a:t>
            </a:r>
            <a:endParaRPr lang="fa-IR" sz="1700" dirty="0"/>
          </a:p>
        </p:txBody>
      </p:sp>
      <p:sp>
        <p:nvSpPr>
          <p:cNvPr id="20" name="Arrow"/>
          <p:cNvSpPr/>
          <p:nvPr/>
        </p:nvSpPr>
        <p:spPr>
          <a:xfrm>
            <a:off x="3042666" y="3291840"/>
            <a:ext cx="329184" cy="365760"/>
          </a:xfrm>
          <a:prstGeom prst="leftArrow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1" name="Node 4"/>
          <p:cNvSpPr/>
          <p:nvPr/>
        </p:nvSpPr>
        <p:spPr>
          <a:xfrm>
            <a:off x="594360" y="2011680"/>
            <a:ext cx="2338578" cy="2926080"/>
          </a:xfrm>
          <a:prstGeom prst="roundRect">
            <a:avLst>
              <a:gd name="adj" fmla="val 4692"/>
            </a:avLst>
          </a:prstGeom>
          <a:solidFill>
            <a:schemeClr val="bg1"/>
          </a:solidFill>
          <a:ln w="25400">
            <a:solidFill>
              <a:schemeClr val="accent4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594360" y="2011680"/>
            <a:ext cx="2338578" cy="685800"/>
          </a:xfrm>
          <a:prstGeom prst="roundRect">
            <a:avLst>
              <a:gd name="adj" fmla="val 16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594360" y="2011680"/>
            <a:ext cx="233857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a-IR" altLang="en-US" sz="1800" b="1" dirty="0">
                <a:solidFill>
                  <a:schemeClr val="bg1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IPFS / Pinata</a:t>
            </a:r>
            <a:endParaRPr lang="fa-IR" sz="2100" dirty="0"/>
          </a:p>
        </p:txBody>
      </p:sp>
      <p:sp>
        <p:nvSpPr>
          <p:cNvPr id="24" name="Text 21"/>
          <p:cNvSpPr txBox="1"/>
          <p:nvPr/>
        </p:nvSpPr>
        <p:spPr>
          <a:xfrm>
            <a:off x="731520" y="2788920"/>
            <a:ext cx="2064258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rtl="1">
              <a:buNone/>
            </a:pPr>
            <a:r>
              <a:rPr lang="fa-IR" altLang="en-US" sz="1400" dirty="0">
                <a:solidFill>
                  <a:schemeClr val="tx1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فایل‌های رمزشده</a:t>
            </a:r>
            <a:endParaRPr lang="fa-IR" sz="1700" dirty="0"/>
          </a:p>
        </p:txBody>
      </p:sp>
      <p:sp>
        <p:nvSpPr>
          <p:cNvPr id="25" name="Text 22"/>
          <p:cNvSpPr txBox="1"/>
          <p:nvPr/>
        </p:nvSpPr>
        <p:spPr>
          <a:xfrm>
            <a:off x="594360" y="5669280"/>
            <a:ext cx="11000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fa-IR" altLang="en-US" sz="1600" b="1" dirty="0">
                <a:solidFill>
                  <a:schemeClr val="accent1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هیچ سرور مرکزی وجود ندارد؛ منطق در قرارداد، رمزنگاری در مرورگر.</a:t>
            </a:r>
            <a:endParaRPr lang="fa-IR" sz="1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"/>
          <p:cNvSpPr txBox="1"/>
          <p:nvPr/>
        </p:nvSpPr>
        <p:spPr>
          <a:xfrm>
            <a:off x="10680192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fa-IR" altLang="en-US" sz="1200" dirty="0">
                <a:solidFill>
                  <a:schemeClr val="accent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۱۵</a:t>
            </a:r>
            <a:endParaRPr lang="fa-IR" sz="1500" dirty="0"/>
          </a:p>
        </p:txBody>
      </p:sp>
      <p:sp>
        <p:nvSpPr>
          <p:cNvPr id="4" name="Text 1"/>
          <p:cNvSpPr txBox="1"/>
          <p:nvPr/>
        </p:nvSpPr>
        <p:spPr>
          <a:xfrm>
            <a:off x="4279392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fa-IR" altLang="en-US" sz="1200" b="1" dirty="0">
                <a:solidFill>
                  <a:schemeClr val="accent1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طراحی</a:t>
            </a:r>
            <a:endParaRPr lang="fa-IR" sz="1500" dirty="0"/>
          </a:p>
        </p:txBody>
      </p:sp>
      <p:sp>
        <p:nvSpPr>
          <p:cNvPr id="5" name="Text 2"/>
          <p:cNvSpPr txBox="1"/>
          <p:nvPr/>
        </p:nvSpPr>
        <p:spPr>
          <a:xfrm>
            <a:off x="2084832" y="640080"/>
            <a:ext cx="9509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 rtl="1">
              <a:buNone/>
            </a:pPr>
            <a:r>
              <a:rPr lang="fa-IR" altLang="en-US" sz="3000" b="1" dirty="0">
                <a:solidFill>
                  <a:schemeClr val="tx2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چرا دو قرارداد؟</a:t>
            </a:r>
            <a:endParaRPr lang="fa-IR" sz="3300" dirty="0"/>
          </a:p>
        </p:txBody>
      </p:sp>
      <p:sp>
        <p:nvSpPr>
          <p:cNvPr id="6" name="Icon circle"/>
          <p:cNvSpPr/>
          <p:nvPr/>
        </p:nvSpPr>
        <p:spPr>
          <a:xfrm>
            <a:off x="594360" y="502920"/>
            <a:ext cx="777240" cy="7772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7" name="Icon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8" y="704088"/>
            <a:ext cx="374904" cy="374904"/>
          </a:xfrm>
          <a:prstGeom prst="rect">
            <a:avLst/>
          </a:prstGeom>
        </p:spPr>
      </p:pic>
      <p:sp>
        <p:nvSpPr>
          <p:cNvPr id="8" name="Card 1"/>
          <p:cNvSpPr/>
          <p:nvPr/>
        </p:nvSpPr>
        <p:spPr>
          <a:xfrm>
            <a:off x="8110728" y="1691640"/>
            <a:ext cx="3483864" cy="4389120"/>
          </a:xfrm>
          <a:prstGeom prst="roundRect">
            <a:avLst>
              <a:gd name="adj" fmla="val 2625"/>
            </a:avLst>
          </a:prstGeom>
          <a:solidFill>
            <a:schemeClr val="bg1"/>
          </a:solidFill>
          <a:ln w="9525">
            <a:solidFill>
              <a:srgbClr val="E3DFD3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10908792" y="1920240"/>
            <a:ext cx="438912" cy="43891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10908792" y="192024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a-IR" altLang="en-US" sz="1500" b="1" dirty="0">
                <a:solidFill>
                  <a:schemeClr val="bg1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۱</a:t>
            </a:r>
            <a:endParaRPr lang="fa-IR" sz="1800" dirty="0"/>
          </a:p>
        </p:txBody>
      </p:sp>
      <p:sp>
        <p:nvSpPr>
          <p:cNvPr id="11" name="Text 7"/>
          <p:cNvSpPr txBox="1"/>
          <p:nvPr/>
        </p:nvSpPr>
        <p:spPr>
          <a:xfrm>
            <a:off x="8385048" y="1920240"/>
            <a:ext cx="23865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fa-IR" altLang="en-US" sz="1500" b="1" dirty="0">
                <a:solidFill>
                  <a:schemeClr val="tx2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AccessControlRegistry</a:t>
            </a:r>
            <a:endParaRPr lang="fa-IR" sz="1800" dirty="0"/>
          </a:p>
        </p:txBody>
      </p:sp>
      <p:sp>
        <p:nvSpPr>
          <p:cNvPr id="12" name="Text 8"/>
          <p:cNvSpPr txBox="1"/>
          <p:nvPr/>
        </p:nvSpPr>
        <p:spPr>
          <a:xfrm>
            <a:off x="8385048" y="2514600"/>
            <a:ext cx="2935224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 rtl="1">
              <a:buNone/>
            </a:pPr>
            <a:r>
              <a:rPr lang="fa-IR" altLang="en-US" sz="1900" dirty="0">
                <a:solidFill>
                  <a:schemeClr val="tx1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«چه کسی مجاز است؟» — دانشگاه‌های تأییدشده، رشته‌ها، کلیدهای عمومی. به‌ندرت تغییر می‌کند.</a:t>
            </a:r>
            <a:endParaRPr lang="fa-IR" sz="2200" dirty="0"/>
          </a:p>
        </p:txBody>
      </p:sp>
      <p:sp>
        <p:nvSpPr>
          <p:cNvPr id="13" name="Card 2"/>
          <p:cNvSpPr/>
          <p:nvPr/>
        </p:nvSpPr>
        <p:spPr>
          <a:xfrm>
            <a:off x="4352544" y="1691640"/>
            <a:ext cx="3483864" cy="4389120"/>
          </a:xfrm>
          <a:prstGeom prst="roundRect">
            <a:avLst>
              <a:gd name="adj" fmla="val 2625"/>
            </a:avLst>
          </a:prstGeom>
          <a:solidFill>
            <a:schemeClr val="bg1"/>
          </a:solidFill>
          <a:ln w="9525">
            <a:solidFill>
              <a:srgbClr val="E3DFD3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7150608" y="1920240"/>
            <a:ext cx="438912" cy="43891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7150608" y="192024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a-IR" altLang="en-US" sz="1500" b="1" dirty="0">
                <a:solidFill>
                  <a:schemeClr val="bg1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۲</a:t>
            </a:r>
            <a:endParaRPr lang="fa-IR" sz="1800" dirty="0"/>
          </a:p>
        </p:txBody>
      </p:sp>
      <p:sp>
        <p:nvSpPr>
          <p:cNvPr id="16" name="Text 12"/>
          <p:cNvSpPr txBox="1"/>
          <p:nvPr/>
        </p:nvSpPr>
        <p:spPr>
          <a:xfrm>
            <a:off x="4626864" y="1920240"/>
            <a:ext cx="23865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fa-IR" altLang="en-US" sz="2000" b="1" dirty="0">
                <a:solidFill>
                  <a:schemeClr val="tx2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CredentialRegistry</a:t>
            </a:r>
            <a:endParaRPr lang="fa-IR" sz="2300" dirty="0"/>
          </a:p>
        </p:txBody>
      </p:sp>
      <p:sp>
        <p:nvSpPr>
          <p:cNvPr id="17" name="Text 13"/>
          <p:cNvSpPr txBox="1"/>
          <p:nvPr/>
        </p:nvSpPr>
        <p:spPr>
          <a:xfrm>
            <a:off x="4626864" y="2514600"/>
            <a:ext cx="2935224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 rtl="1">
              <a:buNone/>
            </a:pPr>
            <a:r>
              <a:rPr lang="fa-IR" altLang="en-US" sz="1900" dirty="0">
                <a:solidFill>
                  <a:schemeClr val="tx1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«خود مدارک» — صدور، ابطال، دسترسی‌ها. مدام تغییر می‌کند.</a:t>
            </a:r>
            <a:endParaRPr lang="fa-IR" sz="2200" dirty="0"/>
          </a:p>
        </p:txBody>
      </p:sp>
      <p:sp>
        <p:nvSpPr>
          <p:cNvPr id="18" name="Card 3"/>
          <p:cNvSpPr/>
          <p:nvPr/>
        </p:nvSpPr>
        <p:spPr>
          <a:xfrm>
            <a:off x="594360" y="1691640"/>
            <a:ext cx="3483864" cy="4389120"/>
          </a:xfrm>
          <a:prstGeom prst="roundRect">
            <a:avLst>
              <a:gd name="adj" fmla="val 2625"/>
            </a:avLst>
          </a:prstGeom>
          <a:solidFill>
            <a:schemeClr val="bg1"/>
          </a:solidFill>
          <a:ln w="9525">
            <a:solidFill>
              <a:srgbClr val="E3DFD3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3392424" y="1920240"/>
            <a:ext cx="438912" cy="43891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3392424" y="192024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a-IR" altLang="en-US" sz="1500" b="1" dirty="0">
                <a:solidFill>
                  <a:schemeClr val="bg1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۳</a:t>
            </a:r>
            <a:endParaRPr lang="fa-IR" sz="1800" dirty="0"/>
          </a:p>
        </p:txBody>
      </p:sp>
      <p:sp>
        <p:nvSpPr>
          <p:cNvPr id="21" name="Text 17"/>
          <p:cNvSpPr txBox="1"/>
          <p:nvPr/>
        </p:nvSpPr>
        <p:spPr>
          <a:xfrm>
            <a:off x="868680" y="1920240"/>
            <a:ext cx="23865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fa-IR" altLang="en-US" sz="2000" b="1" dirty="0">
                <a:solidFill>
                  <a:schemeClr val="tx2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اتصال با اینترفیس</a:t>
            </a:r>
            <a:endParaRPr lang="fa-IR" sz="2300" dirty="0"/>
          </a:p>
        </p:txBody>
      </p:sp>
      <p:sp>
        <p:nvSpPr>
          <p:cNvPr id="22" name="Text 18"/>
          <p:cNvSpPr txBox="1"/>
          <p:nvPr/>
        </p:nvSpPr>
        <p:spPr>
          <a:xfrm>
            <a:off x="868680" y="2514600"/>
            <a:ext cx="2935224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 rtl="1">
              <a:buNone/>
            </a:pPr>
            <a:r>
              <a:rPr lang="fa-IR" altLang="en-US" sz="1900" dirty="0">
                <a:solidFill>
                  <a:schemeClr val="tx1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CredentialRegistry فقط دو تابع را از اولی می‌پرسد؛ این اینترفیس IAccessControlRegistry نام دارد، پس در تست می‌توان یک Mock جایگزین کرد.</a:t>
            </a:r>
            <a:endParaRPr lang="fa-IR" sz="2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"/>
          <p:cNvSpPr txBox="1"/>
          <p:nvPr/>
        </p:nvSpPr>
        <p:spPr>
          <a:xfrm>
            <a:off x="10680192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fa-IR" altLang="en-US" sz="1200" dirty="0">
                <a:solidFill>
                  <a:schemeClr val="accent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۱۶</a:t>
            </a:r>
            <a:endParaRPr lang="fa-IR" sz="1500" dirty="0"/>
          </a:p>
        </p:txBody>
      </p:sp>
      <p:sp>
        <p:nvSpPr>
          <p:cNvPr id="4" name="Text 1"/>
          <p:cNvSpPr txBox="1"/>
          <p:nvPr/>
        </p:nvSpPr>
        <p:spPr>
          <a:xfrm>
            <a:off x="4279392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fa-IR" altLang="en-US" sz="1200" b="1" dirty="0">
                <a:solidFill>
                  <a:schemeClr val="accent1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طراحی</a:t>
            </a:r>
            <a:endParaRPr lang="fa-IR" sz="1500" dirty="0"/>
          </a:p>
        </p:txBody>
      </p:sp>
      <p:sp>
        <p:nvSpPr>
          <p:cNvPr id="5" name="Text 2"/>
          <p:cNvSpPr txBox="1"/>
          <p:nvPr/>
        </p:nvSpPr>
        <p:spPr>
          <a:xfrm>
            <a:off x="2084832" y="640080"/>
            <a:ext cx="9509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 rtl="1">
              <a:buNone/>
            </a:pPr>
            <a:r>
              <a:rPr lang="fa-IR" altLang="en-US" sz="3000" b="1" dirty="0">
                <a:solidFill>
                  <a:schemeClr val="tx2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مدل داده‌ی یک مدرک</a:t>
            </a:r>
            <a:endParaRPr lang="fa-IR" sz="3300" dirty="0"/>
          </a:p>
        </p:txBody>
      </p:sp>
      <p:graphicFrame>
        <p:nvGraphicFramePr>
          <p:cNvPr id="17" name="Data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45327065"/>
              </p:ext>
            </p:extLst>
          </p:nvPr>
        </p:nvGraphicFramePr>
        <p:xfrm>
          <a:off x="595884" y="1417320"/>
          <a:ext cx="11000232" cy="4754880"/>
        </p:xfrm>
        <a:graphic>
          <a:graphicData uri="http://schemas.openxmlformats.org/drawingml/2006/table">
            <a:tbl>
              <a:tblPr/>
              <a:tblGrid>
                <a:gridCol w="374007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000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6010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marL="0" indent="0" algn="r" rtl="1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  <a:latin typeface="Vazirmatn" pitchFamily="34" charset="0"/>
                          <a:ea typeface="Vazirmatn" pitchFamily="34" charset="-122"/>
                          <a:cs typeface="Vazirmatn" pitchFamily="34" charset="-120"/>
                        </a:rPr>
                        <a:t>توضیح</a:t>
                      </a:r>
                      <a:endParaRPr lang="en-US" sz="1800" dirty="0">
                        <a:latin typeface="Vazirmatn" charset="0"/>
                        <a:ea typeface="Vazirmatn" charset="0"/>
                        <a:cs typeface="Vazirmatn" charset="0"/>
                      </a:endParaRPr>
                    </a:p>
                  </a:txBody>
                  <a:tcPr marL="137160" marR="137160" anchor="ctr">
                    <a:lnL w="9525" cap="flat" cmpd="sng" algn="ctr">
                      <a:solidFill>
                        <a:srgbClr val="E3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 rtl="1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  <a:latin typeface="Vazirmatn" pitchFamily="34" charset="0"/>
                          <a:ea typeface="Vazirmatn" pitchFamily="34" charset="-122"/>
                          <a:cs typeface="Vazirmatn" pitchFamily="34" charset="-120"/>
                        </a:rPr>
                        <a:t>نوع</a:t>
                      </a:r>
                      <a:endParaRPr lang="en-US" sz="1800" dirty="0">
                        <a:latin typeface="Vazirmatn" charset="0"/>
                        <a:ea typeface="Vazirmatn" charset="0"/>
                        <a:cs typeface="Vazirmatn" charset="0"/>
                      </a:endParaRPr>
                    </a:p>
                  </a:txBody>
                  <a:tcPr marL="137160" marR="137160" anchor="ctr">
                    <a:lnL w="9525" cap="flat" cmpd="sng" algn="ctr">
                      <a:solidFill>
                        <a:srgbClr val="E3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 rtl="1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  <a:latin typeface="Vazirmatn" pitchFamily="34" charset="0"/>
                          <a:ea typeface="Vazirmatn" pitchFamily="34" charset="-122"/>
                          <a:cs typeface="Vazirmatn" pitchFamily="34" charset="-120"/>
                        </a:rPr>
                        <a:t>فیلد</a:t>
                      </a:r>
                      <a:endParaRPr lang="en-US" sz="1800" dirty="0">
                        <a:latin typeface="Vazirmatn" charset="0"/>
                        <a:ea typeface="Vazirmatn" charset="0"/>
                        <a:cs typeface="Vazirmatn" charset="0"/>
                      </a:endParaRPr>
                    </a:p>
                  </a:txBody>
                  <a:tcPr marL="137160" marR="137160" anchor="ctr">
                    <a:lnL w="9525" cap="flat" cmpd="sng" algn="ctr">
                      <a:solidFill>
                        <a:srgbClr val="E3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r" rtl="1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Vazirmatn" pitchFamily="34" charset="0"/>
                          <a:ea typeface="Vazirmatn" pitchFamily="34" charset="-122"/>
                          <a:cs typeface="Vazirmatn" pitchFamily="34" charset="-120"/>
                        </a:rPr>
                        <a:t>شناسه‌ی یکتا؛ هش آدرس صاحب، صادرکننده،  ,CID ، زمان و nonce</a:t>
                      </a:r>
                      <a:endParaRPr lang="en-US" sz="1800" dirty="0">
                        <a:latin typeface="Vazirmatn" charset="0"/>
                        <a:ea typeface="Vazirmatn" charset="0"/>
                        <a:cs typeface="Vazirmatn" charset="0"/>
                      </a:endParaRPr>
                    </a:p>
                  </a:txBody>
                  <a:tcPr marL="137160" marR="137160" anchor="ctr">
                    <a:lnL w="9525" cap="flat" cmpd="sng" algn="ctr">
                      <a:solidFill>
                        <a:srgbClr val="E3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Vazirmatn" pitchFamily="34" charset="0"/>
                          <a:ea typeface="Vazirmatn" pitchFamily="34" charset="-122"/>
                          <a:cs typeface="Vazirmatn" pitchFamily="34" charset="-120"/>
                        </a:rPr>
                        <a:t>bytes32</a:t>
                      </a:r>
                      <a:endParaRPr lang="en-US" sz="1800" dirty="0">
                        <a:latin typeface="Vazirmatn" charset="0"/>
                        <a:ea typeface="Vazirmatn" charset="0"/>
                        <a:cs typeface="Vazirmatn" charset="0"/>
                      </a:endParaRPr>
                    </a:p>
                  </a:txBody>
                  <a:tcPr marL="137160" marR="137160" anchor="ctr">
                    <a:lnL w="9525" cap="flat" cmpd="sng" algn="ctr">
                      <a:solidFill>
                        <a:srgbClr val="E3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  <a:latin typeface="Vazirmatn" pitchFamily="34" charset="0"/>
                          <a:ea typeface="Vazirmatn" pitchFamily="34" charset="-122"/>
                          <a:cs typeface="Vazirmatn" pitchFamily="34" charset="-120"/>
                        </a:rPr>
                        <a:t>id</a:t>
                      </a:r>
                      <a:endParaRPr lang="en-US" sz="1800" dirty="0">
                        <a:latin typeface="Vazirmatn" charset="0"/>
                        <a:ea typeface="Vazirmatn" charset="0"/>
                        <a:cs typeface="Vazirmatn" charset="0"/>
                      </a:endParaRPr>
                    </a:p>
                  </a:txBody>
                  <a:tcPr marL="137160" marR="137160" anchor="ctr">
                    <a:lnL w="9525" cap="flat" cmpd="sng" algn="ctr">
                      <a:solidFill>
                        <a:srgbClr val="E3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r" rtl="1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Vazirmatn" pitchFamily="34" charset="0"/>
                          <a:ea typeface="Vazirmatn" pitchFamily="34" charset="-122"/>
                          <a:cs typeface="Vazirmatn" pitchFamily="34" charset="-120"/>
                        </a:rPr>
                        <a:t>آدرس دانشجو / دانشگاه صادرکننده</a:t>
                      </a:r>
                      <a:endParaRPr lang="en-US" sz="1800" dirty="0">
                        <a:latin typeface="Vazirmatn" charset="0"/>
                        <a:ea typeface="Vazirmatn" charset="0"/>
                        <a:cs typeface="Vazirmatn" charset="0"/>
                      </a:endParaRPr>
                    </a:p>
                  </a:txBody>
                  <a:tcPr marL="137160" marR="137160" anchor="ctr">
                    <a:lnL w="9525" cap="flat" cmpd="sng" algn="ctr">
                      <a:solidFill>
                        <a:srgbClr val="E3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Vazirmatn" pitchFamily="34" charset="0"/>
                          <a:ea typeface="Vazirmatn" pitchFamily="34" charset="-122"/>
                          <a:cs typeface="Vazirmatn" pitchFamily="34" charset="-120"/>
                        </a:rPr>
                        <a:t>address</a:t>
                      </a:r>
                      <a:endParaRPr lang="en-US" sz="1800" dirty="0">
                        <a:latin typeface="Vazirmatn" charset="0"/>
                        <a:ea typeface="Vazirmatn" charset="0"/>
                        <a:cs typeface="Vazirmatn" charset="0"/>
                      </a:endParaRPr>
                    </a:p>
                  </a:txBody>
                  <a:tcPr marL="137160" marR="137160" anchor="ctr">
                    <a:lnL w="9525" cap="flat" cmpd="sng" algn="ctr">
                      <a:solidFill>
                        <a:srgbClr val="E3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  <a:latin typeface="Vazirmatn" pitchFamily="34" charset="0"/>
                          <a:ea typeface="Vazirmatn" pitchFamily="34" charset="-122"/>
                          <a:cs typeface="Vazirmatn" pitchFamily="34" charset="-120"/>
                        </a:rPr>
                        <a:t>owner / issuer</a:t>
                      </a:r>
                      <a:endParaRPr lang="en-US" sz="1800" dirty="0">
                        <a:latin typeface="Vazirmatn" charset="0"/>
                        <a:ea typeface="Vazirmatn" charset="0"/>
                        <a:cs typeface="Vazirmatn" charset="0"/>
                      </a:endParaRPr>
                    </a:p>
                  </a:txBody>
                  <a:tcPr marL="137160" marR="137160" anchor="ctr">
                    <a:lnL w="9525" cap="flat" cmpd="sng" algn="ctr">
                      <a:solidFill>
                        <a:srgbClr val="E3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r" rtl="1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Vazirmatn" pitchFamily="34" charset="0"/>
                          <a:ea typeface="Vazirmatn" pitchFamily="34" charset="-122"/>
                          <a:cs typeface="Vazirmatn" pitchFamily="34" charset="-120"/>
                        </a:rPr>
                        <a:t>اثر انگشت فایل رمزشده در IPFS</a:t>
                      </a:r>
                      <a:endParaRPr lang="en-US" sz="1800" dirty="0">
                        <a:latin typeface="Vazirmatn" charset="0"/>
                        <a:ea typeface="Vazirmatn" charset="0"/>
                        <a:cs typeface="Vazirmatn" charset="0"/>
                      </a:endParaRPr>
                    </a:p>
                  </a:txBody>
                  <a:tcPr marL="137160" marR="137160" anchor="ctr">
                    <a:lnL w="9525" cap="flat" cmpd="sng" algn="ctr">
                      <a:solidFill>
                        <a:srgbClr val="E3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Vazirmatn" pitchFamily="34" charset="0"/>
                          <a:ea typeface="Vazirmatn" pitchFamily="34" charset="-122"/>
                          <a:cs typeface="Vazirmatn" pitchFamily="34" charset="-120"/>
                        </a:rPr>
                        <a:t>string</a:t>
                      </a:r>
                      <a:endParaRPr lang="en-US" sz="1800" dirty="0">
                        <a:latin typeface="Vazirmatn" charset="0"/>
                        <a:ea typeface="Vazirmatn" charset="0"/>
                        <a:cs typeface="Vazirmatn" charset="0"/>
                      </a:endParaRPr>
                    </a:p>
                  </a:txBody>
                  <a:tcPr marL="137160" marR="137160" anchor="ctr">
                    <a:lnL w="9525" cap="flat" cmpd="sng" algn="ctr">
                      <a:solidFill>
                        <a:srgbClr val="E3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  <a:latin typeface="Vazirmatn" pitchFamily="34" charset="0"/>
                          <a:ea typeface="Vazirmatn" pitchFamily="34" charset="-122"/>
                          <a:cs typeface="Vazirmatn" pitchFamily="34" charset="-120"/>
                        </a:rPr>
                        <a:t>ipfsCid</a:t>
                      </a:r>
                      <a:endParaRPr lang="en-US" sz="1800" dirty="0">
                        <a:latin typeface="Vazirmatn" charset="0"/>
                        <a:ea typeface="Vazirmatn" charset="0"/>
                        <a:cs typeface="Vazirmatn" charset="0"/>
                      </a:endParaRPr>
                    </a:p>
                  </a:txBody>
                  <a:tcPr marL="137160" marR="137160" anchor="ctr">
                    <a:lnL w="9525" cap="flat" cmpd="sng" algn="ctr">
                      <a:solidFill>
                        <a:srgbClr val="E3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Vazirmatn" pitchFamily="34" charset="0"/>
                          <a:ea typeface="Vazirmatn" pitchFamily="34" charset="-122"/>
                          <a:cs typeface="Vazirmatn" pitchFamily="34" charset="-120"/>
                        </a:rPr>
                        <a:t>Bachelor, Master, Certificate, PhD, Diploma</a:t>
                      </a:r>
                      <a:endParaRPr lang="en-US" sz="1800" dirty="0">
                        <a:latin typeface="Vazirmatn" charset="0"/>
                        <a:ea typeface="Vazirmatn" charset="0"/>
                        <a:cs typeface="Vazirmatn" charset="0"/>
                      </a:endParaRPr>
                    </a:p>
                  </a:txBody>
                  <a:tcPr marL="137160" marR="137160" anchor="ctr">
                    <a:lnL w="9525" cap="flat" cmpd="sng" algn="ctr">
                      <a:solidFill>
                        <a:srgbClr val="E3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Vazirmatn" pitchFamily="34" charset="0"/>
                          <a:ea typeface="Vazirmatn" pitchFamily="34" charset="-122"/>
                          <a:cs typeface="Vazirmatn" pitchFamily="34" charset="-120"/>
                        </a:rPr>
                        <a:t>enum</a:t>
                      </a:r>
                      <a:endParaRPr lang="en-US" sz="1800" dirty="0">
                        <a:latin typeface="Vazirmatn" charset="0"/>
                        <a:ea typeface="Vazirmatn" charset="0"/>
                        <a:cs typeface="Vazirmatn" charset="0"/>
                      </a:endParaRPr>
                    </a:p>
                  </a:txBody>
                  <a:tcPr marL="137160" marR="137160" anchor="ctr">
                    <a:lnL w="9525" cap="flat" cmpd="sng" algn="ctr">
                      <a:solidFill>
                        <a:srgbClr val="E3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  <a:latin typeface="Vazirmatn" pitchFamily="34" charset="0"/>
                          <a:ea typeface="Vazirmatn" pitchFamily="34" charset="-122"/>
                          <a:cs typeface="Vazirmatn" pitchFamily="34" charset="-120"/>
                        </a:rPr>
                        <a:t>documentType</a:t>
                      </a:r>
                      <a:endParaRPr lang="en-US" sz="1800" dirty="0">
                        <a:latin typeface="Vazirmatn" charset="0"/>
                        <a:ea typeface="Vazirmatn" charset="0"/>
                        <a:cs typeface="Vazirmatn" charset="0"/>
                      </a:endParaRPr>
                    </a:p>
                  </a:txBody>
                  <a:tcPr marL="137160" marR="137160" anchor="ctr">
                    <a:lnL w="9525" cap="flat" cmpd="sng" algn="ctr">
                      <a:solidFill>
                        <a:srgbClr val="E3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r" rtl="1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Vazirmatn" pitchFamily="34" charset="0"/>
                          <a:ea typeface="Vazirmatn" pitchFamily="34" charset="-122"/>
                          <a:cs typeface="Vazirmatn" pitchFamily="34" charset="-120"/>
                        </a:rPr>
                        <a:t>شماره‌ی رشته در لیست قابل افزایش توسط مدیر</a:t>
                      </a:r>
                      <a:endParaRPr lang="en-US" sz="1800" dirty="0">
                        <a:latin typeface="Vazirmatn" charset="0"/>
                        <a:ea typeface="Vazirmatn" charset="0"/>
                        <a:cs typeface="Vazirmatn" charset="0"/>
                      </a:endParaRPr>
                    </a:p>
                  </a:txBody>
                  <a:tcPr marL="137160" marR="137160" anchor="ctr">
                    <a:lnL w="9525" cap="flat" cmpd="sng" algn="ctr">
                      <a:solidFill>
                        <a:srgbClr val="E3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Vazirmatn" pitchFamily="34" charset="0"/>
                          <a:ea typeface="Vazirmatn" pitchFamily="34" charset="-122"/>
                          <a:cs typeface="Vazirmatn" pitchFamily="34" charset="-120"/>
                        </a:rPr>
                        <a:t>uint16</a:t>
                      </a:r>
                      <a:endParaRPr lang="en-US" sz="1800" dirty="0">
                        <a:latin typeface="Vazirmatn" charset="0"/>
                        <a:ea typeface="Vazirmatn" charset="0"/>
                        <a:cs typeface="Vazirmatn" charset="0"/>
                      </a:endParaRPr>
                    </a:p>
                  </a:txBody>
                  <a:tcPr marL="137160" marR="137160" anchor="ctr">
                    <a:lnL w="9525" cap="flat" cmpd="sng" algn="ctr">
                      <a:solidFill>
                        <a:srgbClr val="E3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  <a:latin typeface="Vazirmatn" pitchFamily="34" charset="0"/>
                          <a:ea typeface="Vazirmatn" pitchFamily="34" charset="-122"/>
                          <a:cs typeface="Vazirmatn" pitchFamily="34" charset="-120"/>
                        </a:rPr>
                        <a:t>majorId</a:t>
                      </a:r>
                      <a:endParaRPr lang="en-US" sz="1800" dirty="0">
                        <a:latin typeface="Vazirmatn" charset="0"/>
                        <a:ea typeface="Vazirmatn" charset="0"/>
                        <a:cs typeface="Vazirmatn" charset="0"/>
                      </a:endParaRPr>
                    </a:p>
                  </a:txBody>
                  <a:tcPr marL="137160" marR="137160" anchor="ctr">
                    <a:lnL w="9525" cap="flat" cmpd="sng" algn="ctr">
                      <a:solidFill>
                        <a:srgbClr val="E3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r" rtl="1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Vazirmatn" pitchFamily="34" charset="0"/>
                          <a:ea typeface="Vazirmatn" pitchFamily="34" charset="-122"/>
                          <a:cs typeface="Vazirmatn" pitchFamily="34" charset="-120"/>
                        </a:rPr>
                        <a:t>تاریخ صدور و انقضا؛ صفر یعنی دائمی</a:t>
                      </a:r>
                      <a:endParaRPr lang="en-US" sz="1800" dirty="0">
                        <a:latin typeface="Vazirmatn" charset="0"/>
                        <a:ea typeface="Vazirmatn" charset="0"/>
                        <a:cs typeface="Vazirmatn" charset="0"/>
                      </a:endParaRPr>
                    </a:p>
                  </a:txBody>
                  <a:tcPr marL="137160" marR="137160" anchor="ctr">
                    <a:lnL w="9525" cap="flat" cmpd="sng" algn="ctr">
                      <a:solidFill>
                        <a:srgbClr val="E3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Vazirmatn" pitchFamily="34" charset="0"/>
                          <a:ea typeface="Vazirmatn" pitchFamily="34" charset="-122"/>
                          <a:cs typeface="Vazirmatn" pitchFamily="34" charset="-120"/>
                        </a:rPr>
                        <a:t>uint256</a:t>
                      </a:r>
                      <a:endParaRPr lang="en-US" sz="1800" dirty="0">
                        <a:latin typeface="Vazirmatn" charset="0"/>
                        <a:ea typeface="Vazirmatn" charset="0"/>
                        <a:cs typeface="Vazirmatn" charset="0"/>
                      </a:endParaRPr>
                    </a:p>
                  </a:txBody>
                  <a:tcPr marL="137160" marR="137160" anchor="ctr">
                    <a:lnL w="9525" cap="flat" cmpd="sng" algn="ctr">
                      <a:solidFill>
                        <a:srgbClr val="E3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  <a:latin typeface="Vazirmatn" pitchFamily="34" charset="0"/>
                          <a:ea typeface="Vazirmatn" pitchFamily="34" charset="-122"/>
                          <a:cs typeface="Vazirmatn" pitchFamily="34" charset="-120"/>
                        </a:rPr>
                        <a:t>issueDate / expiryDate</a:t>
                      </a:r>
                      <a:endParaRPr lang="en-US" sz="1800" dirty="0">
                        <a:latin typeface="Vazirmatn" charset="0"/>
                        <a:ea typeface="Vazirmatn" charset="0"/>
                        <a:cs typeface="Vazirmatn" charset="0"/>
                      </a:endParaRPr>
                    </a:p>
                  </a:txBody>
                  <a:tcPr marL="137160" marR="137160" anchor="ctr">
                    <a:lnL w="9525" cap="flat" cmpd="sng" algn="ctr">
                      <a:solidFill>
                        <a:srgbClr val="E3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r" rtl="1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Vazirmatn" pitchFamily="34" charset="0"/>
                          <a:ea typeface="Vazirmatn" pitchFamily="34" charset="-122"/>
                          <a:cs typeface="Vazirmatn" pitchFamily="34" charset="-120"/>
                        </a:rPr>
                        <a:t> Active </a:t>
                      </a:r>
                      <a:r>
                        <a:rPr lang="en-US" sz="1500" dirty="0" err="1">
                          <a:solidFill>
                            <a:schemeClr val="tx1"/>
                          </a:solidFill>
                          <a:latin typeface="Vazirmatn" pitchFamily="34" charset="0"/>
                          <a:ea typeface="Vazirmatn" pitchFamily="34" charset="-122"/>
                          <a:cs typeface="Vazirmatn" pitchFamily="34" charset="-120"/>
                        </a:rPr>
                        <a:t>یا</a:t>
                      </a:r>
                      <a:r>
                        <a:rPr lang="en-US" sz="1500" dirty="0">
                          <a:solidFill>
                            <a:schemeClr val="tx1"/>
                          </a:solidFill>
                          <a:latin typeface="Vazirmatn" pitchFamily="34" charset="0"/>
                          <a:ea typeface="Vazirmatn" pitchFamily="34" charset="-122"/>
                          <a:cs typeface="Vazirmatn" pitchFamily="34" charset="-120"/>
                        </a:rPr>
                        <a:t> Revoked ؛ Expired هرگز ذخیره نمی‌شود</a:t>
                      </a:r>
                      <a:endParaRPr lang="en-US" sz="1800" dirty="0">
                        <a:latin typeface="Vazirmatn" charset="0"/>
                        <a:ea typeface="Vazirmatn" charset="0"/>
                        <a:cs typeface="Vazirmatn" charset="0"/>
                      </a:endParaRPr>
                    </a:p>
                  </a:txBody>
                  <a:tcPr marL="137160" marR="137160" anchor="ctr">
                    <a:lnL w="9525" cap="flat" cmpd="sng" algn="ctr">
                      <a:solidFill>
                        <a:srgbClr val="E3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Vazirmatn" pitchFamily="34" charset="0"/>
                          <a:ea typeface="Vazirmatn" pitchFamily="34" charset="-122"/>
                          <a:cs typeface="Vazirmatn" pitchFamily="34" charset="-120"/>
                        </a:rPr>
                        <a:t>enum</a:t>
                      </a:r>
                      <a:endParaRPr lang="en-US" sz="1800" dirty="0">
                        <a:latin typeface="Vazirmatn" charset="0"/>
                        <a:ea typeface="Vazirmatn" charset="0"/>
                        <a:cs typeface="Vazirmatn" charset="0"/>
                      </a:endParaRPr>
                    </a:p>
                  </a:txBody>
                  <a:tcPr marL="137160" marR="137160" anchor="ctr">
                    <a:lnL w="9525" cap="flat" cmpd="sng" algn="ctr">
                      <a:solidFill>
                        <a:srgbClr val="E3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  <a:latin typeface="Vazirmatn" pitchFamily="34" charset="0"/>
                          <a:ea typeface="Vazirmatn" pitchFamily="34" charset="-122"/>
                          <a:cs typeface="Vazirmatn" pitchFamily="34" charset="-120"/>
                        </a:rPr>
                        <a:t>status</a:t>
                      </a:r>
                      <a:endParaRPr lang="en-US" sz="1800" dirty="0">
                        <a:latin typeface="Vazirmatn" charset="0"/>
                        <a:ea typeface="Vazirmatn" charset="0"/>
                        <a:cs typeface="Vazirmatn" charset="0"/>
                      </a:endParaRPr>
                    </a:p>
                  </a:txBody>
                  <a:tcPr marL="137160" marR="137160" anchor="ctr">
                    <a:lnL w="9525" cap="flat" cmpd="sng" algn="ctr">
                      <a:solidFill>
                        <a:srgbClr val="E3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"/>
          <p:cNvSpPr txBox="1"/>
          <p:nvPr/>
        </p:nvSpPr>
        <p:spPr>
          <a:xfrm>
            <a:off x="10680192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fa-IR" altLang="en-US" sz="1200" dirty="0">
                <a:solidFill>
                  <a:schemeClr val="accent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۱۷</a:t>
            </a:r>
            <a:endParaRPr lang="fa-IR" sz="1500" dirty="0"/>
          </a:p>
        </p:txBody>
      </p:sp>
      <p:sp>
        <p:nvSpPr>
          <p:cNvPr id="4" name="Text 1"/>
          <p:cNvSpPr txBox="1"/>
          <p:nvPr/>
        </p:nvSpPr>
        <p:spPr>
          <a:xfrm>
            <a:off x="4279392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fa-IR" altLang="en-US" sz="1200" b="1" dirty="0">
                <a:solidFill>
                  <a:schemeClr val="accent1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طراحی</a:t>
            </a:r>
            <a:endParaRPr lang="fa-IR" sz="1500" dirty="0"/>
          </a:p>
        </p:txBody>
      </p:sp>
      <p:sp>
        <p:nvSpPr>
          <p:cNvPr id="5" name="Text 2"/>
          <p:cNvSpPr txBox="1"/>
          <p:nvPr/>
        </p:nvSpPr>
        <p:spPr>
          <a:xfrm>
            <a:off x="2084832" y="667790"/>
            <a:ext cx="9509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 rtl="1">
              <a:buNone/>
            </a:pPr>
            <a:r>
              <a:rPr lang="fa-IR" altLang="en-US" sz="3000" b="1" dirty="0">
                <a:solidFill>
                  <a:schemeClr val="tx2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وضعیت‌های یک مدرک</a:t>
            </a:r>
            <a:endParaRPr lang="fa-IR" sz="3300" dirty="0"/>
          </a:p>
        </p:txBody>
      </p:sp>
      <p:sp>
        <p:nvSpPr>
          <p:cNvPr id="6" name="Node 1"/>
          <p:cNvSpPr/>
          <p:nvPr/>
        </p:nvSpPr>
        <p:spPr>
          <a:xfrm>
            <a:off x="8476488" y="2011680"/>
            <a:ext cx="3118104" cy="2377440"/>
          </a:xfrm>
          <a:prstGeom prst="roundRect">
            <a:avLst>
              <a:gd name="adj" fmla="val 4615"/>
            </a:avLst>
          </a:prstGeom>
          <a:solidFill>
            <a:schemeClr val="bg1"/>
          </a:solidFill>
          <a:ln w="25400">
            <a:solidFill>
              <a:schemeClr val="accent1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476488" y="2011680"/>
            <a:ext cx="3118104" cy="685800"/>
          </a:xfrm>
          <a:prstGeom prst="roundRect">
            <a:avLst>
              <a:gd name="adj" fmla="val 16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476488" y="2011680"/>
            <a:ext cx="311810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a-IR" altLang="en-US" sz="1800" b="1" dirty="0">
                <a:solidFill>
                  <a:schemeClr val="bg1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Active</a:t>
            </a:r>
            <a:endParaRPr lang="fa-IR" sz="2100" dirty="0"/>
          </a:p>
        </p:txBody>
      </p:sp>
      <p:sp>
        <p:nvSpPr>
          <p:cNvPr id="9" name="Text 6"/>
          <p:cNvSpPr txBox="1"/>
          <p:nvPr/>
        </p:nvSpPr>
        <p:spPr>
          <a:xfrm>
            <a:off x="8613648" y="2788920"/>
            <a:ext cx="2843784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rtl="1">
              <a:buNone/>
            </a:pPr>
            <a:r>
              <a:rPr lang="fa-IR" altLang="en-US" sz="1800" dirty="0">
                <a:solidFill>
                  <a:schemeClr val="tx1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فعال و معتبر</a:t>
            </a:r>
            <a:endParaRPr lang="fa-IR" sz="2100" dirty="0"/>
          </a:p>
        </p:txBody>
      </p:sp>
      <p:sp>
        <p:nvSpPr>
          <p:cNvPr id="10" name="Arrow"/>
          <p:cNvSpPr/>
          <p:nvPr/>
        </p:nvSpPr>
        <p:spPr>
          <a:xfrm>
            <a:off x="7763256" y="3017520"/>
            <a:ext cx="603504" cy="365760"/>
          </a:xfrm>
          <a:prstGeom prst="leftArrow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1" name="Node 2"/>
          <p:cNvSpPr/>
          <p:nvPr/>
        </p:nvSpPr>
        <p:spPr>
          <a:xfrm>
            <a:off x="4535424" y="2011680"/>
            <a:ext cx="3118104" cy="2377440"/>
          </a:xfrm>
          <a:prstGeom prst="roundRect">
            <a:avLst>
              <a:gd name="adj" fmla="val 4615"/>
            </a:avLst>
          </a:prstGeom>
          <a:solidFill>
            <a:schemeClr val="bg1"/>
          </a:solidFill>
          <a:ln w="25400">
            <a:solidFill>
              <a:schemeClr val="accent2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535424" y="2011680"/>
            <a:ext cx="3118104" cy="685800"/>
          </a:xfrm>
          <a:prstGeom prst="roundRect">
            <a:avLst>
              <a:gd name="adj" fmla="val 16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4535424" y="2011680"/>
            <a:ext cx="311810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a-IR" altLang="en-US" sz="1800" b="1" dirty="0">
                <a:solidFill>
                  <a:schemeClr val="bg1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Expired</a:t>
            </a:r>
            <a:endParaRPr lang="fa-IR" sz="2100" dirty="0"/>
          </a:p>
        </p:txBody>
      </p:sp>
      <p:sp>
        <p:nvSpPr>
          <p:cNvPr id="14" name="Text 11"/>
          <p:cNvSpPr txBox="1"/>
          <p:nvPr/>
        </p:nvSpPr>
        <p:spPr>
          <a:xfrm>
            <a:off x="4672584" y="2788920"/>
            <a:ext cx="2843784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rtl="1">
              <a:buNone/>
            </a:pPr>
            <a:r>
              <a:rPr lang="fa-IR" altLang="en-US" sz="1800" dirty="0">
                <a:solidFill>
                  <a:schemeClr val="tx1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زمان انقضا گذشته</a:t>
            </a:r>
            <a:endParaRPr lang="fa-IR" sz="2100" dirty="0"/>
          </a:p>
          <a:p>
            <a:pPr marL="0" indent="0" algn="ctr" rtl="1">
              <a:buNone/>
            </a:pPr>
            <a:r>
              <a:rPr lang="fa-IR" altLang="en-US" sz="1800" dirty="0">
                <a:solidFill>
                  <a:schemeClr val="tx1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محاسبه‌ی زنده؛ ذخیره نمی‌شود</a:t>
            </a:r>
            <a:endParaRPr lang="fa-IR" sz="2100" dirty="0"/>
          </a:p>
        </p:txBody>
      </p:sp>
      <p:sp>
        <p:nvSpPr>
          <p:cNvPr id="15" name="Arrow"/>
          <p:cNvSpPr/>
          <p:nvPr/>
        </p:nvSpPr>
        <p:spPr>
          <a:xfrm>
            <a:off x="3822192" y="3017520"/>
            <a:ext cx="603504" cy="365760"/>
          </a:xfrm>
          <a:prstGeom prst="leftArrow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6" name="Node 3"/>
          <p:cNvSpPr/>
          <p:nvPr/>
        </p:nvSpPr>
        <p:spPr>
          <a:xfrm>
            <a:off x="594360" y="2011680"/>
            <a:ext cx="3118104" cy="2377440"/>
          </a:xfrm>
          <a:prstGeom prst="roundRect">
            <a:avLst>
              <a:gd name="adj" fmla="val 4615"/>
            </a:avLst>
          </a:prstGeom>
          <a:solidFill>
            <a:schemeClr val="bg1"/>
          </a:solidFill>
          <a:ln w="25400">
            <a:solidFill>
              <a:schemeClr val="accent3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594360" y="2011680"/>
            <a:ext cx="3118104" cy="685800"/>
          </a:xfrm>
          <a:prstGeom prst="roundRect">
            <a:avLst>
              <a:gd name="adj" fmla="val 16000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594360" y="2011680"/>
            <a:ext cx="311810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a-IR" altLang="en-US" sz="1800" b="1" dirty="0">
                <a:solidFill>
                  <a:schemeClr val="bg1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Revoked</a:t>
            </a:r>
            <a:endParaRPr lang="fa-IR" sz="2100" dirty="0"/>
          </a:p>
        </p:txBody>
      </p:sp>
      <p:sp>
        <p:nvSpPr>
          <p:cNvPr id="19" name="Text 16"/>
          <p:cNvSpPr txBox="1"/>
          <p:nvPr/>
        </p:nvSpPr>
        <p:spPr>
          <a:xfrm>
            <a:off x="731520" y="2788920"/>
            <a:ext cx="2843784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rtl="1">
              <a:buNone/>
            </a:pPr>
            <a:r>
              <a:rPr lang="fa-IR" altLang="en-US" sz="1800" dirty="0">
                <a:solidFill>
                  <a:schemeClr val="tx1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ابطال‌شده توسط صادرکننده</a:t>
            </a:r>
            <a:endParaRPr lang="fa-IR" sz="2100" dirty="0"/>
          </a:p>
          <a:p>
            <a:pPr marL="0" indent="0" algn="ctr" rtl="1">
              <a:buNone/>
            </a:pPr>
            <a:r>
              <a:rPr lang="fa-IR" altLang="en-US" sz="1800" dirty="0">
                <a:solidFill>
                  <a:schemeClr val="tx1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بی‌بازگشت</a:t>
            </a:r>
            <a:endParaRPr lang="fa-IR" sz="2100" dirty="0"/>
          </a:p>
        </p:txBody>
      </p:sp>
      <p:sp>
        <p:nvSpPr>
          <p:cNvPr id="20" name="Text 17"/>
          <p:cNvSpPr txBox="1"/>
          <p:nvPr/>
        </p:nvSpPr>
        <p:spPr>
          <a:xfrm>
            <a:off x="594360" y="4937760"/>
            <a:ext cx="11000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fa-IR" altLang="en-US" sz="1600" b="1" dirty="0">
                <a:solidFill>
                  <a:schemeClr val="accent1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Active و Expired هر دو می‌توانند Revoked شوند؛ از Revoked هرگز برنمی‌گردند.</a:t>
            </a:r>
            <a:endParaRPr lang="fa-IR" sz="1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"/>
          <p:cNvSpPr txBox="1"/>
          <p:nvPr/>
        </p:nvSpPr>
        <p:spPr>
          <a:xfrm>
            <a:off x="10680192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fa-IR" altLang="en-US" sz="1200" dirty="0">
                <a:solidFill>
                  <a:schemeClr val="accent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۱۸</a:t>
            </a:r>
            <a:endParaRPr lang="fa-IR" sz="1500" dirty="0"/>
          </a:p>
        </p:txBody>
      </p:sp>
      <p:sp>
        <p:nvSpPr>
          <p:cNvPr id="4" name="Text 1"/>
          <p:cNvSpPr txBox="1"/>
          <p:nvPr/>
        </p:nvSpPr>
        <p:spPr>
          <a:xfrm>
            <a:off x="4279392" y="333895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fa-IR" altLang="en-US" sz="1200" b="1" dirty="0">
                <a:solidFill>
                  <a:schemeClr val="accent1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طراحی</a:t>
            </a:r>
            <a:endParaRPr lang="fa-IR" sz="1500" dirty="0"/>
          </a:p>
        </p:txBody>
      </p:sp>
      <p:sp>
        <p:nvSpPr>
          <p:cNvPr id="5" name="Text 2"/>
          <p:cNvSpPr txBox="1"/>
          <p:nvPr/>
        </p:nvSpPr>
        <p:spPr>
          <a:xfrm>
            <a:off x="2084832" y="640080"/>
            <a:ext cx="9509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 rtl="1">
              <a:buNone/>
            </a:pPr>
            <a:r>
              <a:rPr lang="fa-IR" altLang="en-US" sz="3000" b="1" dirty="0">
                <a:solidFill>
                  <a:schemeClr val="tx2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جریان صدور مدرک</a:t>
            </a:r>
            <a:endParaRPr lang="fa-IR" sz="3300" dirty="0"/>
          </a:p>
        </p:txBody>
      </p:sp>
      <p:sp>
        <p:nvSpPr>
          <p:cNvPr id="6" name="Step 1"/>
          <p:cNvSpPr/>
          <p:nvPr/>
        </p:nvSpPr>
        <p:spPr>
          <a:xfrm>
            <a:off x="594360" y="1691640"/>
            <a:ext cx="11000232" cy="693115"/>
          </a:xfrm>
          <a:prstGeom prst="roundRect">
            <a:avLst>
              <a:gd name="adj" fmla="val 10554"/>
            </a:avLst>
          </a:prstGeom>
          <a:solidFill>
            <a:schemeClr val="bg1"/>
          </a:solidFill>
          <a:ln w="9525">
            <a:solidFill>
              <a:srgbClr val="E3DFD3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0954512" y="1809598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10954512" y="180959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a-IR" altLang="en-US" sz="1500" b="1" dirty="0">
                <a:solidFill>
                  <a:schemeClr val="bg1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۱</a:t>
            </a:r>
            <a:endParaRPr lang="fa-IR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868680" y="1691640"/>
            <a:ext cx="9811512" cy="69311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fa-IR" altLang="en-US" sz="1900" dirty="0">
                <a:solidFill>
                  <a:schemeClr val="tx1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دانشجو یک بار «فعال‌سازی رمزنگاری» می‌زند و کلید عمومی‌اش ثبت می‌شود</a:t>
            </a:r>
            <a:endParaRPr lang="fa-IR" sz="2200" dirty="0"/>
          </a:p>
        </p:txBody>
      </p:sp>
      <p:sp>
        <p:nvSpPr>
          <p:cNvPr id="10" name="Step 2"/>
          <p:cNvSpPr/>
          <p:nvPr/>
        </p:nvSpPr>
        <p:spPr>
          <a:xfrm>
            <a:off x="594360" y="2512771"/>
            <a:ext cx="11000232" cy="693115"/>
          </a:xfrm>
          <a:prstGeom prst="roundRect">
            <a:avLst>
              <a:gd name="adj" fmla="val 10554"/>
            </a:avLst>
          </a:prstGeom>
          <a:solidFill>
            <a:schemeClr val="bg1"/>
          </a:solidFill>
          <a:ln w="9525">
            <a:solidFill>
              <a:srgbClr val="E3DFD3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0954512" y="2630729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10954512" y="2630729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a-IR" altLang="en-US" sz="1500" b="1" dirty="0">
                <a:solidFill>
                  <a:schemeClr val="bg1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۲</a:t>
            </a:r>
            <a:endParaRPr lang="fa-IR" sz="1800" dirty="0"/>
          </a:p>
        </p:txBody>
      </p:sp>
      <p:sp>
        <p:nvSpPr>
          <p:cNvPr id="13" name="Text 10"/>
          <p:cNvSpPr txBox="1"/>
          <p:nvPr/>
        </p:nvSpPr>
        <p:spPr>
          <a:xfrm>
            <a:off x="868680" y="2512771"/>
            <a:ext cx="9811512" cy="69311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fa-IR" altLang="en-US" sz="1900" dirty="0">
                <a:solidFill>
                  <a:schemeClr val="tx1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دانشگاه فایل را در مرورگر با کلید تصادفی AES رمز می‌کند</a:t>
            </a:r>
            <a:endParaRPr lang="fa-IR" sz="2200" dirty="0"/>
          </a:p>
        </p:txBody>
      </p:sp>
      <p:sp>
        <p:nvSpPr>
          <p:cNvPr id="14" name="Step 3"/>
          <p:cNvSpPr/>
          <p:nvPr/>
        </p:nvSpPr>
        <p:spPr>
          <a:xfrm>
            <a:off x="594360" y="3333902"/>
            <a:ext cx="11000232" cy="693115"/>
          </a:xfrm>
          <a:prstGeom prst="roundRect">
            <a:avLst>
              <a:gd name="adj" fmla="val 10554"/>
            </a:avLst>
          </a:prstGeom>
          <a:solidFill>
            <a:schemeClr val="bg1"/>
          </a:solidFill>
          <a:ln w="9525">
            <a:solidFill>
              <a:srgbClr val="E3DFD3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10954512" y="345186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10954512" y="34518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a-IR" altLang="en-US" sz="1500" b="1" dirty="0">
                <a:solidFill>
                  <a:schemeClr val="bg1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۳</a:t>
            </a:r>
            <a:endParaRPr lang="fa-IR" sz="1800" dirty="0"/>
          </a:p>
        </p:txBody>
      </p:sp>
      <p:sp>
        <p:nvSpPr>
          <p:cNvPr id="17" name="Text 14"/>
          <p:cNvSpPr txBox="1"/>
          <p:nvPr/>
        </p:nvSpPr>
        <p:spPr>
          <a:xfrm>
            <a:off x="868680" y="3333902"/>
            <a:ext cx="9811512" cy="69311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fa-IR" altLang="en-US" sz="1900" dirty="0">
                <a:solidFill>
                  <a:schemeClr val="tx1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فایل رمزشده به IPFS می‌رود و CID می‌گیرد</a:t>
            </a:r>
            <a:endParaRPr lang="fa-IR" sz="2200" dirty="0"/>
          </a:p>
        </p:txBody>
      </p:sp>
      <p:sp>
        <p:nvSpPr>
          <p:cNvPr id="18" name="Step 4"/>
          <p:cNvSpPr/>
          <p:nvPr/>
        </p:nvSpPr>
        <p:spPr>
          <a:xfrm>
            <a:off x="594360" y="4155034"/>
            <a:ext cx="11000232" cy="693115"/>
          </a:xfrm>
          <a:prstGeom prst="roundRect">
            <a:avLst>
              <a:gd name="adj" fmla="val 10554"/>
            </a:avLst>
          </a:prstGeom>
          <a:solidFill>
            <a:schemeClr val="bg1"/>
          </a:solidFill>
          <a:ln w="9525">
            <a:solidFill>
              <a:srgbClr val="E3DFD3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10954512" y="4272991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10954512" y="4272991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a-IR" altLang="en-US" sz="1500" b="1" dirty="0">
                <a:solidFill>
                  <a:schemeClr val="bg1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۴</a:t>
            </a:r>
            <a:endParaRPr lang="fa-IR" sz="1800" dirty="0"/>
          </a:p>
        </p:txBody>
      </p:sp>
      <p:sp>
        <p:nvSpPr>
          <p:cNvPr id="21" name="Text 18"/>
          <p:cNvSpPr txBox="1"/>
          <p:nvPr/>
        </p:nvSpPr>
        <p:spPr>
          <a:xfrm>
            <a:off x="868680" y="4155034"/>
            <a:ext cx="9811512" cy="69311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fa-IR" altLang="en-US" sz="1900" dirty="0">
                <a:solidFill>
                  <a:schemeClr val="tx1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کلید AES با کلید عمومی دانشجو قفل می‌شود – به این کار wrap می‌گویند</a:t>
            </a:r>
            <a:endParaRPr lang="fa-IR" sz="2200" dirty="0"/>
          </a:p>
        </p:txBody>
      </p:sp>
      <p:sp>
        <p:nvSpPr>
          <p:cNvPr id="22" name="Step 5"/>
          <p:cNvSpPr/>
          <p:nvPr/>
        </p:nvSpPr>
        <p:spPr>
          <a:xfrm>
            <a:off x="594360" y="4976165"/>
            <a:ext cx="11000232" cy="693115"/>
          </a:xfrm>
          <a:prstGeom prst="roundRect">
            <a:avLst>
              <a:gd name="adj" fmla="val 10554"/>
            </a:avLst>
          </a:prstGeom>
          <a:solidFill>
            <a:schemeClr val="bg1"/>
          </a:solidFill>
          <a:ln w="9525">
            <a:solidFill>
              <a:srgbClr val="E3DFD3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10954512" y="5094122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10954512" y="509412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a-IR" altLang="en-US" sz="1500" b="1" dirty="0">
                <a:solidFill>
                  <a:schemeClr val="bg1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۵</a:t>
            </a:r>
            <a:endParaRPr lang="fa-IR" sz="1800" dirty="0"/>
          </a:p>
        </p:txBody>
      </p:sp>
      <p:sp>
        <p:nvSpPr>
          <p:cNvPr id="25" name="Text 22"/>
          <p:cNvSpPr txBox="1"/>
          <p:nvPr/>
        </p:nvSpPr>
        <p:spPr>
          <a:xfrm>
            <a:off x="868680" y="4976165"/>
            <a:ext cx="9811512" cy="69311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fa-IR" altLang="en-US" sz="1900" dirty="0">
                <a:solidFill>
                  <a:schemeClr val="tx1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تراکنش issueCredential با CID و کلید قفل‌شده ثبت می‌شود</a:t>
            </a:r>
            <a:endParaRPr lang="fa-IR" sz="2200" dirty="0"/>
          </a:p>
        </p:txBody>
      </p:sp>
      <p:sp>
        <p:nvSpPr>
          <p:cNvPr id="26" name="Text 23"/>
          <p:cNvSpPr txBox="1"/>
          <p:nvPr/>
        </p:nvSpPr>
        <p:spPr>
          <a:xfrm>
            <a:off x="594360" y="5669280"/>
            <a:ext cx="11000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fa-IR" altLang="en-US" sz="1600" b="1" dirty="0">
                <a:solidFill>
                  <a:schemeClr val="accent1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تا اینجا هیچ‌چیز باز از مرورگر دانشگاه خارج نشده است.</a:t>
            </a:r>
            <a:endParaRPr lang="fa-IR" sz="1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"/>
          <p:cNvSpPr txBox="1"/>
          <p:nvPr/>
        </p:nvSpPr>
        <p:spPr>
          <a:xfrm>
            <a:off x="10680192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fa-IR" altLang="en-US" sz="1200" dirty="0">
                <a:solidFill>
                  <a:schemeClr val="accent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۱۹</a:t>
            </a:r>
            <a:endParaRPr lang="fa-IR" sz="1500" dirty="0"/>
          </a:p>
        </p:txBody>
      </p:sp>
      <p:sp>
        <p:nvSpPr>
          <p:cNvPr id="4" name="Text 1"/>
          <p:cNvSpPr txBox="1"/>
          <p:nvPr/>
        </p:nvSpPr>
        <p:spPr>
          <a:xfrm>
            <a:off x="4279392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fa-IR" altLang="en-US" sz="1200" b="1" dirty="0">
                <a:solidFill>
                  <a:schemeClr val="accent1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طراحی</a:t>
            </a:r>
            <a:endParaRPr lang="fa-IR" sz="1500" dirty="0"/>
          </a:p>
        </p:txBody>
      </p:sp>
      <p:sp>
        <p:nvSpPr>
          <p:cNvPr id="5" name="Text 2"/>
          <p:cNvSpPr txBox="1"/>
          <p:nvPr/>
        </p:nvSpPr>
        <p:spPr>
          <a:xfrm>
            <a:off x="2084832" y="640080"/>
            <a:ext cx="9509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 rtl="1">
              <a:buNone/>
            </a:pPr>
            <a:r>
              <a:rPr lang="fa-IR" altLang="en-US" sz="3000" b="1" dirty="0">
                <a:solidFill>
                  <a:schemeClr val="tx2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اشتراک‌گذاری و بررسی توسط کارفرما</a:t>
            </a:r>
            <a:endParaRPr lang="fa-IR" sz="3300" dirty="0"/>
          </a:p>
        </p:txBody>
      </p:sp>
      <p:sp>
        <p:nvSpPr>
          <p:cNvPr id="6" name="Step 1"/>
          <p:cNvSpPr/>
          <p:nvPr/>
        </p:nvSpPr>
        <p:spPr>
          <a:xfrm>
            <a:off x="594360" y="1691640"/>
            <a:ext cx="11000232" cy="693115"/>
          </a:xfrm>
          <a:prstGeom prst="roundRect">
            <a:avLst>
              <a:gd name="adj" fmla="val 10554"/>
            </a:avLst>
          </a:prstGeom>
          <a:solidFill>
            <a:schemeClr val="bg1"/>
          </a:solidFill>
          <a:ln w="9525">
            <a:solidFill>
              <a:srgbClr val="E3DFD3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0954512" y="1809598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10954512" y="180959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a-IR" altLang="en-US" sz="1500" b="1" dirty="0">
                <a:solidFill>
                  <a:schemeClr val="bg1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۱</a:t>
            </a:r>
            <a:endParaRPr lang="fa-IR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868680" y="1691640"/>
            <a:ext cx="9811512" cy="69311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fa-IR" altLang="en-US" sz="1900" dirty="0">
                <a:solidFill>
                  <a:schemeClr val="tx1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دانشجو کلید عمومی کارفرما را از قرارداد می‌خواند</a:t>
            </a:r>
            <a:endParaRPr lang="fa-IR" sz="2200" dirty="0"/>
          </a:p>
        </p:txBody>
      </p:sp>
      <p:sp>
        <p:nvSpPr>
          <p:cNvPr id="10" name="Step 2"/>
          <p:cNvSpPr/>
          <p:nvPr/>
        </p:nvSpPr>
        <p:spPr>
          <a:xfrm>
            <a:off x="594360" y="2512771"/>
            <a:ext cx="11000232" cy="693115"/>
          </a:xfrm>
          <a:prstGeom prst="roundRect">
            <a:avLst>
              <a:gd name="adj" fmla="val 10554"/>
            </a:avLst>
          </a:prstGeom>
          <a:solidFill>
            <a:schemeClr val="bg1"/>
          </a:solidFill>
          <a:ln w="9525">
            <a:solidFill>
              <a:srgbClr val="E3DFD3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0954512" y="2630729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10954512" y="2630729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a-IR" altLang="en-US" sz="1500" b="1" dirty="0">
                <a:solidFill>
                  <a:schemeClr val="bg1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۲</a:t>
            </a:r>
            <a:endParaRPr lang="fa-IR" sz="1800" dirty="0"/>
          </a:p>
        </p:txBody>
      </p:sp>
      <p:sp>
        <p:nvSpPr>
          <p:cNvPr id="13" name="Text 10"/>
          <p:cNvSpPr txBox="1"/>
          <p:nvPr/>
        </p:nvSpPr>
        <p:spPr>
          <a:xfrm>
            <a:off x="868680" y="2512771"/>
            <a:ext cx="9811512" cy="69311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fa-IR" altLang="en-US" sz="1900" dirty="0">
                <a:solidFill>
                  <a:schemeClr val="tx1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با کلید خصوصی خودش، کلید AES را باز می‌کند و برای کارفرما دوباره قفل می‌کند</a:t>
            </a:r>
            <a:endParaRPr lang="fa-IR" sz="2200" dirty="0"/>
          </a:p>
        </p:txBody>
      </p:sp>
      <p:sp>
        <p:nvSpPr>
          <p:cNvPr id="14" name="Step 3"/>
          <p:cNvSpPr/>
          <p:nvPr/>
        </p:nvSpPr>
        <p:spPr>
          <a:xfrm>
            <a:off x="594360" y="3333902"/>
            <a:ext cx="11000232" cy="693115"/>
          </a:xfrm>
          <a:prstGeom prst="roundRect">
            <a:avLst>
              <a:gd name="adj" fmla="val 10554"/>
            </a:avLst>
          </a:prstGeom>
          <a:solidFill>
            <a:schemeClr val="bg1"/>
          </a:solidFill>
          <a:ln w="9525">
            <a:solidFill>
              <a:srgbClr val="E3DFD3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10954512" y="345186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10954512" y="34518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a-IR" altLang="en-US" sz="1500" b="1" dirty="0">
                <a:solidFill>
                  <a:schemeClr val="bg1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۳</a:t>
            </a:r>
            <a:endParaRPr lang="fa-IR" sz="1800" dirty="0"/>
          </a:p>
        </p:txBody>
      </p:sp>
      <p:sp>
        <p:nvSpPr>
          <p:cNvPr id="17" name="Text 14"/>
          <p:cNvSpPr txBox="1"/>
          <p:nvPr/>
        </p:nvSpPr>
        <p:spPr>
          <a:xfrm>
            <a:off x="868680" y="3333902"/>
            <a:ext cx="9811512" cy="69311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fa-IR" altLang="en-US" sz="1900" dirty="0">
                <a:solidFill>
                  <a:schemeClr val="tx1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grantAccess روی بلاکچین ثبت می‌شود</a:t>
            </a:r>
            <a:endParaRPr lang="fa-IR" sz="2200" dirty="0"/>
          </a:p>
        </p:txBody>
      </p:sp>
      <p:sp>
        <p:nvSpPr>
          <p:cNvPr id="18" name="Step 4"/>
          <p:cNvSpPr/>
          <p:nvPr/>
        </p:nvSpPr>
        <p:spPr>
          <a:xfrm>
            <a:off x="594360" y="4155034"/>
            <a:ext cx="11000232" cy="693115"/>
          </a:xfrm>
          <a:prstGeom prst="roundRect">
            <a:avLst>
              <a:gd name="adj" fmla="val 10554"/>
            </a:avLst>
          </a:prstGeom>
          <a:solidFill>
            <a:schemeClr val="bg1"/>
          </a:solidFill>
          <a:ln w="9525">
            <a:solidFill>
              <a:srgbClr val="E3DFD3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10954512" y="4272991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10954512" y="4272991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a-IR" altLang="en-US" sz="1500" b="1" dirty="0">
                <a:solidFill>
                  <a:schemeClr val="bg1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۴</a:t>
            </a:r>
            <a:endParaRPr lang="fa-IR" sz="1800" dirty="0"/>
          </a:p>
        </p:txBody>
      </p:sp>
      <p:sp>
        <p:nvSpPr>
          <p:cNvPr id="21" name="Text 18"/>
          <p:cNvSpPr txBox="1"/>
          <p:nvPr/>
        </p:nvSpPr>
        <p:spPr>
          <a:xfrm>
            <a:off x="868680" y="4155034"/>
            <a:ext cx="9811512" cy="69311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fa-IR" altLang="en-US" sz="1900" dirty="0">
                <a:solidFill>
                  <a:schemeClr val="tx1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کارفرما شناسه را وارد می‌کند: وضعیت را همه می‌بینند</a:t>
            </a:r>
            <a:endParaRPr lang="fa-IR" sz="2200" dirty="0"/>
          </a:p>
        </p:txBody>
      </p:sp>
      <p:sp>
        <p:nvSpPr>
          <p:cNvPr id="22" name="Step 5"/>
          <p:cNvSpPr/>
          <p:nvPr/>
        </p:nvSpPr>
        <p:spPr>
          <a:xfrm>
            <a:off x="594360" y="4976165"/>
            <a:ext cx="11000232" cy="693115"/>
          </a:xfrm>
          <a:prstGeom prst="roundRect">
            <a:avLst>
              <a:gd name="adj" fmla="val 10554"/>
            </a:avLst>
          </a:prstGeom>
          <a:solidFill>
            <a:schemeClr val="bg1"/>
          </a:solidFill>
          <a:ln w="9525">
            <a:solidFill>
              <a:srgbClr val="E3DFD3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10954512" y="5094122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10954512" y="509412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a-IR" altLang="en-US" sz="1500" b="1" dirty="0">
                <a:solidFill>
                  <a:schemeClr val="bg1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۵</a:t>
            </a:r>
            <a:endParaRPr lang="fa-IR" sz="1800" dirty="0"/>
          </a:p>
        </p:txBody>
      </p:sp>
      <p:sp>
        <p:nvSpPr>
          <p:cNvPr id="25" name="Text 22"/>
          <p:cNvSpPr txBox="1"/>
          <p:nvPr/>
        </p:nvSpPr>
        <p:spPr>
          <a:xfrm>
            <a:off x="868680" y="4976165"/>
            <a:ext cx="9811512" cy="69311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fa-IR" altLang="en-US" sz="1900" dirty="0">
                <a:solidFill>
                  <a:schemeClr val="tx1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اگر دسترسی دارد: کلید را باز می‌کند، فایل را از IPFS می‌گیرد و رمزگشایی می‌کند</a:t>
            </a:r>
            <a:endParaRPr lang="fa-IR" sz="2200" dirty="0"/>
          </a:p>
        </p:txBody>
      </p:sp>
      <p:sp>
        <p:nvSpPr>
          <p:cNvPr id="26" name="Text 23"/>
          <p:cNvSpPr txBox="1"/>
          <p:nvPr/>
        </p:nvSpPr>
        <p:spPr>
          <a:xfrm>
            <a:off x="594360" y="5669280"/>
            <a:ext cx="11000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fa-IR" altLang="en-US" sz="1600" b="1" dirty="0">
                <a:solidFill>
                  <a:schemeClr val="accent1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دانشجو هر زمان با revokeAccess دسترسی بعدی را قطع می‌کند.</a:t>
            </a:r>
            <a:endParaRPr lang="fa-IR" sz="1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-1371600" y="-1371600"/>
            <a:ext cx="4114800" cy="4114800"/>
          </a:xfrm>
          <a:prstGeom prst="ellipse">
            <a:avLst/>
          </a:prstGeom>
          <a:solidFill>
            <a:schemeClr val="accent1">
              <a:alpha val="30000"/>
            </a:schemeClr>
          </a:solidFill>
          <a:ln w="12700">
            <a:solidFill>
              <a:schemeClr val="accent1">
                <a:alpha val="30000"/>
              </a:schemeClr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2450592" y="2468880"/>
            <a:ext cx="9144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fa-IR" altLang="en-US" sz="4800" b="1" dirty="0">
                <a:solidFill>
                  <a:schemeClr val="bg1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رمزنگاری در پروژه</a:t>
            </a:r>
            <a:endParaRPr lang="fa-IR" sz="5100" dirty="0"/>
          </a:p>
        </p:txBody>
      </p:sp>
      <p:sp>
        <p:nvSpPr>
          <p:cNvPr id="5" name="Text 2"/>
          <p:cNvSpPr txBox="1"/>
          <p:nvPr/>
        </p:nvSpPr>
        <p:spPr>
          <a:xfrm>
            <a:off x="2450592" y="365760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fa-IR" altLang="en-US" sz="2200" dirty="0">
                <a:solidFill>
                  <a:schemeClr val="accent2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هش · AES-GCM · تبادل کلید · ECIES</a:t>
            </a:r>
            <a:endParaRPr lang="fa-IR" sz="25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"/>
          <p:cNvSpPr txBox="1"/>
          <p:nvPr/>
        </p:nvSpPr>
        <p:spPr>
          <a:xfrm>
            <a:off x="10680192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fa-IR" altLang="en-US" sz="1200" dirty="0">
                <a:solidFill>
                  <a:schemeClr val="accent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۲۱</a:t>
            </a:r>
            <a:endParaRPr lang="fa-IR" sz="1500" dirty="0"/>
          </a:p>
        </p:txBody>
      </p:sp>
      <p:sp>
        <p:nvSpPr>
          <p:cNvPr id="4" name="Text 1"/>
          <p:cNvSpPr txBox="1"/>
          <p:nvPr/>
        </p:nvSpPr>
        <p:spPr>
          <a:xfrm>
            <a:off x="4279392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fa-IR" altLang="en-US" sz="1200" b="1" dirty="0">
                <a:solidFill>
                  <a:schemeClr val="accent1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رمزنگاری</a:t>
            </a:r>
            <a:endParaRPr lang="fa-IR" sz="1500" dirty="0"/>
          </a:p>
        </p:txBody>
      </p:sp>
      <p:sp>
        <p:nvSpPr>
          <p:cNvPr id="5" name="Text 2"/>
          <p:cNvSpPr txBox="1"/>
          <p:nvPr/>
        </p:nvSpPr>
        <p:spPr>
          <a:xfrm>
            <a:off x="2084832" y="640080"/>
            <a:ext cx="9509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 rtl="1">
              <a:buNone/>
            </a:pPr>
            <a:r>
              <a:rPr lang="fa-IR" altLang="en-US" sz="3000" b="1" dirty="0">
                <a:solidFill>
                  <a:schemeClr val="tx2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چهار ابزار رمزنگاری پروژه</a:t>
            </a:r>
            <a:endParaRPr lang="fa-IR" sz="3300" dirty="0"/>
          </a:p>
        </p:txBody>
      </p:sp>
      <p:sp>
        <p:nvSpPr>
          <p:cNvPr id="6" name="Icon circle"/>
          <p:cNvSpPr/>
          <p:nvPr/>
        </p:nvSpPr>
        <p:spPr>
          <a:xfrm>
            <a:off x="594360" y="502920"/>
            <a:ext cx="777240" cy="7772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7" name="Icon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8" y="704088"/>
            <a:ext cx="374904" cy="374904"/>
          </a:xfrm>
          <a:prstGeom prst="rect">
            <a:avLst/>
          </a:prstGeom>
        </p:spPr>
      </p:pic>
      <p:sp>
        <p:nvSpPr>
          <p:cNvPr id="8" name="Card 1"/>
          <p:cNvSpPr/>
          <p:nvPr/>
        </p:nvSpPr>
        <p:spPr>
          <a:xfrm>
            <a:off x="6231636" y="1691640"/>
            <a:ext cx="5362956" cy="2057400"/>
          </a:xfrm>
          <a:prstGeom prst="roundRect">
            <a:avLst>
              <a:gd name="adj" fmla="val 4444"/>
            </a:avLst>
          </a:prstGeom>
          <a:solidFill>
            <a:schemeClr val="bg1"/>
          </a:solidFill>
          <a:ln w="9525">
            <a:solidFill>
              <a:srgbClr val="E3DFD3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10908792" y="1920240"/>
            <a:ext cx="438912" cy="43891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10908792" y="192024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a-IR" altLang="en-US" sz="1500" b="1" dirty="0">
                <a:solidFill>
                  <a:schemeClr val="bg1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۱</a:t>
            </a:r>
            <a:endParaRPr lang="fa-IR" sz="1800" dirty="0"/>
          </a:p>
        </p:txBody>
      </p:sp>
      <p:sp>
        <p:nvSpPr>
          <p:cNvPr id="11" name="Text 7"/>
          <p:cNvSpPr txBox="1"/>
          <p:nvPr/>
        </p:nvSpPr>
        <p:spPr>
          <a:xfrm>
            <a:off x="6505956" y="1920240"/>
            <a:ext cx="42656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fa-IR" altLang="en-US" sz="2200" b="1" dirty="0">
                <a:solidFill>
                  <a:schemeClr val="tx2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تابع هش</a:t>
            </a:r>
            <a:endParaRPr lang="fa-IR" sz="2500" dirty="0"/>
          </a:p>
        </p:txBody>
      </p:sp>
      <p:sp>
        <p:nvSpPr>
          <p:cNvPr id="12" name="Text 8"/>
          <p:cNvSpPr txBox="1"/>
          <p:nvPr/>
        </p:nvSpPr>
        <p:spPr>
          <a:xfrm>
            <a:off x="6505956" y="2514600"/>
            <a:ext cx="481431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 rtl="1">
              <a:buNone/>
            </a:pPr>
            <a:r>
              <a:rPr lang="fa-IR" altLang="en-US" sz="2000" dirty="0">
                <a:solidFill>
                  <a:schemeClr val="tx1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از هر داده یک اثر انگشت ثابت می‌سازد. برای شناسه‌ی مدرک و ساخت کلید استفاده شده.</a:t>
            </a:r>
            <a:endParaRPr lang="fa-IR" sz="2300" dirty="0"/>
          </a:p>
        </p:txBody>
      </p:sp>
      <p:sp>
        <p:nvSpPr>
          <p:cNvPr id="13" name="Card 2"/>
          <p:cNvSpPr/>
          <p:nvPr/>
        </p:nvSpPr>
        <p:spPr>
          <a:xfrm>
            <a:off x="594360" y="1691640"/>
            <a:ext cx="5362956" cy="2057400"/>
          </a:xfrm>
          <a:prstGeom prst="roundRect">
            <a:avLst>
              <a:gd name="adj" fmla="val 4444"/>
            </a:avLst>
          </a:prstGeom>
          <a:solidFill>
            <a:schemeClr val="bg1"/>
          </a:solidFill>
          <a:ln w="9525">
            <a:solidFill>
              <a:srgbClr val="E3DFD3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5271516" y="1920240"/>
            <a:ext cx="438912" cy="43891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5271516" y="192024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a-IR" altLang="en-US" sz="1500" b="1" dirty="0">
                <a:solidFill>
                  <a:schemeClr val="bg1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۲</a:t>
            </a:r>
            <a:endParaRPr lang="fa-IR" sz="1800" dirty="0"/>
          </a:p>
        </p:txBody>
      </p:sp>
      <p:sp>
        <p:nvSpPr>
          <p:cNvPr id="16" name="Text 12"/>
          <p:cNvSpPr txBox="1"/>
          <p:nvPr/>
        </p:nvSpPr>
        <p:spPr>
          <a:xfrm>
            <a:off x="868680" y="1920240"/>
            <a:ext cx="42656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fa-IR" altLang="en-US" sz="2200" b="1" dirty="0">
                <a:solidFill>
                  <a:schemeClr val="tx2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رمزنگاری AES-GCM</a:t>
            </a:r>
            <a:endParaRPr lang="fa-IR" sz="2500" dirty="0"/>
          </a:p>
        </p:txBody>
      </p:sp>
      <p:sp>
        <p:nvSpPr>
          <p:cNvPr id="17" name="Text 13"/>
          <p:cNvSpPr txBox="1"/>
          <p:nvPr/>
        </p:nvSpPr>
        <p:spPr>
          <a:xfrm>
            <a:off x="868680" y="2514600"/>
            <a:ext cx="481431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 rtl="1">
              <a:buNone/>
            </a:pPr>
            <a:r>
              <a:rPr lang="fa-IR" altLang="en-US" sz="2000" dirty="0">
                <a:solidFill>
                  <a:schemeClr val="tx1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فایل را قفل می‌کند و اگر کسی دستکاری کند، تشخیص می‌دهد.</a:t>
            </a:r>
            <a:endParaRPr lang="fa-IR" sz="2300" dirty="0"/>
          </a:p>
        </p:txBody>
      </p:sp>
      <p:sp>
        <p:nvSpPr>
          <p:cNvPr id="18" name="Card 3"/>
          <p:cNvSpPr/>
          <p:nvPr/>
        </p:nvSpPr>
        <p:spPr>
          <a:xfrm>
            <a:off x="6231636" y="4023360"/>
            <a:ext cx="5362956" cy="2057400"/>
          </a:xfrm>
          <a:prstGeom prst="roundRect">
            <a:avLst>
              <a:gd name="adj" fmla="val 4444"/>
            </a:avLst>
          </a:prstGeom>
          <a:solidFill>
            <a:schemeClr val="bg1"/>
          </a:solidFill>
          <a:ln w="9525">
            <a:solidFill>
              <a:srgbClr val="E3DFD3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10908792" y="4251960"/>
            <a:ext cx="438912" cy="43891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10908792" y="425196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a-IR" altLang="en-US" sz="1500" b="1" dirty="0">
                <a:solidFill>
                  <a:schemeClr val="bg1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۳</a:t>
            </a:r>
            <a:endParaRPr lang="fa-IR" sz="1800" dirty="0"/>
          </a:p>
        </p:txBody>
      </p:sp>
      <p:sp>
        <p:nvSpPr>
          <p:cNvPr id="21" name="Text 17"/>
          <p:cNvSpPr txBox="1"/>
          <p:nvPr/>
        </p:nvSpPr>
        <p:spPr>
          <a:xfrm>
            <a:off x="6505956" y="4251960"/>
            <a:ext cx="42656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fa-IR" altLang="en-US" sz="2200" b="1" dirty="0">
                <a:solidFill>
                  <a:schemeClr val="tx2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تبادل کلید ECDH</a:t>
            </a:r>
            <a:endParaRPr lang="fa-IR" sz="2500" dirty="0"/>
          </a:p>
        </p:txBody>
      </p:sp>
      <p:sp>
        <p:nvSpPr>
          <p:cNvPr id="22" name="Text 18"/>
          <p:cNvSpPr txBox="1"/>
          <p:nvPr/>
        </p:nvSpPr>
        <p:spPr>
          <a:xfrm>
            <a:off x="6505956" y="4846320"/>
            <a:ext cx="481431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 rtl="1">
              <a:buNone/>
            </a:pPr>
            <a:r>
              <a:rPr lang="fa-IR" altLang="en-US" sz="2000" dirty="0">
                <a:solidFill>
                  <a:schemeClr val="tx1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دو نفر که قبلاً راز مشترکی ندارند، به یک راز مشترک می‌رسند.</a:t>
            </a:r>
            <a:endParaRPr lang="fa-IR" sz="2300" dirty="0"/>
          </a:p>
        </p:txBody>
      </p:sp>
      <p:sp>
        <p:nvSpPr>
          <p:cNvPr id="23" name="Card 4"/>
          <p:cNvSpPr/>
          <p:nvPr/>
        </p:nvSpPr>
        <p:spPr>
          <a:xfrm>
            <a:off x="594360" y="4023360"/>
            <a:ext cx="5362956" cy="2057400"/>
          </a:xfrm>
          <a:prstGeom prst="roundRect">
            <a:avLst>
              <a:gd name="adj" fmla="val 4444"/>
            </a:avLst>
          </a:prstGeom>
          <a:solidFill>
            <a:schemeClr val="bg1"/>
          </a:solidFill>
          <a:ln w="9525">
            <a:solidFill>
              <a:srgbClr val="E3DFD3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5271516" y="4251960"/>
            <a:ext cx="438912" cy="43891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5" name="Text 21"/>
          <p:cNvSpPr txBox="1"/>
          <p:nvPr/>
        </p:nvSpPr>
        <p:spPr>
          <a:xfrm>
            <a:off x="5271516" y="425196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a-IR" altLang="en-US" sz="1500" b="1" dirty="0">
                <a:solidFill>
                  <a:schemeClr val="bg1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۴</a:t>
            </a:r>
            <a:endParaRPr lang="fa-IR" sz="1800" dirty="0"/>
          </a:p>
        </p:txBody>
      </p:sp>
      <p:sp>
        <p:nvSpPr>
          <p:cNvPr id="26" name="Text 22"/>
          <p:cNvSpPr txBox="1"/>
          <p:nvPr/>
        </p:nvSpPr>
        <p:spPr>
          <a:xfrm>
            <a:off x="868680" y="4251960"/>
            <a:ext cx="42656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fa-IR" altLang="en-US" sz="2200" b="1" dirty="0">
                <a:solidFill>
                  <a:schemeClr val="tx2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امضای کیف‌پول</a:t>
            </a:r>
            <a:endParaRPr lang="fa-IR" sz="2500" dirty="0"/>
          </a:p>
        </p:txBody>
      </p:sp>
      <p:sp>
        <p:nvSpPr>
          <p:cNvPr id="27" name="Text 23"/>
          <p:cNvSpPr txBox="1"/>
          <p:nvPr/>
        </p:nvSpPr>
        <p:spPr>
          <a:xfrm>
            <a:off x="868680" y="4846320"/>
            <a:ext cx="481431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 rtl="1">
              <a:buNone/>
            </a:pPr>
            <a:r>
              <a:rPr lang="fa-IR" altLang="en-US" sz="2000" dirty="0">
                <a:solidFill>
                  <a:schemeClr val="tx1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منبع کلید خصوصی ما: هر بار برای همان کاربر، همان مقدار را می‌دهد.</a:t>
            </a:r>
            <a:endParaRPr lang="fa-IR" sz="23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"/>
          <p:cNvSpPr txBox="1"/>
          <p:nvPr/>
        </p:nvSpPr>
        <p:spPr>
          <a:xfrm>
            <a:off x="10680192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fa-IR" altLang="en-US" sz="1200" dirty="0">
                <a:solidFill>
                  <a:schemeClr val="accent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۲۲</a:t>
            </a:r>
            <a:endParaRPr lang="fa-IR" sz="1500" dirty="0"/>
          </a:p>
        </p:txBody>
      </p:sp>
      <p:sp>
        <p:nvSpPr>
          <p:cNvPr id="4" name="Text 1"/>
          <p:cNvSpPr txBox="1"/>
          <p:nvPr/>
        </p:nvSpPr>
        <p:spPr>
          <a:xfrm>
            <a:off x="4279392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fa-IR" altLang="en-US" sz="1200" b="1" dirty="0">
                <a:solidFill>
                  <a:schemeClr val="accent1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رمزنگاری</a:t>
            </a:r>
            <a:endParaRPr lang="fa-IR" sz="1500" dirty="0"/>
          </a:p>
        </p:txBody>
      </p:sp>
      <p:sp>
        <p:nvSpPr>
          <p:cNvPr id="5" name="Text 2"/>
          <p:cNvSpPr txBox="1"/>
          <p:nvPr/>
        </p:nvSpPr>
        <p:spPr>
          <a:xfrm>
            <a:off x="2084832" y="640080"/>
            <a:ext cx="9509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 rtl="1">
              <a:buNone/>
            </a:pPr>
            <a:r>
              <a:rPr lang="fa-IR" altLang="en-US" sz="3000" b="1" dirty="0">
                <a:solidFill>
                  <a:schemeClr val="tx2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تابع هش: اثر انگشت داده</a:t>
            </a:r>
            <a:endParaRPr lang="fa-IR" sz="3300" dirty="0"/>
          </a:p>
        </p:txBody>
      </p:sp>
      <p:graphicFrame>
        <p:nvGraphicFramePr>
          <p:cNvPr id="23" name="Data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737360"/>
          <a:ext cx="11000232" cy="2194560"/>
        </p:xfrm>
        <a:graphic>
          <a:graphicData uri="http://schemas.openxmlformats.org/drawingml/2006/table">
            <a:tbl>
              <a:tblPr/>
              <a:tblGrid>
                <a:gridCol w="68201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800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marL="0" indent="0" algn="r" rtl="1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  <a:latin typeface="Vazirmatn" pitchFamily="34" charset="0"/>
                          <a:ea typeface="Vazirmatn" pitchFamily="34" charset="-122"/>
                          <a:cs typeface="Vazirmatn" pitchFamily="34" charset="-120"/>
                        </a:rPr>
                        <a:t>خروجی SHA-256؛ ۲۴ نویسه‌ی اول</a:t>
                      </a:r>
                      <a:endParaRPr lang="en-US" sz="1800" dirty="0">
                        <a:latin typeface="Vazirmatn" charset="0"/>
                        <a:ea typeface="Vazirmatn" charset="0"/>
                        <a:cs typeface="Vazirmatn" charset="0"/>
                      </a:endParaRPr>
                    </a:p>
                  </a:txBody>
                  <a:tcPr marL="137160" marR="137160" anchor="ctr">
                    <a:lnL w="9525" cap="flat" cmpd="sng" algn="ctr">
                      <a:solidFill>
                        <a:srgbClr val="E3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 rtl="1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  <a:latin typeface="Vazirmatn" pitchFamily="34" charset="0"/>
                          <a:ea typeface="Vazirmatn" pitchFamily="34" charset="-122"/>
                          <a:cs typeface="Vazirmatn" pitchFamily="34" charset="-120"/>
                        </a:rPr>
                        <a:t>ورودی</a:t>
                      </a:r>
                      <a:endParaRPr lang="en-US" sz="1800" dirty="0">
                        <a:latin typeface="Vazirmatn" charset="0"/>
                        <a:ea typeface="Vazirmatn" charset="0"/>
                        <a:cs typeface="Vazirmatn" charset="0"/>
                      </a:endParaRPr>
                    </a:p>
                  </a:txBody>
                  <a:tcPr marL="137160" marR="137160" anchor="ctr">
                    <a:lnL w="9525" cap="flat" cmpd="sng" algn="ctr">
                      <a:solidFill>
                        <a:srgbClr val="E3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Vazirmatn" pitchFamily="34" charset="0"/>
                          <a:ea typeface="Vazirmatn" pitchFamily="34" charset="-122"/>
                          <a:cs typeface="Vazirmatn" pitchFamily="34" charset="-120"/>
                        </a:rPr>
                        <a:t>5b359bc06300a20b3e959186</a:t>
                      </a:r>
                      <a:endParaRPr lang="en-US" sz="1800" dirty="0">
                        <a:latin typeface="Vazirmatn" charset="0"/>
                        <a:ea typeface="Vazirmatn" charset="0"/>
                        <a:cs typeface="Vazirmatn" charset="0"/>
                      </a:endParaRPr>
                    </a:p>
                  </a:txBody>
                  <a:tcPr marL="137160" marR="137160" anchor="ctr">
                    <a:lnL w="9525" cap="flat" cmpd="sng" algn="ctr">
                      <a:solidFill>
                        <a:srgbClr val="E3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  <a:latin typeface="Vazirmatn" pitchFamily="34" charset="0"/>
                          <a:ea typeface="Vazirmatn" pitchFamily="34" charset="-122"/>
                          <a:cs typeface="Vazirmatn" pitchFamily="34" charset="-120"/>
                        </a:rPr>
                        <a:t>Attestera</a:t>
                      </a:r>
                      <a:endParaRPr lang="en-US" sz="1800" dirty="0">
                        <a:latin typeface="Vazirmatn" charset="0"/>
                        <a:ea typeface="Vazirmatn" charset="0"/>
                        <a:cs typeface="Vazirmatn" charset="0"/>
                      </a:endParaRPr>
                    </a:p>
                  </a:txBody>
                  <a:tcPr marL="137160" marR="137160" anchor="ctr">
                    <a:lnL w="9525" cap="flat" cmpd="sng" algn="ctr">
                      <a:solidFill>
                        <a:srgbClr val="E3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Vazirmatn" pitchFamily="34" charset="0"/>
                          <a:ea typeface="Vazirmatn" pitchFamily="34" charset="-122"/>
                          <a:cs typeface="Vazirmatn" pitchFamily="34" charset="-120"/>
                        </a:rPr>
                        <a:t>f5c0eb28f84de60bc507054a</a:t>
                      </a:r>
                      <a:endParaRPr lang="en-US" sz="1800" dirty="0">
                        <a:latin typeface="Vazirmatn" charset="0"/>
                        <a:ea typeface="Vazirmatn" charset="0"/>
                        <a:cs typeface="Vazirmatn" charset="0"/>
                      </a:endParaRPr>
                    </a:p>
                  </a:txBody>
                  <a:tcPr marL="137160" marR="137160" anchor="ctr">
                    <a:lnL w="9525" cap="flat" cmpd="sng" algn="ctr">
                      <a:solidFill>
                        <a:srgbClr val="E3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  <a:latin typeface="Vazirmatn" pitchFamily="34" charset="0"/>
                          <a:ea typeface="Vazirmatn" pitchFamily="34" charset="-122"/>
                          <a:cs typeface="Vazirmatn" pitchFamily="34" charset="-120"/>
                        </a:rPr>
                        <a:t>attestera</a:t>
                      </a:r>
                      <a:endParaRPr lang="en-US" sz="1800" dirty="0">
                        <a:latin typeface="Vazirmatn" charset="0"/>
                        <a:ea typeface="Vazirmatn" charset="0"/>
                        <a:cs typeface="Vazirmatn" charset="0"/>
                      </a:endParaRPr>
                    </a:p>
                  </a:txBody>
                  <a:tcPr marL="137160" marR="137160" anchor="ctr">
                    <a:lnL w="9525" cap="flat" cmpd="sng" algn="ctr">
                      <a:solidFill>
                        <a:srgbClr val="E3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Vazirmatn" pitchFamily="34" charset="0"/>
                          <a:ea typeface="Vazirmatn" pitchFamily="34" charset="-122"/>
                          <a:cs typeface="Vazirmatn" pitchFamily="34" charset="-120"/>
                        </a:rPr>
                        <a:t>9dd898056224601f9efe4abc</a:t>
                      </a:r>
                      <a:endParaRPr lang="en-US" sz="1800" dirty="0">
                        <a:latin typeface="Vazirmatn" charset="0"/>
                        <a:ea typeface="Vazirmatn" charset="0"/>
                        <a:cs typeface="Vazirmatn" charset="0"/>
                      </a:endParaRPr>
                    </a:p>
                  </a:txBody>
                  <a:tcPr marL="137160" marR="137160" anchor="ctr">
                    <a:lnL w="9525" cap="flat" cmpd="sng" algn="ctr">
                      <a:solidFill>
                        <a:srgbClr val="E3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  <a:latin typeface="Vazirmatn" pitchFamily="34" charset="0"/>
                          <a:ea typeface="Vazirmatn" pitchFamily="34" charset="-122"/>
                          <a:cs typeface="Vazirmatn" pitchFamily="34" charset="-120"/>
                        </a:rPr>
                        <a:t>Attestera.</a:t>
                      </a:r>
                      <a:endParaRPr lang="en-US" sz="1800" dirty="0">
                        <a:latin typeface="Vazirmatn" charset="0"/>
                        <a:ea typeface="Vazirmatn" charset="0"/>
                        <a:cs typeface="Vazirmatn" charset="0"/>
                      </a:endParaRPr>
                    </a:p>
                  </a:txBody>
                  <a:tcPr marL="137160" marR="137160" anchor="ctr">
                    <a:lnL w="9525" cap="flat" cmpd="sng" algn="ctr">
                      <a:solidFill>
                        <a:srgbClr val="E3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Property 1"/>
          <p:cNvSpPr/>
          <p:nvPr/>
        </p:nvSpPr>
        <p:spPr>
          <a:xfrm>
            <a:off x="8080248" y="4572000"/>
            <a:ext cx="3514344" cy="1371600"/>
          </a:xfrm>
          <a:prstGeom prst="roundRect">
            <a:avLst>
              <a:gd name="adj" fmla="val 6667"/>
            </a:avLst>
          </a:prstGeom>
          <a:solidFill>
            <a:schemeClr val="bg1"/>
          </a:solidFill>
          <a:ln w="9525">
            <a:solidFill>
              <a:srgbClr val="E3DFD3"/>
            </a:solidFill>
            <a:prstDash val="solid"/>
          </a:ln>
        </p:spPr>
      </p:sp>
      <p:sp>
        <p:nvSpPr>
          <p:cNvPr id="8" name="Shape 4"/>
          <p:cNvSpPr/>
          <p:nvPr/>
        </p:nvSpPr>
        <p:spPr>
          <a:xfrm>
            <a:off x="10954512" y="4754880"/>
            <a:ext cx="438912" cy="43891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10954512" y="475488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a-IR" altLang="en-US" sz="1500" b="1" dirty="0">
                <a:solidFill>
                  <a:schemeClr val="bg1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۱</a:t>
            </a:r>
            <a:endParaRPr lang="fa-IR" sz="1800" dirty="0"/>
          </a:p>
        </p:txBody>
      </p:sp>
      <p:sp>
        <p:nvSpPr>
          <p:cNvPr id="10" name="Text 6"/>
          <p:cNvSpPr txBox="1"/>
          <p:nvPr/>
        </p:nvSpPr>
        <p:spPr>
          <a:xfrm>
            <a:off x="8308848" y="5303520"/>
            <a:ext cx="30571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buNone/>
            </a:pPr>
            <a:r>
              <a:rPr lang="fa-IR" altLang="en-US" sz="1700" dirty="0">
                <a:solidFill>
                  <a:schemeClr val="tx1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هر ورودی خروجی با طول ثابت می‌دهد</a:t>
            </a:r>
            <a:endParaRPr lang="fa-IR" sz="2000" dirty="0"/>
          </a:p>
        </p:txBody>
      </p:sp>
      <p:sp>
        <p:nvSpPr>
          <p:cNvPr id="11" name="Property 2"/>
          <p:cNvSpPr/>
          <p:nvPr/>
        </p:nvSpPr>
        <p:spPr>
          <a:xfrm>
            <a:off x="4337304" y="4572000"/>
            <a:ext cx="3514344" cy="1371600"/>
          </a:xfrm>
          <a:prstGeom prst="roundRect">
            <a:avLst>
              <a:gd name="adj" fmla="val 6667"/>
            </a:avLst>
          </a:prstGeom>
          <a:solidFill>
            <a:schemeClr val="bg1"/>
          </a:solidFill>
          <a:ln w="9525">
            <a:solidFill>
              <a:srgbClr val="E3DFD3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7211568" y="4754880"/>
            <a:ext cx="438912" cy="43891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7211568" y="475488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a-IR" altLang="en-US" sz="1500" b="1" dirty="0">
                <a:solidFill>
                  <a:schemeClr val="bg1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۲</a:t>
            </a:r>
            <a:endParaRPr lang="fa-IR" sz="1800" dirty="0"/>
          </a:p>
        </p:txBody>
      </p:sp>
      <p:sp>
        <p:nvSpPr>
          <p:cNvPr id="14" name="Text 10"/>
          <p:cNvSpPr txBox="1"/>
          <p:nvPr/>
        </p:nvSpPr>
        <p:spPr>
          <a:xfrm>
            <a:off x="4565904" y="5303520"/>
            <a:ext cx="30571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buNone/>
            </a:pPr>
            <a:r>
              <a:rPr lang="fa-IR" altLang="en-US" sz="1700" dirty="0">
                <a:solidFill>
                  <a:schemeClr val="tx1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یک نویسه تغییر = خروجی کاملاً متفاوت</a:t>
            </a:r>
            <a:endParaRPr lang="fa-IR" sz="2000" dirty="0"/>
          </a:p>
        </p:txBody>
      </p:sp>
      <p:sp>
        <p:nvSpPr>
          <p:cNvPr id="15" name="Property 3"/>
          <p:cNvSpPr/>
          <p:nvPr/>
        </p:nvSpPr>
        <p:spPr>
          <a:xfrm>
            <a:off x="594360" y="4572000"/>
            <a:ext cx="3514344" cy="1371600"/>
          </a:xfrm>
          <a:prstGeom prst="roundRect">
            <a:avLst>
              <a:gd name="adj" fmla="val 6667"/>
            </a:avLst>
          </a:prstGeom>
          <a:solidFill>
            <a:schemeClr val="bg1"/>
          </a:solidFill>
          <a:ln w="9525">
            <a:solidFill>
              <a:srgbClr val="E3DFD3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3468624" y="4754880"/>
            <a:ext cx="438912" cy="43891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3468624" y="475488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a-IR" altLang="en-US" sz="1500" b="1" dirty="0">
                <a:solidFill>
                  <a:schemeClr val="bg1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۳</a:t>
            </a:r>
            <a:endParaRPr lang="fa-IR" sz="1800" dirty="0"/>
          </a:p>
        </p:txBody>
      </p:sp>
      <p:sp>
        <p:nvSpPr>
          <p:cNvPr id="18" name="Text 14"/>
          <p:cNvSpPr txBox="1"/>
          <p:nvPr/>
        </p:nvSpPr>
        <p:spPr>
          <a:xfrm>
            <a:off x="822960" y="5303520"/>
            <a:ext cx="30571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buNone/>
            </a:pPr>
            <a:r>
              <a:rPr lang="fa-IR" altLang="en-US" sz="1700" dirty="0">
                <a:solidFill>
                  <a:schemeClr val="tx1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از خروجی نمی‌توان ورودی را بازسازی کرد</a:t>
            </a:r>
            <a:endParaRPr lang="fa-IR" sz="2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"/>
          <p:cNvSpPr txBox="1"/>
          <p:nvPr/>
        </p:nvSpPr>
        <p:spPr>
          <a:xfrm>
            <a:off x="10680192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fa-IR" altLang="en-US" sz="1200" dirty="0">
                <a:solidFill>
                  <a:schemeClr val="accent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۲۳</a:t>
            </a:r>
            <a:endParaRPr lang="fa-IR" sz="1500" dirty="0"/>
          </a:p>
        </p:txBody>
      </p:sp>
      <p:sp>
        <p:nvSpPr>
          <p:cNvPr id="4" name="Text 1"/>
          <p:cNvSpPr txBox="1"/>
          <p:nvPr/>
        </p:nvSpPr>
        <p:spPr>
          <a:xfrm>
            <a:off x="4279392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fa-IR" altLang="en-US" sz="1200" b="1" dirty="0">
                <a:solidFill>
                  <a:schemeClr val="accent1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رمزنگاری</a:t>
            </a:r>
            <a:endParaRPr lang="fa-IR" sz="1500" dirty="0"/>
          </a:p>
        </p:txBody>
      </p:sp>
      <p:sp>
        <p:nvSpPr>
          <p:cNvPr id="5" name="Text 2"/>
          <p:cNvSpPr txBox="1"/>
          <p:nvPr/>
        </p:nvSpPr>
        <p:spPr>
          <a:xfrm>
            <a:off x="2084832" y="640080"/>
            <a:ext cx="9509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 rtl="1">
              <a:buNone/>
            </a:pPr>
            <a:r>
              <a:rPr lang="fa-IR" altLang="en-US" sz="3000" b="1" dirty="0">
                <a:solidFill>
                  <a:schemeClr val="tx2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AES-GCM: قفل متقارن با تشخیص دستکاری</a:t>
            </a:r>
            <a:endParaRPr lang="fa-IR" sz="3300" dirty="0"/>
          </a:p>
        </p:txBody>
      </p:sp>
      <p:sp>
        <p:nvSpPr>
          <p:cNvPr id="6" name="Node 1"/>
          <p:cNvSpPr/>
          <p:nvPr/>
        </p:nvSpPr>
        <p:spPr>
          <a:xfrm>
            <a:off x="9256014" y="2011680"/>
            <a:ext cx="2338578" cy="2926080"/>
          </a:xfrm>
          <a:prstGeom prst="roundRect">
            <a:avLst>
              <a:gd name="adj" fmla="val 4692"/>
            </a:avLst>
          </a:prstGeom>
          <a:solidFill>
            <a:schemeClr val="bg1"/>
          </a:solidFill>
          <a:ln w="25400">
            <a:solidFill>
              <a:schemeClr val="accent1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9256014" y="2011680"/>
            <a:ext cx="2338578" cy="685800"/>
          </a:xfrm>
          <a:prstGeom prst="roundRect">
            <a:avLst>
              <a:gd name="adj" fmla="val 16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9256014" y="2011680"/>
            <a:ext cx="233857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a-IR" altLang="en-US" sz="1800" b="1" dirty="0">
                <a:solidFill>
                  <a:schemeClr val="bg1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فایل اصلی</a:t>
            </a:r>
            <a:endParaRPr lang="fa-IR" sz="2100" dirty="0"/>
          </a:p>
        </p:txBody>
      </p:sp>
      <p:sp>
        <p:nvSpPr>
          <p:cNvPr id="9" name="Text 6"/>
          <p:cNvSpPr txBox="1"/>
          <p:nvPr/>
        </p:nvSpPr>
        <p:spPr>
          <a:xfrm>
            <a:off x="9393174" y="2788920"/>
            <a:ext cx="2064258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rtl="1">
              <a:buNone/>
            </a:pPr>
            <a:r>
              <a:rPr lang="fa-IR" altLang="en-US" sz="1400" dirty="0">
                <a:solidFill>
                  <a:schemeClr val="tx1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مدرک به‌صورت بایت</a:t>
            </a:r>
            <a:endParaRPr lang="fa-IR" sz="1700" dirty="0"/>
          </a:p>
          <a:p>
            <a:pPr marL="0" indent="0" algn="ctr" rtl="1">
              <a:buNone/>
            </a:pPr>
            <a:r>
              <a:rPr lang="fa-IR" altLang="en-US" sz="1400" dirty="0">
                <a:solidFill>
                  <a:schemeClr val="tx1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متن باز</a:t>
            </a:r>
            <a:endParaRPr lang="fa-IR" sz="1700" dirty="0"/>
          </a:p>
        </p:txBody>
      </p:sp>
      <p:sp>
        <p:nvSpPr>
          <p:cNvPr id="10" name="Arrow"/>
          <p:cNvSpPr/>
          <p:nvPr/>
        </p:nvSpPr>
        <p:spPr>
          <a:xfrm>
            <a:off x="8817102" y="3291840"/>
            <a:ext cx="329184" cy="365760"/>
          </a:xfrm>
          <a:prstGeom prst="leftArrow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1" name="Node 2"/>
          <p:cNvSpPr/>
          <p:nvPr/>
        </p:nvSpPr>
        <p:spPr>
          <a:xfrm>
            <a:off x="6368796" y="2011680"/>
            <a:ext cx="2338578" cy="2926080"/>
          </a:xfrm>
          <a:prstGeom prst="roundRect">
            <a:avLst>
              <a:gd name="adj" fmla="val 4692"/>
            </a:avLst>
          </a:prstGeom>
          <a:solidFill>
            <a:schemeClr val="bg1"/>
          </a:solidFill>
          <a:ln w="25400">
            <a:solidFill>
              <a:schemeClr val="accent2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368796" y="2011680"/>
            <a:ext cx="2338578" cy="685800"/>
          </a:xfrm>
          <a:prstGeom prst="roundRect">
            <a:avLst>
              <a:gd name="adj" fmla="val 16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368796" y="2011680"/>
            <a:ext cx="233857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a-IR" altLang="en-US" sz="1800" b="1" dirty="0">
                <a:solidFill>
                  <a:schemeClr val="bg1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کلید AES</a:t>
            </a:r>
            <a:endParaRPr lang="fa-IR" sz="2100" dirty="0"/>
          </a:p>
        </p:txBody>
      </p:sp>
      <p:sp>
        <p:nvSpPr>
          <p:cNvPr id="14" name="Text 11"/>
          <p:cNvSpPr txBox="1"/>
          <p:nvPr/>
        </p:nvSpPr>
        <p:spPr>
          <a:xfrm>
            <a:off x="6505956" y="2788920"/>
            <a:ext cx="2064258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rtl="1">
              <a:buNone/>
            </a:pPr>
            <a:r>
              <a:rPr lang="fa-IR" altLang="en-US" sz="1400" dirty="0">
                <a:solidFill>
                  <a:schemeClr val="tx1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۳۲ بایت تصادفی</a:t>
            </a:r>
            <a:endParaRPr lang="fa-IR" sz="1700" dirty="0"/>
          </a:p>
          <a:p>
            <a:pPr marL="0" indent="0" algn="ctr" rtl="1">
              <a:buNone/>
            </a:pPr>
            <a:r>
              <a:rPr lang="fa-IR" altLang="en-US" sz="1400" dirty="0">
                <a:solidFill>
                  <a:schemeClr val="tx1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معادل ۲۵۶ بیت</a:t>
            </a:r>
            <a:endParaRPr lang="fa-IR" sz="1700" dirty="0"/>
          </a:p>
        </p:txBody>
      </p:sp>
      <p:sp>
        <p:nvSpPr>
          <p:cNvPr id="15" name="Arrow"/>
          <p:cNvSpPr/>
          <p:nvPr/>
        </p:nvSpPr>
        <p:spPr>
          <a:xfrm>
            <a:off x="5929884" y="3291840"/>
            <a:ext cx="329184" cy="365760"/>
          </a:xfrm>
          <a:prstGeom prst="leftArrow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6" name="Node 3"/>
          <p:cNvSpPr/>
          <p:nvPr/>
        </p:nvSpPr>
        <p:spPr>
          <a:xfrm>
            <a:off x="3481578" y="2011680"/>
            <a:ext cx="2338578" cy="2926080"/>
          </a:xfrm>
          <a:prstGeom prst="roundRect">
            <a:avLst>
              <a:gd name="adj" fmla="val 4692"/>
            </a:avLst>
          </a:prstGeom>
          <a:solidFill>
            <a:schemeClr val="bg1"/>
          </a:solidFill>
          <a:ln w="25400">
            <a:solidFill>
              <a:schemeClr val="accent3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3481578" y="2011680"/>
            <a:ext cx="2338578" cy="685800"/>
          </a:xfrm>
          <a:prstGeom prst="roundRect">
            <a:avLst>
              <a:gd name="adj" fmla="val 16000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3481578" y="2011680"/>
            <a:ext cx="233857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a-IR" altLang="en-US" sz="1800" b="1" dirty="0">
                <a:solidFill>
                  <a:schemeClr val="bg1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IV</a:t>
            </a:r>
            <a:endParaRPr lang="fa-IR" sz="2100" dirty="0"/>
          </a:p>
        </p:txBody>
      </p:sp>
      <p:sp>
        <p:nvSpPr>
          <p:cNvPr id="19" name="Text 16"/>
          <p:cNvSpPr txBox="1"/>
          <p:nvPr/>
        </p:nvSpPr>
        <p:spPr>
          <a:xfrm>
            <a:off x="3618738" y="2788920"/>
            <a:ext cx="2064258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rtl="1">
              <a:buNone/>
            </a:pPr>
            <a:r>
              <a:rPr lang="fa-IR" altLang="en-US" sz="1400" dirty="0">
                <a:solidFill>
                  <a:schemeClr val="tx1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۱۲ بایت تصادفی</a:t>
            </a:r>
            <a:endParaRPr lang="fa-IR" sz="1700" dirty="0"/>
          </a:p>
          <a:p>
            <a:pPr marL="0" indent="0" algn="ctr" rtl="1">
              <a:buNone/>
            </a:pPr>
            <a:r>
              <a:rPr lang="fa-IR" altLang="en-US" sz="1400" dirty="0">
                <a:solidFill>
                  <a:schemeClr val="tx1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برای هر بار رمزنگاری جدید</a:t>
            </a:r>
            <a:endParaRPr lang="fa-IR" sz="1700" dirty="0"/>
          </a:p>
        </p:txBody>
      </p:sp>
      <p:sp>
        <p:nvSpPr>
          <p:cNvPr id="20" name="Arrow"/>
          <p:cNvSpPr/>
          <p:nvPr/>
        </p:nvSpPr>
        <p:spPr>
          <a:xfrm>
            <a:off x="3042666" y="3291840"/>
            <a:ext cx="329184" cy="365760"/>
          </a:xfrm>
          <a:prstGeom prst="leftArrow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1" name="Node 4"/>
          <p:cNvSpPr/>
          <p:nvPr/>
        </p:nvSpPr>
        <p:spPr>
          <a:xfrm>
            <a:off x="594360" y="2011680"/>
            <a:ext cx="2338578" cy="2926080"/>
          </a:xfrm>
          <a:prstGeom prst="roundRect">
            <a:avLst>
              <a:gd name="adj" fmla="val 4692"/>
            </a:avLst>
          </a:prstGeom>
          <a:solidFill>
            <a:schemeClr val="bg1"/>
          </a:solidFill>
          <a:ln w="25400">
            <a:solidFill>
              <a:schemeClr val="accent4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594360" y="2011680"/>
            <a:ext cx="2338578" cy="685800"/>
          </a:xfrm>
          <a:prstGeom prst="roundRect">
            <a:avLst>
              <a:gd name="adj" fmla="val 16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594360" y="2011680"/>
            <a:ext cx="233857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a-IR" altLang="en-US" sz="1800" b="1" dirty="0">
                <a:solidFill>
                  <a:schemeClr val="bg1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خروجی</a:t>
            </a:r>
            <a:endParaRPr lang="fa-IR" sz="2100" dirty="0"/>
          </a:p>
        </p:txBody>
      </p:sp>
      <p:sp>
        <p:nvSpPr>
          <p:cNvPr id="24" name="Text 21"/>
          <p:cNvSpPr txBox="1"/>
          <p:nvPr/>
        </p:nvSpPr>
        <p:spPr>
          <a:xfrm>
            <a:off x="731520" y="2788920"/>
            <a:ext cx="2064258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rtl="1">
              <a:buNone/>
            </a:pPr>
            <a:r>
              <a:rPr lang="fa-IR" altLang="en-US" sz="1400" dirty="0">
                <a:solidFill>
                  <a:schemeClr val="tx1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داده‌ی رمزشده</a:t>
            </a:r>
            <a:endParaRPr lang="fa-IR" sz="1700" dirty="0"/>
          </a:p>
          <a:p>
            <a:pPr marL="0" indent="0" algn="ctr" rtl="1">
              <a:buNone/>
            </a:pPr>
            <a:r>
              <a:rPr lang="fa-IR" altLang="en-US" sz="1400" dirty="0">
                <a:solidFill>
                  <a:schemeClr val="tx1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و برچسب اصالت</a:t>
            </a:r>
            <a:endParaRPr lang="fa-IR" sz="1700" dirty="0"/>
          </a:p>
        </p:txBody>
      </p:sp>
      <p:sp>
        <p:nvSpPr>
          <p:cNvPr id="25" name="Text 22"/>
          <p:cNvSpPr txBox="1"/>
          <p:nvPr/>
        </p:nvSpPr>
        <p:spPr>
          <a:xfrm>
            <a:off x="594360" y="5669280"/>
            <a:ext cx="11000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fa-IR" altLang="en-US" sz="1600" b="1" dirty="0">
                <a:solidFill>
                  <a:schemeClr val="accent1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رمزگشایی با کلید غلط یا فایل دستکاری‌شده: خطا، نه داده‌ی خراب.</a:t>
            </a:r>
            <a:endParaRPr lang="fa-IR" sz="1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"/>
          <p:cNvSpPr txBox="1"/>
          <p:nvPr/>
        </p:nvSpPr>
        <p:spPr>
          <a:xfrm>
            <a:off x="10680192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fa-IR" altLang="en-US" sz="1200" dirty="0">
                <a:solidFill>
                  <a:schemeClr val="accent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۲۴</a:t>
            </a:r>
            <a:endParaRPr lang="fa-IR" sz="1500" dirty="0"/>
          </a:p>
        </p:txBody>
      </p:sp>
      <p:sp>
        <p:nvSpPr>
          <p:cNvPr id="4" name="Text 1"/>
          <p:cNvSpPr txBox="1"/>
          <p:nvPr/>
        </p:nvSpPr>
        <p:spPr>
          <a:xfrm>
            <a:off x="4279392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fa-IR" altLang="en-US" sz="1200" b="1" dirty="0">
                <a:solidFill>
                  <a:schemeClr val="accent1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رمزنگاری</a:t>
            </a:r>
            <a:endParaRPr lang="fa-IR" sz="1500" dirty="0"/>
          </a:p>
        </p:txBody>
      </p:sp>
      <p:sp>
        <p:nvSpPr>
          <p:cNvPr id="5" name="Text 2"/>
          <p:cNvSpPr txBox="1"/>
          <p:nvPr/>
        </p:nvSpPr>
        <p:spPr>
          <a:xfrm>
            <a:off x="2084832" y="640080"/>
            <a:ext cx="9509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 rtl="1">
              <a:buNone/>
            </a:pPr>
            <a:r>
              <a:rPr lang="fa-IR" altLang="en-US" sz="3000" b="1" dirty="0">
                <a:solidFill>
                  <a:schemeClr val="tx2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تبادل کلید ECDH: مثل مخلوط کردن رنگ</a:t>
            </a:r>
            <a:endParaRPr lang="fa-IR" sz="3300" dirty="0"/>
          </a:p>
        </p:txBody>
      </p:sp>
      <p:sp>
        <p:nvSpPr>
          <p:cNvPr id="6" name="Step 1"/>
          <p:cNvSpPr/>
          <p:nvPr/>
        </p:nvSpPr>
        <p:spPr>
          <a:xfrm>
            <a:off x="594360" y="1691640"/>
            <a:ext cx="11000232" cy="693115"/>
          </a:xfrm>
          <a:prstGeom prst="roundRect">
            <a:avLst>
              <a:gd name="adj" fmla="val 10554"/>
            </a:avLst>
          </a:prstGeom>
          <a:solidFill>
            <a:schemeClr val="bg1"/>
          </a:solidFill>
          <a:ln w="9525">
            <a:solidFill>
              <a:srgbClr val="E3DFD3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0954512" y="1809598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10954512" y="180959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a-IR" altLang="en-US" sz="1500" b="1" dirty="0">
                <a:solidFill>
                  <a:schemeClr val="bg1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۱</a:t>
            </a:r>
            <a:endParaRPr lang="fa-IR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868680" y="1691640"/>
            <a:ext cx="9811512" cy="69311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fa-IR" altLang="en-US" sz="1900" dirty="0">
                <a:solidFill>
                  <a:schemeClr val="tx1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هر دو نفر یک رنگ پایه‌ی عمومی را می‌دانند؛ این رنگ روی منحنی secp256k1 تعریف می‌شود و همه آن را می‌بینند</a:t>
            </a:r>
            <a:endParaRPr lang="fa-IR" sz="2200" dirty="0"/>
          </a:p>
        </p:txBody>
      </p:sp>
      <p:sp>
        <p:nvSpPr>
          <p:cNvPr id="10" name="Step 2"/>
          <p:cNvSpPr/>
          <p:nvPr/>
        </p:nvSpPr>
        <p:spPr>
          <a:xfrm>
            <a:off x="594360" y="2512771"/>
            <a:ext cx="11000232" cy="693115"/>
          </a:xfrm>
          <a:prstGeom prst="roundRect">
            <a:avLst>
              <a:gd name="adj" fmla="val 10554"/>
            </a:avLst>
          </a:prstGeom>
          <a:solidFill>
            <a:schemeClr val="bg1"/>
          </a:solidFill>
          <a:ln w="9525">
            <a:solidFill>
              <a:srgbClr val="E3DFD3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0954512" y="2630729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10954512" y="2630729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a-IR" altLang="en-US" sz="1500" b="1" dirty="0">
                <a:solidFill>
                  <a:schemeClr val="bg1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۲</a:t>
            </a:r>
            <a:endParaRPr lang="fa-IR" sz="1800" dirty="0"/>
          </a:p>
        </p:txBody>
      </p:sp>
      <p:sp>
        <p:nvSpPr>
          <p:cNvPr id="13" name="Text 10"/>
          <p:cNvSpPr txBox="1"/>
          <p:nvPr/>
        </p:nvSpPr>
        <p:spPr>
          <a:xfrm>
            <a:off x="868680" y="2512771"/>
            <a:ext cx="9811512" cy="69311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fa-IR" altLang="en-US" sz="1900" dirty="0">
                <a:solidFill>
                  <a:schemeClr val="tx1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هر کس یک رنگ محرمانه‌ی خودش دارد که همان کلید خصوصی است، و آن را با رنگ پایه مخلوط می‌کند که می‌شود کلید عمومی</a:t>
            </a:r>
            <a:endParaRPr lang="fa-IR" sz="2200" dirty="0"/>
          </a:p>
        </p:txBody>
      </p:sp>
      <p:sp>
        <p:nvSpPr>
          <p:cNvPr id="14" name="Step 3"/>
          <p:cNvSpPr/>
          <p:nvPr/>
        </p:nvSpPr>
        <p:spPr>
          <a:xfrm>
            <a:off x="594360" y="3333902"/>
            <a:ext cx="11000232" cy="693115"/>
          </a:xfrm>
          <a:prstGeom prst="roundRect">
            <a:avLst>
              <a:gd name="adj" fmla="val 10554"/>
            </a:avLst>
          </a:prstGeom>
          <a:solidFill>
            <a:schemeClr val="bg1"/>
          </a:solidFill>
          <a:ln w="9525">
            <a:solidFill>
              <a:srgbClr val="E3DFD3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10954512" y="345186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10954512" y="34518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a-IR" altLang="en-US" sz="1500" b="1" dirty="0">
                <a:solidFill>
                  <a:schemeClr val="bg1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۳</a:t>
            </a:r>
            <a:endParaRPr lang="fa-IR" sz="1800" dirty="0"/>
          </a:p>
        </p:txBody>
      </p:sp>
      <p:sp>
        <p:nvSpPr>
          <p:cNvPr id="17" name="Text 14"/>
          <p:cNvSpPr txBox="1"/>
          <p:nvPr/>
        </p:nvSpPr>
        <p:spPr>
          <a:xfrm>
            <a:off x="868680" y="3333902"/>
            <a:ext cx="9811512" cy="69311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fa-IR" altLang="en-US" sz="1900" dirty="0">
                <a:solidFill>
                  <a:schemeClr val="tx1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کلیدهای عمومی، یعنی رنگ‌های مخلوط، را علنی رد و بدل می‌کنند؛ جدا کردن رنگ‌ها از هم عملاً ناممکن است</a:t>
            </a:r>
            <a:endParaRPr lang="fa-IR" sz="2200" dirty="0"/>
          </a:p>
        </p:txBody>
      </p:sp>
      <p:sp>
        <p:nvSpPr>
          <p:cNvPr id="18" name="Step 4"/>
          <p:cNvSpPr/>
          <p:nvPr/>
        </p:nvSpPr>
        <p:spPr>
          <a:xfrm>
            <a:off x="594360" y="4155034"/>
            <a:ext cx="11000232" cy="693115"/>
          </a:xfrm>
          <a:prstGeom prst="roundRect">
            <a:avLst>
              <a:gd name="adj" fmla="val 10554"/>
            </a:avLst>
          </a:prstGeom>
          <a:solidFill>
            <a:schemeClr val="bg1"/>
          </a:solidFill>
          <a:ln w="9525">
            <a:solidFill>
              <a:srgbClr val="E3DFD3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10954512" y="4272991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10954512" y="4272991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a-IR" altLang="en-US" sz="1500" b="1" dirty="0">
                <a:solidFill>
                  <a:schemeClr val="bg1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۴</a:t>
            </a:r>
            <a:endParaRPr lang="fa-IR" sz="1800" dirty="0"/>
          </a:p>
        </p:txBody>
      </p:sp>
      <p:sp>
        <p:nvSpPr>
          <p:cNvPr id="21" name="Text 18"/>
          <p:cNvSpPr txBox="1"/>
          <p:nvPr/>
        </p:nvSpPr>
        <p:spPr>
          <a:xfrm>
            <a:off x="868680" y="4155034"/>
            <a:ext cx="9811512" cy="69311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fa-IR" altLang="en-US" sz="1900" dirty="0">
                <a:solidFill>
                  <a:schemeClr val="tx1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هر کس رنگ محرمانه‌ی خودش را به مخلوطی که از طرف مقابل گرفته اضافه می‌کند</a:t>
            </a:r>
            <a:endParaRPr lang="fa-IR" sz="2200" dirty="0"/>
          </a:p>
        </p:txBody>
      </p:sp>
      <p:sp>
        <p:nvSpPr>
          <p:cNvPr id="22" name="Step 5"/>
          <p:cNvSpPr/>
          <p:nvPr/>
        </p:nvSpPr>
        <p:spPr>
          <a:xfrm>
            <a:off x="594360" y="4976165"/>
            <a:ext cx="11000232" cy="693115"/>
          </a:xfrm>
          <a:prstGeom prst="roundRect">
            <a:avLst>
              <a:gd name="adj" fmla="val 10554"/>
            </a:avLst>
          </a:prstGeom>
          <a:solidFill>
            <a:schemeClr val="bg1"/>
          </a:solidFill>
          <a:ln w="9525">
            <a:solidFill>
              <a:srgbClr val="E3DFD3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10954512" y="5094122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10954512" y="509412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a-IR" altLang="en-US" sz="1500" b="1" dirty="0">
                <a:solidFill>
                  <a:schemeClr val="bg1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۵</a:t>
            </a:r>
            <a:endParaRPr lang="fa-IR" sz="1800" dirty="0"/>
          </a:p>
        </p:txBody>
      </p:sp>
      <p:sp>
        <p:nvSpPr>
          <p:cNvPr id="25" name="Text 22"/>
          <p:cNvSpPr txBox="1"/>
          <p:nvPr/>
        </p:nvSpPr>
        <p:spPr>
          <a:xfrm>
            <a:off x="868680" y="4976165"/>
            <a:ext cx="9811512" cy="69311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fa-IR" altLang="en-US" sz="1900" dirty="0">
                <a:solidFill>
                  <a:schemeClr val="tx1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هر دو به یک رنگ نهایی یکسان می‌رسند: راز مشترک؛ ولی ناظر بیرونی آن را ندارد</a:t>
            </a:r>
            <a:endParaRPr lang="fa-IR" sz="2200" dirty="0"/>
          </a:p>
        </p:txBody>
      </p:sp>
      <p:sp>
        <p:nvSpPr>
          <p:cNvPr id="26" name="Text 23"/>
          <p:cNvSpPr txBox="1"/>
          <p:nvPr/>
        </p:nvSpPr>
        <p:spPr>
          <a:xfrm>
            <a:off x="594360" y="5669280"/>
            <a:ext cx="11000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fa-IR" altLang="en-US" sz="1600" b="1" dirty="0">
                <a:solidFill>
                  <a:schemeClr val="accent1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ما این راز مشترک را به یک کلید AES تبدیل می‌کنیم، با تابعی به نام HKDF.</a:t>
            </a:r>
            <a:endParaRPr lang="fa-IR" sz="1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"/>
          <p:cNvSpPr txBox="1"/>
          <p:nvPr/>
        </p:nvSpPr>
        <p:spPr>
          <a:xfrm>
            <a:off x="10680192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fa-IR" altLang="en-US" sz="1200" dirty="0">
                <a:solidFill>
                  <a:schemeClr val="accent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۲۵</a:t>
            </a:r>
            <a:endParaRPr lang="fa-IR" sz="1500" dirty="0"/>
          </a:p>
        </p:txBody>
      </p:sp>
      <p:sp>
        <p:nvSpPr>
          <p:cNvPr id="4" name="Text 1"/>
          <p:cNvSpPr txBox="1"/>
          <p:nvPr/>
        </p:nvSpPr>
        <p:spPr>
          <a:xfrm>
            <a:off x="4279392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fa-IR" altLang="en-US" sz="1200" b="1" dirty="0">
                <a:solidFill>
                  <a:schemeClr val="accent1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رمزنگاری</a:t>
            </a:r>
            <a:endParaRPr lang="fa-IR" sz="1500" dirty="0"/>
          </a:p>
        </p:txBody>
      </p:sp>
      <p:sp>
        <p:nvSpPr>
          <p:cNvPr id="5" name="Text 2"/>
          <p:cNvSpPr txBox="1"/>
          <p:nvPr/>
        </p:nvSpPr>
        <p:spPr>
          <a:xfrm>
            <a:off x="2084832" y="640080"/>
            <a:ext cx="9509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 rtl="1">
              <a:buNone/>
            </a:pPr>
            <a:r>
              <a:rPr lang="fa-IR" altLang="en-US" sz="3000" b="1" dirty="0">
                <a:solidFill>
                  <a:schemeClr val="tx2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کل زنجیره: چطور این‌ها کنار هم کار می‌کنند</a:t>
            </a:r>
            <a:endParaRPr lang="fa-IR" sz="3300" dirty="0"/>
          </a:p>
        </p:txBody>
      </p:sp>
      <p:sp>
        <p:nvSpPr>
          <p:cNvPr id="6" name="Step 1"/>
          <p:cNvSpPr/>
          <p:nvPr/>
        </p:nvSpPr>
        <p:spPr>
          <a:xfrm>
            <a:off x="594360" y="1691640"/>
            <a:ext cx="11000232" cy="693115"/>
          </a:xfrm>
          <a:prstGeom prst="roundRect">
            <a:avLst>
              <a:gd name="adj" fmla="val 10554"/>
            </a:avLst>
          </a:prstGeom>
          <a:solidFill>
            <a:schemeClr val="bg1"/>
          </a:solidFill>
          <a:ln w="9525">
            <a:solidFill>
              <a:srgbClr val="E3DFD3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0954512" y="1809598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10954512" y="180959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a-IR" altLang="en-US" sz="1500" b="1" dirty="0">
                <a:solidFill>
                  <a:schemeClr val="bg1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۱</a:t>
            </a:r>
            <a:endParaRPr lang="fa-IR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868680" y="1691640"/>
            <a:ext cx="9811512" cy="69311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fa-IR" altLang="en-US" sz="1900" dirty="0">
                <a:solidFill>
                  <a:schemeClr val="tx1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دانشجو یک پیام ثابت را با کیف‌پول امضا می‌کند؛ هش امضا با SHA-256 کلید خصوصی او می‌شود و کلید عمومی‌اش روی بلاکچین ثبت می‌شود</a:t>
            </a:r>
            <a:endParaRPr lang="fa-IR" sz="2200" dirty="0"/>
          </a:p>
        </p:txBody>
      </p:sp>
      <p:sp>
        <p:nvSpPr>
          <p:cNvPr id="10" name="Step 2"/>
          <p:cNvSpPr/>
          <p:nvPr/>
        </p:nvSpPr>
        <p:spPr>
          <a:xfrm>
            <a:off x="594360" y="2512771"/>
            <a:ext cx="11000232" cy="693115"/>
          </a:xfrm>
          <a:prstGeom prst="roundRect">
            <a:avLst>
              <a:gd name="adj" fmla="val 10554"/>
            </a:avLst>
          </a:prstGeom>
          <a:solidFill>
            <a:schemeClr val="bg1"/>
          </a:solidFill>
          <a:ln w="9525">
            <a:solidFill>
              <a:srgbClr val="E3DFD3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0954512" y="2630729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10954512" y="2630729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a-IR" altLang="en-US" sz="1500" b="1" dirty="0">
                <a:solidFill>
                  <a:schemeClr val="bg1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۲</a:t>
            </a:r>
            <a:endParaRPr lang="fa-IR" sz="1800" dirty="0"/>
          </a:p>
        </p:txBody>
      </p:sp>
      <p:sp>
        <p:nvSpPr>
          <p:cNvPr id="13" name="Text 10"/>
          <p:cNvSpPr txBox="1"/>
          <p:nvPr/>
        </p:nvSpPr>
        <p:spPr>
          <a:xfrm>
            <a:off x="868680" y="2512771"/>
            <a:ext cx="9811512" cy="69311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fa-IR" altLang="en-US" sz="1900" dirty="0">
                <a:solidFill>
                  <a:schemeClr val="tx1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دانشگاه یک کلید تصادفی AES می‌سازد و فایل را با AES-GCM رمز می‌کند؛ فایل رمزشده به IPFS می‌رود</a:t>
            </a:r>
            <a:endParaRPr lang="fa-IR" sz="2200" dirty="0"/>
          </a:p>
        </p:txBody>
      </p:sp>
      <p:sp>
        <p:nvSpPr>
          <p:cNvPr id="14" name="Step 3"/>
          <p:cNvSpPr/>
          <p:nvPr/>
        </p:nvSpPr>
        <p:spPr>
          <a:xfrm>
            <a:off x="594360" y="3333902"/>
            <a:ext cx="11000232" cy="693115"/>
          </a:xfrm>
          <a:prstGeom prst="roundRect">
            <a:avLst>
              <a:gd name="adj" fmla="val 10554"/>
            </a:avLst>
          </a:prstGeom>
          <a:solidFill>
            <a:schemeClr val="bg1"/>
          </a:solidFill>
          <a:ln w="9525">
            <a:solidFill>
              <a:srgbClr val="E3DFD3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10954512" y="345186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10954512" y="34518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a-IR" altLang="en-US" sz="1500" b="1" dirty="0">
                <a:solidFill>
                  <a:schemeClr val="bg1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۳</a:t>
            </a:r>
            <a:endParaRPr lang="fa-IR" sz="1800" dirty="0"/>
          </a:p>
        </p:txBody>
      </p:sp>
      <p:sp>
        <p:nvSpPr>
          <p:cNvPr id="17" name="Text 14"/>
          <p:cNvSpPr txBox="1"/>
          <p:nvPr/>
        </p:nvSpPr>
        <p:spPr>
          <a:xfrm>
            <a:off x="868680" y="3333902"/>
            <a:ext cx="9811512" cy="69311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fa-IR" altLang="en-US" sz="1900" dirty="0">
                <a:solidFill>
                  <a:schemeClr val="tx1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دانشگاه یک جفت کلید موقت می‌سازد و با کلید عمومی دانشجو، با روش ECDH راز مشترک می‌گیرد</a:t>
            </a:r>
            <a:endParaRPr lang="fa-IR" sz="2200" dirty="0"/>
          </a:p>
        </p:txBody>
      </p:sp>
      <p:sp>
        <p:nvSpPr>
          <p:cNvPr id="18" name="Step 4"/>
          <p:cNvSpPr/>
          <p:nvPr/>
        </p:nvSpPr>
        <p:spPr>
          <a:xfrm>
            <a:off x="594360" y="4155034"/>
            <a:ext cx="11000232" cy="693115"/>
          </a:xfrm>
          <a:prstGeom prst="roundRect">
            <a:avLst>
              <a:gd name="adj" fmla="val 10554"/>
            </a:avLst>
          </a:prstGeom>
          <a:solidFill>
            <a:schemeClr val="bg1"/>
          </a:solidFill>
          <a:ln w="9525">
            <a:solidFill>
              <a:srgbClr val="E3DFD3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10954512" y="4272991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10954512" y="4272991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a-IR" altLang="en-US" sz="1500" b="1" dirty="0">
                <a:solidFill>
                  <a:schemeClr val="bg1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۴</a:t>
            </a:r>
            <a:endParaRPr lang="fa-IR" sz="1800" dirty="0"/>
          </a:p>
        </p:txBody>
      </p:sp>
      <p:sp>
        <p:nvSpPr>
          <p:cNvPr id="21" name="Text 18"/>
          <p:cNvSpPr txBox="1"/>
          <p:nvPr/>
        </p:nvSpPr>
        <p:spPr>
          <a:xfrm>
            <a:off x="868680" y="4155034"/>
            <a:ext cx="9811512" cy="69311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fa-IR" altLang="en-US" sz="1900" dirty="0">
                <a:solidFill>
                  <a:schemeClr val="tx1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با HKDF از راز مشترک یک کلید AES می‌سازد و کلید فایل را با آن قفل می‌کند؛ این روش ECIES نام دارد و نتیجه روی بلاکچین ذخیره می‌کند</a:t>
            </a:r>
            <a:endParaRPr lang="fa-IR" sz="2200" dirty="0"/>
          </a:p>
        </p:txBody>
      </p:sp>
      <p:sp>
        <p:nvSpPr>
          <p:cNvPr id="22" name="Step 5"/>
          <p:cNvSpPr/>
          <p:nvPr/>
        </p:nvSpPr>
        <p:spPr>
          <a:xfrm>
            <a:off x="594360" y="4976165"/>
            <a:ext cx="11000232" cy="693115"/>
          </a:xfrm>
          <a:prstGeom prst="roundRect">
            <a:avLst>
              <a:gd name="adj" fmla="val 10554"/>
            </a:avLst>
          </a:prstGeom>
          <a:solidFill>
            <a:schemeClr val="bg1"/>
          </a:solidFill>
          <a:ln w="9525">
            <a:solidFill>
              <a:srgbClr val="E3DFD3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10954512" y="5094122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10954512" y="509412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a-IR" altLang="en-US" sz="1500" b="1" dirty="0">
                <a:solidFill>
                  <a:schemeClr val="bg1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۵</a:t>
            </a:r>
            <a:endParaRPr lang="fa-IR" sz="1800" dirty="0"/>
          </a:p>
        </p:txBody>
      </p:sp>
      <p:sp>
        <p:nvSpPr>
          <p:cNvPr id="25" name="Text 22"/>
          <p:cNvSpPr txBox="1"/>
          <p:nvPr/>
        </p:nvSpPr>
        <p:spPr>
          <a:xfrm>
            <a:off x="868680" y="4976165"/>
            <a:ext cx="9811512" cy="69311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fa-IR" altLang="en-US" sz="1900" dirty="0">
                <a:solidFill>
                  <a:schemeClr val="tx1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دانشجو با کلید خصوصی خودش همان راز را حساب می‌کند، کلید فایل را باز می‌کند و فایل را رمزگشایی می‌کند</a:t>
            </a:r>
            <a:endParaRPr lang="fa-IR" sz="2200" dirty="0"/>
          </a:p>
        </p:txBody>
      </p:sp>
      <p:sp>
        <p:nvSpPr>
          <p:cNvPr id="26" name="Text 23"/>
          <p:cNvSpPr txBox="1"/>
          <p:nvPr/>
        </p:nvSpPr>
        <p:spPr>
          <a:xfrm>
            <a:off x="594360" y="5669280"/>
            <a:ext cx="11000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fa-IR" altLang="en-US" sz="1600" b="1" dirty="0">
                <a:solidFill>
                  <a:schemeClr val="accent1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فایل: قفل AES. کلید فایل: قفل ECIES برای هر گیرنده. کلید خصوصی: هرگز ذخیره نمی‌شود.</a:t>
            </a:r>
            <a:endParaRPr lang="fa-IR" sz="1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-1371600" y="-1371600"/>
            <a:ext cx="4114800" cy="4114800"/>
          </a:xfrm>
          <a:prstGeom prst="ellipse">
            <a:avLst/>
          </a:prstGeom>
          <a:solidFill>
            <a:schemeClr val="accent1">
              <a:alpha val="30000"/>
            </a:schemeClr>
          </a:solidFill>
          <a:ln w="12700">
            <a:solidFill>
              <a:schemeClr val="accent1">
                <a:alpha val="30000"/>
              </a:schemeClr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2450592" y="2468880"/>
            <a:ext cx="9144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fa-IR" altLang="en-US" sz="4800" b="1" dirty="0">
                <a:solidFill>
                  <a:schemeClr val="bg1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توضیح کد</a:t>
            </a:r>
            <a:endParaRPr lang="fa-IR" sz="5100" dirty="0"/>
          </a:p>
        </p:txBody>
      </p:sp>
      <p:sp>
        <p:nvSpPr>
          <p:cNvPr id="5" name="Text 2"/>
          <p:cNvSpPr txBox="1"/>
          <p:nvPr/>
        </p:nvSpPr>
        <p:spPr>
          <a:xfrm>
            <a:off x="2450592" y="365760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fa-IR" altLang="en-US" sz="2200" dirty="0">
                <a:solidFill>
                  <a:schemeClr val="accent2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قراردادهای Solidity · ماژول رمزنگاری · فرانت‌اند</a:t>
            </a:r>
            <a:endParaRPr lang="fa-IR" sz="25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"/>
          <p:cNvSpPr txBox="1"/>
          <p:nvPr/>
        </p:nvSpPr>
        <p:spPr>
          <a:xfrm>
            <a:off x="10680192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fa-IR" altLang="en-US" sz="1200" dirty="0">
                <a:solidFill>
                  <a:schemeClr val="accent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۲۷</a:t>
            </a:r>
            <a:endParaRPr lang="fa-IR" sz="1500" dirty="0"/>
          </a:p>
        </p:txBody>
      </p:sp>
      <p:sp>
        <p:nvSpPr>
          <p:cNvPr id="4" name="Text 1"/>
          <p:cNvSpPr txBox="1"/>
          <p:nvPr/>
        </p:nvSpPr>
        <p:spPr>
          <a:xfrm>
            <a:off x="4279392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fa-IR" altLang="en-US" sz="1200" b="1" dirty="0">
                <a:solidFill>
                  <a:schemeClr val="accent1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کد</a:t>
            </a:r>
            <a:endParaRPr lang="fa-IR" sz="1500" dirty="0"/>
          </a:p>
        </p:txBody>
      </p:sp>
      <p:sp>
        <p:nvSpPr>
          <p:cNvPr id="5" name="Text 2"/>
          <p:cNvSpPr txBox="1"/>
          <p:nvPr/>
        </p:nvSpPr>
        <p:spPr>
          <a:xfrm>
            <a:off x="2084832" y="640080"/>
            <a:ext cx="9509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 rtl="1">
              <a:buNone/>
            </a:pPr>
            <a:r>
              <a:rPr lang="fa-IR" altLang="en-US" sz="3000" b="1" dirty="0">
                <a:solidFill>
                  <a:schemeClr val="tx2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قرارداد: صدور مدرک با تابع issueCredential</a:t>
            </a:r>
            <a:endParaRPr lang="fa-IR" sz="3300" dirty="0"/>
          </a:p>
        </p:txBody>
      </p:sp>
      <p:sp>
        <p:nvSpPr>
          <p:cNvPr id="6" name="Code panel"/>
          <p:cNvSpPr/>
          <p:nvPr/>
        </p:nvSpPr>
        <p:spPr>
          <a:xfrm>
            <a:off x="594360" y="1645920"/>
            <a:ext cx="7315200" cy="4434840"/>
          </a:xfrm>
          <a:prstGeom prst="roundRect">
            <a:avLst>
              <a:gd name="adj" fmla="val 1649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77240" y="1737360"/>
            <a:ext cx="6949440" cy="4251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issueCredential(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address owner, string calldata ipfsCid,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bytes calldata ownerWrappedKey,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DocumentType documentType, uint16 majorId,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bool isTimeLimited, uint256 expiryDate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external onlyApprovedIssuer returns (bytes32 id) {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(!ACCESS_CONTROL.isValidMajor(majorId))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revert InvalidMajor();</a:t>
            </a:r>
            <a:endParaRPr lang="en-US" sz="1300" dirty="0"/>
          </a:p>
          <a:p>
            <a:pPr marL="0" indent="0" algn="l">
              <a:buNone/>
            </a:pP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id = keccak256(abi.encodePacked(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owner, msg.sender, ipfsCid, block.timestamp, nonce));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nonce++;</a:t>
            </a:r>
            <a:endParaRPr lang="en-US" sz="1300" dirty="0"/>
          </a:p>
          <a:p>
            <a:pPr marL="0" indent="0" algn="l">
              <a:buNone/>
            </a:pP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credentials[id] = Credential({ ..., status: Status.Active });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credentialsByOwner[owner].push(id);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accessGrants[id][owner] = ownerWrappedKey;</a:t>
            </a:r>
            <a:endParaRPr lang="en-US" sz="1300" dirty="0"/>
          </a:p>
          <a:p>
            <a:pPr marL="0" indent="0" algn="l">
              <a:buNone/>
            </a:pP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emit CredentialIssued(id, owner, msg.sender, block.timestamp);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emit AccessGranted(id, owner, block.timestamp);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  <p:sp>
        <p:nvSpPr>
          <p:cNvPr id="8" name="Point 1"/>
          <p:cNvSpPr/>
          <p:nvPr/>
        </p:nvSpPr>
        <p:spPr>
          <a:xfrm>
            <a:off x="8183880" y="1508760"/>
            <a:ext cx="3410712" cy="80010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9525">
            <a:solidFill>
              <a:srgbClr val="E3DFD3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1274552" y="1904238"/>
            <a:ext cx="146304" cy="14630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8293608" y="1645920"/>
            <a:ext cx="2862072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fa-IR" altLang="en-US" sz="1400" dirty="0">
                <a:solidFill>
                  <a:schemeClr val="tx1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شرط onlyApprovedIssuer: فقط دانشگاه تأییدشده؛ وگرنه تراکنش برمی‌گردد</a:t>
            </a:r>
            <a:endParaRPr lang="fa-IR" sz="1700" dirty="0"/>
          </a:p>
        </p:txBody>
      </p:sp>
      <p:sp>
        <p:nvSpPr>
          <p:cNvPr id="11" name="Point 2"/>
          <p:cNvSpPr/>
          <p:nvPr/>
        </p:nvSpPr>
        <p:spPr>
          <a:xfrm>
            <a:off x="8183880" y="2400300"/>
            <a:ext cx="3410712" cy="662940"/>
          </a:xfrm>
          <a:prstGeom prst="roundRect">
            <a:avLst>
              <a:gd name="adj" fmla="val 8276"/>
            </a:avLst>
          </a:prstGeom>
          <a:solidFill>
            <a:schemeClr val="bg1"/>
          </a:solidFill>
          <a:ln w="9525">
            <a:solidFill>
              <a:srgbClr val="E3DFD3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1274552" y="2658618"/>
            <a:ext cx="146304" cy="14630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8293608" y="2400300"/>
            <a:ext cx="2862072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fa-IR" altLang="en-US" sz="1400" dirty="0">
                <a:solidFill>
                  <a:schemeClr val="tx1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بررسی اعتبار رشته از قرارداد اول، از طریق اینترفیس</a:t>
            </a:r>
            <a:endParaRPr lang="fa-IR" sz="1700" dirty="0"/>
          </a:p>
        </p:txBody>
      </p:sp>
      <p:sp>
        <p:nvSpPr>
          <p:cNvPr id="14" name="Point 3"/>
          <p:cNvSpPr/>
          <p:nvPr/>
        </p:nvSpPr>
        <p:spPr>
          <a:xfrm>
            <a:off x="8183880" y="3154680"/>
            <a:ext cx="3410712" cy="662940"/>
          </a:xfrm>
          <a:prstGeom prst="roundRect">
            <a:avLst>
              <a:gd name="adj" fmla="val 8276"/>
            </a:avLst>
          </a:prstGeom>
          <a:solidFill>
            <a:schemeClr val="bg1"/>
          </a:solidFill>
          <a:ln w="9525">
            <a:solidFill>
              <a:srgbClr val="E3DFD3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11274552" y="3412998"/>
            <a:ext cx="146304" cy="14630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293608" y="3154680"/>
            <a:ext cx="2862072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fa-IR" altLang="en-US" sz="1400" dirty="0">
                <a:solidFill>
                  <a:schemeClr val="tx1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شناسه از هش چند مقدار به‌علاوه‌ی nonce ساخته می‌شود تا یکتا باشد</a:t>
            </a:r>
            <a:endParaRPr lang="fa-IR" sz="1700" dirty="0"/>
          </a:p>
        </p:txBody>
      </p:sp>
      <p:sp>
        <p:nvSpPr>
          <p:cNvPr id="17" name="Point 4"/>
          <p:cNvSpPr/>
          <p:nvPr/>
        </p:nvSpPr>
        <p:spPr>
          <a:xfrm>
            <a:off x="8183880" y="3909060"/>
            <a:ext cx="3410712" cy="662940"/>
          </a:xfrm>
          <a:prstGeom prst="roundRect">
            <a:avLst>
              <a:gd name="adj" fmla="val 8276"/>
            </a:avLst>
          </a:prstGeom>
          <a:solidFill>
            <a:schemeClr val="bg1"/>
          </a:solidFill>
          <a:ln w="9525">
            <a:solidFill>
              <a:srgbClr val="E3DFD3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11274552" y="4167378"/>
            <a:ext cx="146304" cy="14630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8293608" y="3909060"/>
            <a:ext cx="2862072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fa-IR" altLang="en-US" sz="1400" dirty="0">
                <a:solidFill>
                  <a:schemeClr val="tx1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مدرک ذخیره می‌شود و به لیست مدارک صاحبش اضافه می‌شود</a:t>
            </a:r>
            <a:endParaRPr lang="fa-IR" sz="1700" dirty="0"/>
          </a:p>
        </p:txBody>
      </p:sp>
      <p:sp>
        <p:nvSpPr>
          <p:cNvPr id="20" name="Point 5"/>
          <p:cNvSpPr/>
          <p:nvPr/>
        </p:nvSpPr>
        <p:spPr>
          <a:xfrm>
            <a:off x="8183880" y="4663440"/>
            <a:ext cx="3410712" cy="662940"/>
          </a:xfrm>
          <a:prstGeom prst="roundRect">
            <a:avLst>
              <a:gd name="adj" fmla="val 8276"/>
            </a:avLst>
          </a:prstGeom>
          <a:solidFill>
            <a:schemeClr val="bg1"/>
          </a:solidFill>
          <a:ln w="9525">
            <a:solidFill>
              <a:srgbClr val="E3DFD3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11274552" y="4921758"/>
            <a:ext cx="146304" cy="14630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8293608" y="4663440"/>
            <a:ext cx="2862072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fa-IR" altLang="en-US" sz="1400" dirty="0">
                <a:solidFill>
                  <a:schemeClr val="tx1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کلید قفل‌شده‌ی صاحب مدرک همان لحظه ذخیره می‌شود</a:t>
            </a:r>
            <a:endParaRPr lang="fa-IR" sz="1700" dirty="0"/>
          </a:p>
        </p:txBody>
      </p:sp>
      <p:sp>
        <p:nvSpPr>
          <p:cNvPr id="23" name="Point 6"/>
          <p:cNvSpPr/>
          <p:nvPr/>
        </p:nvSpPr>
        <p:spPr>
          <a:xfrm>
            <a:off x="8183880" y="5417820"/>
            <a:ext cx="3410712" cy="662940"/>
          </a:xfrm>
          <a:prstGeom prst="roundRect">
            <a:avLst>
              <a:gd name="adj" fmla="val 8276"/>
            </a:avLst>
          </a:prstGeom>
          <a:solidFill>
            <a:schemeClr val="bg1"/>
          </a:solidFill>
          <a:ln w="9525">
            <a:solidFill>
              <a:srgbClr val="E3DFD3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11274552" y="5676138"/>
            <a:ext cx="146304" cy="14630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8293608" y="5417820"/>
            <a:ext cx="2862072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fa-IR" altLang="en-US" sz="1400" dirty="0">
                <a:solidFill>
                  <a:schemeClr val="tx1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دو رویداد ثبت می‌شود تا فرانت‌اند بتواند ردیابی کند</a:t>
            </a:r>
            <a:endParaRPr lang="fa-IR" sz="17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"/>
          <p:cNvSpPr txBox="1"/>
          <p:nvPr/>
        </p:nvSpPr>
        <p:spPr>
          <a:xfrm>
            <a:off x="10680192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fa-IR" altLang="en-US" sz="1200" dirty="0">
                <a:solidFill>
                  <a:schemeClr val="accent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۲۸</a:t>
            </a:r>
            <a:endParaRPr lang="fa-IR" sz="1500" dirty="0"/>
          </a:p>
        </p:txBody>
      </p:sp>
      <p:sp>
        <p:nvSpPr>
          <p:cNvPr id="4" name="Text 1"/>
          <p:cNvSpPr txBox="1"/>
          <p:nvPr/>
        </p:nvSpPr>
        <p:spPr>
          <a:xfrm>
            <a:off x="4279392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fa-IR" altLang="en-US" sz="1200" b="1" dirty="0">
                <a:solidFill>
                  <a:schemeClr val="accent1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کد</a:t>
            </a:r>
            <a:endParaRPr lang="fa-IR" sz="1500" dirty="0"/>
          </a:p>
        </p:txBody>
      </p:sp>
      <p:sp>
        <p:nvSpPr>
          <p:cNvPr id="5" name="Text 2"/>
          <p:cNvSpPr txBox="1"/>
          <p:nvPr/>
        </p:nvSpPr>
        <p:spPr>
          <a:xfrm>
            <a:off x="2084832" y="640080"/>
            <a:ext cx="9509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 rtl="1">
              <a:buNone/>
            </a:pPr>
            <a:r>
              <a:rPr lang="fa-IR" altLang="en-US" sz="3000" b="1" dirty="0">
                <a:solidFill>
                  <a:schemeClr val="tx2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قرارداد: وضعیت و ابطال</a:t>
            </a:r>
            <a:endParaRPr lang="fa-IR" sz="3300" dirty="0"/>
          </a:p>
        </p:txBody>
      </p:sp>
      <p:sp>
        <p:nvSpPr>
          <p:cNvPr id="6" name="Code panel"/>
          <p:cNvSpPr/>
          <p:nvPr/>
        </p:nvSpPr>
        <p:spPr>
          <a:xfrm>
            <a:off x="594360" y="1645920"/>
            <a:ext cx="7315200" cy="4434840"/>
          </a:xfrm>
          <a:prstGeom prst="roundRect">
            <a:avLst>
              <a:gd name="adj" fmla="val 1649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77240" y="1737360"/>
            <a:ext cx="6949440" cy="4251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getStatus(bytes32 id) public view returns (Status) {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Credential storage cred = credentials[id];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(cred.issuer == address(0)) revert CredentialNotFound();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(cred.status == Status.Revoked) return Status.Revoked;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(cred.isTimeLimited &amp;&amp; block.timestamp &gt;= cred.expiryDate)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Status.Expired;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Status.Active;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  <a:p>
            <a:pPr marL="0" indent="0" algn="l">
              <a:buNone/>
            </a:pP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revokeCredential(bytes32 id) external {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Credential storage cred = credentials[id];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(cred.issuer == address(0)) revert CredentialNotFound();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(msg.sender != cred.issuer) revert NotIssuerOfCredential();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(cred.status == Status.Revoked) revert AlreadyRevoked();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cred.status = Status.Revoked;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emit CredentialRevoked(id, block.timestamp);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  <p:sp>
        <p:nvSpPr>
          <p:cNvPr id="8" name="Point 1"/>
          <p:cNvSpPr/>
          <p:nvPr/>
        </p:nvSpPr>
        <p:spPr>
          <a:xfrm>
            <a:off x="8183880" y="1645920"/>
            <a:ext cx="3410712" cy="813816"/>
          </a:xfrm>
          <a:prstGeom prst="roundRect">
            <a:avLst>
              <a:gd name="adj" fmla="val 6742"/>
            </a:avLst>
          </a:prstGeom>
          <a:solidFill>
            <a:schemeClr val="bg1"/>
          </a:solidFill>
          <a:ln w="9525">
            <a:solidFill>
              <a:srgbClr val="E3DFD3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1274552" y="1979676"/>
            <a:ext cx="146304" cy="14630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8293608" y="1645920"/>
            <a:ext cx="2862072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fa-IR" altLang="en-US" sz="1400" dirty="0">
                <a:solidFill>
                  <a:schemeClr val="tx1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آدرس صفر یعنی چنین مدرکی وجود ندارد</a:t>
            </a:r>
            <a:endParaRPr lang="fa-IR" sz="1700" dirty="0"/>
          </a:p>
        </p:txBody>
      </p:sp>
      <p:sp>
        <p:nvSpPr>
          <p:cNvPr id="11" name="Point 2"/>
          <p:cNvSpPr/>
          <p:nvPr/>
        </p:nvSpPr>
        <p:spPr>
          <a:xfrm>
            <a:off x="8183880" y="2551176"/>
            <a:ext cx="3410712" cy="813816"/>
          </a:xfrm>
          <a:prstGeom prst="roundRect">
            <a:avLst>
              <a:gd name="adj" fmla="val 6742"/>
            </a:avLst>
          </a:prstGeom>
          <a:solidFill>
            <a:schemeClr val="bg1"/>
          </a:solidFill>
          <a:ln w="9525">
            <a:solidFill>
              <a:srgbClr val="E3DFD3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1274552" y="2884932"/>
            <a:ext cx="146304" cy="14630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8293608" y="2551176"/>
            <a:ext cx="2862072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fa-IR" altLang="en-US" sz="1400" dirty="0">
                <a:solidFill>
                  <a:schemeClr val="tx1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ترتیب بررسی: اول Revoked، بعد انقضا، در غیر این صورت Active</a:t>
            </a:r>
            <a:endParaRPr lang="fa-IR" sz="1700" dirty="0"/>
          </a:p>
        </p:txBody>
      </p:sp>
      <p:sp>
        <p:nvSpPr>
          <p:cNvPr id="14" name="Point 3"/>
          <p:cNvSpPr/>
          <p:nvPr/>
        </p:nvSpPr>
        <p:spPr>
          <a:xfrm>
            <a:off x="8183880" y="3456432"/>
            <a:ext cx="3410712" cy="813816"/>
          </a:xfrm>
          <a:prstGeom prst="roundRect">
            <a:avLst>
              <a:gd name="adj" fmla="val 6742"/>
            </a:avLst>
          </a:prstGeom>
          <a:solidFill>
            <a:schemeClr val="bg1"/>
          </a:solidFill>
          <a:ln w="9525">
            <a:solidFill>
              <a:srgbClr val="E3DFD3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11274552" y="3790188"/>
            <a:ext cx="146304" cy="14630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293608" y="3456432"/>
            <a:ext cx="2862072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fa-IR" altLang="en-US" sz="1400" dirty="0">
                <a:solidFill>
                  <a:schemeClr val="tx1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Expired هرگز ذخیره نمی‌شود؛ هر بار از ساعت بلاکچین محاسبه می‌شود</a:t>
            </a:r>
            <a:endParaRPr lang="fa-IR" sz="1700" dirty="0"/>
          </a:p>
        </p:txBody>
      </p:sp>
      <p:sp>
        <p:nvSpPr>
          <p:cNvPr id="17" name="Point 4"/>
          <p:cNvSpPr/>
          <p:nvPr/>
        </p:nvSpPr>
        <p:spPr>
          <a:xfrm>
            <a:off x="8183880" y="4361688"/>
            <a:ext cx="3410712" cy="813816"/>
          </a:xfrm>
          <a:prstGeom prst="roundRect">
            <a:avLst>
              <a:gd name="adj" fmla="val 6742"/>
            </a:avLst>
          </a:prstGeom>
          <a:solidFill>
            <a:schemeClr val="bg1"/>
          </a:solidFill>
          <a:ln w="9525">
            <a:solidFill>
              <a:srgbClr val="E3DFD3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11274552" y="4695444"/>
            <a:ext cx="146304" cy="14630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8293608" y="4361688"/>
            <a:ext cx="2862072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fa-IR" altLang="en-US" sz="1400" dirty="0">
                <a:solidFill>
                  <a:schemeClr val="tx1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ابطال فقط توسط همان صادرکننده‌ی مدرک نه هر دانشگاه تأییدشده</a:t>
            </a:r>
            <a:endParaRPr lang="fa-IR" sz="1700" dirty="0"/>
          </a:p>
        </p:txBody>
      </p:sp>
      <p:sp>
        <p:nvSpPr>
          <p:cNvPr id="20" name="Point 5"/>
          <p:cNvSpPr/>
          <p:nvPr/>
        </p:nvSpPr>
        <p:spPr>
          <a:xfrm>
            <a:off x="8183880" y="5266944"/>
            <a:ext cx="3410712" cy="813816"/>
          </a:xfrm>
          <a:prstGeom prst="roundRect">
            <a:avLst>
              <a:gd name="adj" fmla="val 6742"/>
            </a:avLst>
          </a:prstGeom>
          <a:solidFill>
            <a:schemeClr val="bg1"/>
          </a:solidFill>
          <a:ln w="9525">
            <a:solidFill>
              <a:srgbClr val="E3DFD3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11274552" y="5600700"/>
            <a:ext cx="146304" cy="14630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8293608" y="5266944"/>
            <a:ext cx="2862072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fa-IR" altLang="en-US" sz="1400" dirty="0">
                <a:solidFill>
                  <a:schemeClr val="tx1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ابطال مجدد خطا می‌دهد؛ برگشتی در کار نیست</a:t>
            </a:r>
            <a:endParaRPr lang="fa-IR" sz="17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"/>
          <p:cNvSpPr txBox="1"/>
          <p:nvPr/>
        </p:nvSpPr>
        <p:spPr>
          <a:xfrm>
            <a:off x="10680192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fa-IR" altLang="en-US" sz="1200" dirty="0">
                <a:solidFill>
                  <a:schemeClr val="accent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۲۹</a:t>
            </a:r>
            <a:endParaRPr lang="fa-IR" sz="1500" dirty="0"/>
          </a:p>
        </p:txBody>
      </p:sp>
      <p:sp>
        <p:nvSpPr>
          <p:cNvPr id="4" name="Text 1"/>
          <p:cNvSpPr txBox="1"/>
          <p:nvPr/>
        </p:nvSpPr>
        <p:spPr>
          <a:xfrm>
            <a:off x="4279392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fa-IR" altLang="en-US" sz="1200" b="1" dirty="0">
                <a:solidFill>
                  <a:schemeClr val="accent1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کد</a:t>
            </a:r>
            <a:endParaRPr lang="fa-IR" sz="1500" dirty="0"/>
          </a:p>
        </p:txBody>
      </p:sp>
      <p:sp>
        <p:nvSpPr>
          <p:cNvPr id="5" name="Text 2"/>
          <p:cNvSpPr txBox="1"/>
          <p:nvPr/>
        </p:nvSpPr>
        <p:spPr>
          <a:xfrm>
            <a:off x="2084832" y="640080"/>
            <a:ext cx="9509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 rtl="1">
              <a:buNone/>
            </a:pPr>
            <a:r>
              <a:rPr lang="fa-IR" altLang="en-US" sz="3000" b="1" dirty="0">
                <a:solidFill>
                  <a:schemeClr val="tx2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قرارداد: مدیریت دسترسی و کلید عمومی</a:t>
            </a:r>
            <a:endParaRPr lang="fa-IR" sz="3300" dirty="0"/>
          </a:p>
        </p:txBody>
      </p:sp>
      <p:sp>
        <p:nvSpPr>
          <p:cNvPr id="6" name="Code panel"/>
          <p:cNvSpPr/>
          <p:nvPr/>
        </p:nvSpPr>
        <p:spPr>
          <a:xfrm>
            <a:off x="594360" y="1645920"/>
            <a:ext cx="7315200" cy="4434840"/>
          </a:xfrm>
          <a:prstGeom prst="roundRect">
            <a:avLst>
              <a:gd name="adj" fmla="val 1649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77240" y="1737360"/>
            <a:ext cx="6949440" cy="4251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CredentialRegistry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grantAccess(bytes32 id, address grantee,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bytes calldata wrappedKey) external {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Credential storage cred = credentials[id];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(cred.owner == address(0)) revert CredentialNotFound();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(msg.sender != cred.owner) revert NotOwnerOfCredential();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accessGrants[id][grantee] = wrappedKey;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emit AccessGranted(id, grantee, block.timestamp);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revokeAccess(bytes32 id, address grantee) external {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... // same checks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delete accessGrants[id][grantee];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emit AccessRevoked(id, grantee, block.timestamp);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  <a:p>
            <a:pPr marL="0" indent="0" algn="l">
              <a:buNone/>
            </a:pP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AccessControlRegistry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registerPublicKey(bytes calldata publicKey) external {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(publicKey.length != 64) revert InvalidPublicKeyLength();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encryptionPublicKeys[msg.sender] = publicKey;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emit PublicKeyRegistered(msg.sender, publicKey);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</p:txBody>
      </p:sp>
      <p:sp>
        <p:nvSpPr>
          <p:cNvPr id="8" name="Point 1"/>
          <p:cNvSpPr/>
          <p:nvPr/>
        </p:nvSpPr>
        <p:spPr>
          <a:xfrm>
            <a:off x="8183880" y="1645920"/>
            <a:ext cx="3410712" cy="813816"/>
          </a:xfrm>
          <a:prstGeom prst="roundRect">
            <a:avLst>
              <a:gd name="adj" fmla="val 6742"/>
            </a:avLst>
          </a:prstGeom>
          <a:solidFill>
            <a:schemeClr val="bg1"/>
          </a:solidFill>
          <a:ln w="9525">
            <a:solidFill>
              <a:srgbClr val="E3DFD3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1274552" y="1979676"/>
            <a:ext cx="146304" cy="14630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8293608" y="1645920"/>
            <a:ext cx="2862072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fa-IR" altLang="en-US" sz="1400" dirty="0">
                <a:solidFill>
                  <a:schemeClr val="tx1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فقط صاحب مدرک می‌تواند دسترسی بدهد یا بگیرد</a:t>
            </a:r>
            <a:endParaRPr lang="fa-IR" sz="1700" dirty="0"/>
          </a:p>
        </p:txBody>
      </p:sp>
      <p:sp>
        <p:nvSpPr>
          <p:cNvPr id="11" name="Point 2"/>
          <p:cNvSpPr/>
          <p:nvPr/>
        </p:nvSpPr>
        <p:spPr>
          <a:xfrm>
            <a:off x="8183880" y="2551176"/>
            <a:ext cx="3410712" cy="813816"/>
          </a:xfrm>
          <a:prstGeom prst="roundRect">
            <a:avLst>
              <a:gd name="adj" fmla="val 6742"/>
            </a:avLst>
          </a:prstGeom>
          <a:solidFill>
            <a:schemeClr val="bg1"/>
          </a:solidFill>
          <a:ln w="9525">
            <a:solidFill>
              <a:srgbClr val="E3DFD3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1274552" y="2884932"/>
            <a:ext cx="146304" cy="14630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8293608" y="2551176"/>
            <a:ext cx="2862072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fa-IR" altLang="en-US" sz="1400" dirty="0">
                <a:solidFill>
                  <a:schemeClr val="tx1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دسترسی یک جدول تودرتوست: مدرک، گیرنده، کلید قفل‌شده</a:t>
            </a:r>
            <a:endParaRPr lang="fa-IR" sz="1700" dirty="0"/>
          </a:p>
        </p:txBody>
      </p:sp>
      <p:sp>
        <p:nvSpPr>
          <p:cNvPr id="14" name="Point 3"/>
          <p:cNvSpPr/>
          <p:nvPr/>
        </p:nvSpPr>
        <p:spPr>
          <a:xfrm>
            <a:off x="8183880" y="3456432"/>
            <a:ext cx="3410712" cy="813816"/>
          </a:xfrm>
          <a:prstGeom prst="roundRect">
            <a:avLst>
              <a:gd name="adj" fmla="val 6742"/>
            </a:avLst>
          </a:prstGeom>
          <a:solidFill>
            <a:schemeClr val="bg1"/>
          </a:solidFill>
          <a:ln w="9525">
            <a:solidFill>
              <a:srgbClr val="E3DFD3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11274552" y="3790188"/>
            <a:ext cx="146304" cy="14630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293608" y="3456432"/>
            <a:ext cx="2862072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fa-IR" altLang="en-US" sz="1400" dirty="0">
                <a:solidFill>
                  <a:schemeClr val="tx1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حذف از جدول، دسترسی بعدی را قطع می‌کند؛ سابقه در رویدادها می‌ماند</a:t>
            </a:r>
            <a:endParaRPr lang="fa-IR" sz="1700" dirty="0"/>
          </a:p>
        </p:txBody>
      </p:sp>
      <p:sp>
        <p:nvSpPr>
          <p:cNvPr id="17" name="Point 4"/>
          <p:cNvSpPr/>
          <p:nvPr/>
        </p:nvSpPr>
        <p:spPr>
          <a:xfrm>
            <a:off x="8183880" y="4361688"/>
            <a:ext cx="3410712" cy="813816"/>
          </a:xfrm>
          <a:prstGeom prst="roundRect">
            <a:avLst>
              <a:gd name="adj" fmla="val 6742"/>
            </a:avLst>
          </a:prstGeom>
          <a:solidFill>
            <a:schemeClr val="bg1"/>
          </a:solidFill>
          <a:ln w="9525">
            <a:solidFill>
              <a:srgbClr val="E3DFD3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11274552" y="4695444"/>
            <a:ext cx="146304" cy="14630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8293608" y="4361688"/>
            <a:ext cx="2862072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fa-IR" altLang="en-US" sz="1400" dirty="0">
                <a:solidFill>
                  <a:schemeClr val="tx1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ثبت کلید عمومی: فقط طول ۶۴ بایت بررسی می‌شود</a:t>
            </a:r>
            <a:endParaRPr lang="fa-IR" sz="1700" dirty="0"/>
          </a:p>
        </p:txBody>
      </p:sp>
      <p:sp>
        <p:nvSpPr>
          <p:cNvPr id="20" name="Point 5"/>
          <p:cNvSpPr/>
          <p:nvPr/>
        </p:nvSpPr>
        <p:spPr>
          <a:xfrm>
            <a:off x="8183880" y="5266944"/>
            <a:ext cx="3410712" cy="813816"/>
          </a:xfrm>
          <a:prstGeom prst="roundRect">
            <a:avLst>
              <a:gd name="adj" fmla="val 6742"/>
            </a:avLst>
          </a:prstGeom>
          <a:solidFill>
            <a:schemeClr val="bg1"/>
          </a:solidFill>
          <a:ln w="9525">
            <a:solidFill>
              <a:srgbClr val="E3DFD3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11274552" y="5600700"/>
            <a:ext cx="146304" cy="14630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8293608" y="5266944"/>
            <a:ext cx="2862072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fa-IR" altLang="en-US" sz="1400" dirty="0">
                <a:solidFill>
                  <a:schemeClr val="tx1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هر کس فقط برای آدرس خودش، یعنی msg.sender، کلید ثبت می‌کند</a:t>
            </a:r>
            <a:endParaRPr lang="fa-IR" sz="17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"/>
          <p:cNvSpPr txBox="1"/>
          <p:nvPr/>
        </p:nvSpPr>
        <p:spPr>
          <a:xfrm>
            <a:off x="10680192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fa-IR" altLang="en-US" sz="1200" dirty="0">
                <a:solidFill>
                  <a:schemeClr val="accent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۳۰</a:t>
            </a:r>
            <a:endParaRPr lang="fa-IR" sz="1500" dirty="0"/>
          </a:p>
        </p:txBody>
      </p:sp>
      <p:sp>
        <p:nvSpPr>
          <p:cNvPr id="4" name="Text 1"/>
          <p:cNvSpPr txBox="1"/>
          <p:nvPr/>
        </p:nvSpPr>
        <p:spPr>
          <a:xfrm>
            <a:off x="4279392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fa-IR" altLang="en-US" sz="1200" b="1" dirty="0">
                <a:solidFill>
                  <a:schemeClr val="accent1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کد</a:t>
            </a:r>
            <a:endParaRPr lang="fa-IR" sz="1500" dirty="0"/>
          </a:p>
        </p:txBody>
      </p:sp>
      <p:sp>
        <p:nvSpPr>
          <p:cNvPr id="5" name="Text 2"/>
          <p:cNvSpPr txBox="1"/>
          <p:nvPr/>
        </p:nvSpPr>
        <p:spPr>
          <a:xfrm>
            <a:off x="2084832" y="640080"/>
            <a:ext cx="9509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 rtl="1">
              <a:buNone/>
            </a:pPr>
            <a:r>
              <a:rPr lang="fa-IR" altLang="en-US" sz="3000" b="1" dirty="0">
                <a:solidFill>
                  <a:schemeClr val="tx2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رمزنگاری: ساخت کلید از امضای کیف‌پول</a:t>
            </a:r>
            <a:endParaRPr lang="fa-IR" sz="3300" dirty="0"/>
          </a:p>
        </p:txBody>
      </p:sp>
      <p:sp>
        <p:nvSpPr>
          <p:cNvPr id="6" name="Code panel"/>
          <p:cNvSpPr/>
          <p:nvPr/>
        </p:nvSpPr>
        <p:spPr>
          <a:xfrm>
            <a:off x="594360" y="1645920"/>
            <a:ext cx="7315200" cy="4434840"/>
          </a:xfrm>
          <a:prstGeom prst="roundRect">
            <a:avLst>
              <a:gd name="adj" fmla="val 1649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77240" y="1737360"/>
            <a:ext cx="6949440" cy="4251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 const ONBOARDING_MESSAGE =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"Enable encrypted documents on Credential Registry";</a:t>
            </a:r>
            <a:endParaRPr lang="en-US" sz="1300" dirty="0"/>
          </a:p>
          <a:p>
            <a:pPr marL="0" indent="0" algn="l">
              <a:buNone/>
            </a:pP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 async function deriveEncryptionKeypair(signatureHex) {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signatureBytes = hexToBytes(signatureHex);</a:t>
            </a:r>
            <a:endParaRPr lang="en-US" sz="1300" dirty="0"/>
          </a:p>
          <a:p>
            <a:pPr marL="0" indent="0" algn="l">
              <a:buNone/>
            </a:pP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let candidate = await sha256(signatureBytes);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while (!secp.utils.isValidPrivateKey(candidate)) {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candidate = await sha256(candidate);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300" dirty="0"/>
          </a:p>
          <a:p>
            <a:pPr marL="0" indent="0" algn="l">
              <a:buNone/>
            </a:pP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privateKey = candidate;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publicKeyWithPrefix = secp.getPublicKey(privateKey, false);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publicKey64 = publicKeyWithPrefix.slice(1); // drop 0x04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{ privateKey, publicKey64 };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  <p:sp>
        <p:nvSpPr>
          <p:cNvPr id="8" name="Point 1"/>
          <p:cNvSpPr/>
          <p:nvPr/>
        </p:nvSpPr>
        <p:spPr>
          <a:xfrm>
            <a:off x="8183880" y="1645920"/>
            <a:ext cx="3410712" cy="813816"/>
          </a:xfrm>
          <a:prstGeom prst="roundRect">
            <a:avLst>
              <a:gd name="adj" fmla="val 6742"/>
            </a:avLst>
          </a:prstGeom>
          <a:solidFill>
            <a:schemeClr val="bg1"/>
          </a:solidFill>
          <a:ln w="9525">
            <a:solidFill>
              <a:srgbClr val="E3DFD3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1274552" y="1979676"/>
            <a:ext cx="146304" cy="14630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8293608" y="1645920"/>
            <a:ext cx="2862072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fa-IR" altLang="en-US" sz="1400" dirty="0">
                <a:solidFill>
                  <a:schemeClr val="tx1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کیف‌پول یک پیام ثابت را امضا می‌کند؛ امضا برای هر حساب همیشه یکسان است</a:t>
            </a:r>
            <a:endParaRPr lang="fa-IR" sz="1700" dirty="0"/>
          </a:p>
        </p:txBody>
      </p:sp>
      <p:sp>
        <p:nvSpPr>
          <p:cNvPr id="11" name="Point 2"/>
          <p:cNvSpPr/>
          <p:nvPr/>
        </p:nvSpPr>
        <p:spPr>
          <a:xfrm>
            <a:off x="8183880" y="2551176"/>
            <a:ext cx="3410712" cy="813816"/>
          </a:xfrm>
          <a:prstGeom prst="roundRect">
            <a:avLst>
              <a:gd name="adj" fmla="val 6742"/>
            </a:avLst>
          </a:prstGeom>
          <a:solidFill>
            <a:schemeClr val="bg1"/>
          </a:solidFill>
          <a:ln w="9525">
            <a:solidFill>
              <a:srgbClr val="E3DFD3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1274552" y="2884932"/>
            <a:ext cx="146304" cy="14630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8293608" y="2551176"/>
            <a:ext cx="2862072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fa-IR" altLang="en-US" sz="1400" dirty="0">
                <a:solidFill>
                  <a:schemeClr val="tx1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هش SHA-256 امضا، کلید خصوصی رمزنگاری روی منحنی secp256k1 می‌شود</a:t>
            </a:r>
            <a:endParaRPr lang="fa-IR" sz="1700" dirty="0"/>
          </a:p>
        </p:txBody>
      </p:sp>
      <p:sp>
        <p:nvSpPr>
          <p:cNvPr id="14" name="Point 3"/>
          <p:cNvSpPr/>
          <p:nvPr/>
        </p:nvSpPr>
        <p:spPr>
          <a:xfrm>
            <a:off x="8183880" y="3456432"/>
            <a:ext cx="3410712" cy="813816"/>
          </a:xfrm>
          <a:prstGeom prst="roundRect">
            <a:avLst>
              <a:gd name="adj" fmla="val 6742"/>
            </a:avLst>
          </a:prstGeom>
          <a:solidFill>
            <a:schemeClr val="bg1"/>
          </a:solidFill>
          <a:ln w="9525">
            <a:solidFill>
              <a:srgbClr val="E3DFD3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11274552" y="3790188"/>
            <a:ext cx="146304" cy="14630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293608" y="3456432"/>
            <a:ext cx="2862072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fa-IR" altLang="en-US" sz="1400" dirty="0">
                <a:solidFill>
                  <a:schemeClr val="tx1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اگر هش نامعتبر بود، دوباره هش می‌کنیم تا معتبر شود</a:t>
            </a:r>
            <a:endParaRPr lang="fa-IR" sz="1700" dirty="0"/>
          </a:p>
        </p:txBody>
      </p:sp>
      <p:sp>
        <p:nvSpPr>
          <p:cNvPr id="17" name="Point 4"/>
          <p:cNvSpPr/>
          <p:nvPr/>
        </p:nvSpPr>
        <p:spPr>
          <a:xfrm>
            <a:off x="8183880" y="4361688"/>
            <a:ext cx="3410712" cy="813816"/>
          </a:xfrm>
          <a:prstGeom prst="roundRect">
            <a:avLst>
              <a:gd name="adj" fmla="val 6742"/>
            </a:avLst>
          </a:prstGeom>
          <a:solidFill>
            <a:schemeClr val="bg1"/>
          </a:solidFill>
          <a:ln w="9525">
            <a:solidFill>
              <a:srgbClr val="E3DFD3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11274552" y="4695444"/>
            <a:ext cx="146304" cy="14630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8293608" y="4361688"/>
            <a:ext cx="2862072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fa-IR" altLang="en-US" sz="1400" dirty="0">
                <a:solidFill>
                  <a:schemeClr val="tx1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کلید عمومی ۶۴ بایتی بدون بایت پیشوند 0x04 استخراج می‌شود</a:t>
            </a:r>
            <a:endParaRPr lang="fa-IR" sz="1700" dirty="0"/>
          </a:p>
        </p:txBody>
      </p:sp>
      <p:sp>
        <p:nvSpPr>
          <p:cNvPr id="20" name="Point 5"/>
          <p:cNvSpPr/>
          <p:nvPr/>
        </p:nvSpPr>
        <p:spPr>
          <a:xfrm>
            <a:off x="8183880" y="5266944"/>
            <a:ext cx="3410712" cy="813816"/>
          </a:xfrm>
          <a:prstGeom prst="roundRect">
            <a:avLst>
              <a:gd name="adj" fmla="val 6742"/>
            </a:avLst>
          </a:prstGeom>
          <a:solidFill>
            <a:schemeClr val="bg1"/>
          </a:solidFill>
          <a:ln w="9525">
            <a:solidFill>
              <a:srgbClr val="E3DFD3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11274552" y="5600700"/>
            <a:ext cx="146304" cy="14630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8293608" y="5266944"/>
            <a:ext cx="2862072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fa-IR" altLang="en-US" sz="1400" dirty="0">
                <a:solidFill>
                  <a:schemeClr val="tx1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کلید خصوصی هیچ‌جا ذخیره نمی‌شود و هر بار دوباره ساخته می‌شود</a:t>
            </a:r>
            <a:endParaRPr lang="fa-IR" sz="17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"/>
          <p:cNvSpPr txBox="1"/>
          <p:nvPr/>
        </p:nvSpPr>
        <p:spPr>
          <a:xfrm>
            <a:off x="10680192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fa-IR" altLang="en-US" sz="1200" dirty="0">
                <a:solidFill>
                  <a:schemeClr val="accent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۳۱</a:t>
            </a:r>
            <a:endParaRPr lang="fa-IR" sz="1500" dirty="0"/>
          </a:p>
        </p:txBody>
      </p:sp>
      <p:sp>
        <p:nvSpPr>
          <p:cNvPr id="4" name="Text 1"/>
          <p:cNvSpPr txBox="1"/>
          <p:nvPr/>
        </p:nvSpPr>
        <p:spPr>
          <a:xfrm>
            <a:off x="4279392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fa-IR" altLang="en-US" sz="1200" b="1" dirty="0">
                <a:solidFill>
                  <a:schemeClr val="accent1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کد</a:t>
            </a:r>
            <a:endParaRPr lang="fa-IR" sz="1500" dirty="0"/>
          </a:p>
        </p:txBody>
      </p:sp>
      <p:sp>
        <p:nvSpPr>
          <p:cNvPr id="5" name="Text 2"/>
          <p:cNvSpPr txBox="1"/>
          <p:nvPr/>
        </p:nvSpPr>
        <p:spPr>
          <a:xfrm>
            <a:off x="2084832" y="640080"/>
            <a:ext cx="9509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 rtl="1">
              <a:buNone/>
            </a:pPr>
            <a:r>
              <a:rPr lang="fa-IR" altLang="en-US" sz="3000" b="1" dirty="0">
                <a:solidFill>
                  <a:schemeClr val="tx2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رمزنگاری: AES و قفل‌کردن کلید با ECIES</a:t>
            </a:r>
            <a:endParaRPr lang="fa-IR" sz="3300" dirty="0"/>
          </a:p>
        </p:txBody>
      </p:sp>
      <p:sp>
        <p:nvSpPr>
          <p:cNvPr id="6" name="Code panel"/>
          <p:cNvSpPr/>
          <p:nvPr/>
        </p:nvSpPr>
        <p:spPr>
          <a:xfrm>
            <a:off x="594360" y="1645920"/>
            <a:ext cx="7315200" cy="4434840"/>
          </a:xfrm>
          <a:prstGeom prst="roundRect">
            <a:avLst>
              <a:gd name="adj" fmla="val 1649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77240" y="1737360"/>
            <a:ext cx="6949440" cy="4251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 async function encryptDocument(plaintext, aesKeyRaw) {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key = await importAESKey(aesKeyRaw);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iv = crypto.getRandomValues(new Uint8Array(12));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ct = await crypto.subtle.encrypt(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 name: "AES-GCM", iv }, key, plaintext);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{ ciphertext: new Uint8Array(ct), iv };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  <a:p>
            <a:pPr marL="0" indent="0" algn="l">
              <a:buNone/>
            </a:pP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 async function wrapKeyForRecipient(aesKeyRaw, recipientPub64) {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ephPriv = secp.utils.randomPrivateKey();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ephPub  = secp.getPublicKey(ephPriv, false);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shared  = secp.getSharedSecret(ephPriv, 0x04 + recipientPub64, true);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symKey  = await deriveSymmetricKeyFromSharedPoint(shared); // HKDF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iv = crypto.getRandomValues(new Uint8Array(12));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ct = await crypto.subtle.encrypt(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 name: "AES-GCM", iv }, symKey, aesKeyRaw);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{ ephemeralPublicKey64: ephPub.slice(1), iv, ciphertext: ct };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  <p:sp>
        <p:nvSpPr>
          <p:cNvPr id="8" name="Point 1"/>
          <p:cNvSpPr/>
          <p:nvPr/>
        </p:nvSpPr>
        <p:spPr>
          <a:xfrm>
            <a:off x="8183880" y="1645920"/>
            <a:ext cx="3410712" cy="662940"/>
          </a:xfrm>
          <a:prstGeom prst="roundRect">
            <a:avLst>
              <a:gd name="adj" fmla="val 8276"/>
            </a:avLst>
          </a:prstGeom>
          <a:solidFill>
            <a:schemeClr val="bg1"/>
          </a:solidFill>
          <a:ln w="9525">
            <a:solidFill>
              <a:srgbClr val="E3DFD3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1274552" y="1904238"/>
            <a:ext cx="146304" cy="14630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8293608" y="1645920"/>
            <a:ext cx="2862072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fa-IR" altLang="en-US" sz="1400" dirty="0">
                <a:solidFill>
                  <a:schemeClr val="tx1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الگوریتم AES-256-GCM هم رمز می‌کند و هم دستکاری را تشخیص می‌دهد</a:t>
            </a:r>
            <a:endParaRPr lang="fa-IR" sz="1700" dirty="0"/>
          </a:p>
        </p:txBody>
      </p:sp>
      <p:sp>
        <p:nvSpPr>
          <p:cNvPr id="11" name="Point 2"/>
          <p:cNvSpPr/>
          <p:nvPr/>
        </p:nvSpPr>
        <p:spPr>
          <a:xfrm>
            <a:off x="8183880" y="2400300"/>
            <a:ext cx="3410712" cy="662940"/>
          </a:xfrm>
          <a:prstGeom prst="roundRect">
            <a:avLst>
              <a:gd name="adj" fmla="val 8276"/>
            </a:avLst>
          </a:prstGeom>
          <a:solidFill>
            <a:schemeClr val="bg1"/>
          </a:solidFill>
          <a:ln w="9525">
            <a:solidFill>
              <a:srgbClr val="E3DFD3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1274552" y="2658618"/>
            <a:ext cx="146304" cy="14630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8293608" y="2400300"/>
            <a:ext cx="2862072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fa-IR" altLang="en-US" sz="1400" dirty="0">
                <a:solidFill>
                  <a:schemeClr val="tx1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برای هر رمزنگاری یک IV تصادفی ۱۲ بایتی</a:t>
            </a:r>
            <a:endParaRPr lang="fa-IR" sz="1700" dirty="0"/>
          </a:p>
        </p:txBody>
      </p:sp>
      <p:sp>
        <p:nvSpPr>
          <p:cNvPr id="14" name="Point 3"/>
          <p:cNvSpPr/>
          <p:nvPr/>
        </p:nvSpPr>
        <p:spPr>
          <a:xfrm>
            <a:off x="8183880" y="3154680"/>
            <a:ext cx="3410712" cy="662940"/>
          </a:xfrm>
          <a:prstGeom prst="roundRect">
            <a:avLst>
              <a:gd name="adj" fmla="val 8276"/>
            </a:avLst>
          </a:prstGeom>
          <a:solidFill>
            <a:schemeClr val="bg1"/>
          </a:solidFill>
          <a:ln w="9525">
            <a:solidFill>
              <a:srgbClr val="E3DFD3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11274552" y="3412998"/>
            <a:ext cx="146304" cy="14630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293608" y="3154680"/>
            <a:ext cx="2862072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fa-IR" altLang="en-US" sz="1400" dirty="0">
                <a:solidFill>
                  <a:schemeClr val="tx1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در روش ECIES یک جفت کلید موقت می‌سازیم</a:t>
            </a:r>
            <a:endParaRPr lang="fa-IR" sz="1700" dirty="0"/>
          </a:p>
        </p:txBody>
      </p:sp>
      <p:sp>
        <p:nvSpPr>
          <p:cNvPr id="17" name="Point 4"/>
          <p:cNvSpPr/>
          <p:nvPr/>
        </p:nvSpPr>
        <p:spPr>
          <a:xfrm>
            <a:off x="8183880" y="3909060"/>
            <a:ext cx="3410712" cy="662940"/>
          </a:xfrm>
          <a:prstGeom prst="roundRect">
            <a:avLst>
              <a:gd name="adj" fmla="val 8276"/>
            </a:avLst>
          </a:prstGeom>
          <a:solidFill>
            <a:schemeClr val="bg1"/>
          </a:solidFill>
          <a:ln w="9525">
            <a:solidFill>
              <a:srgbClr val="E3DFD3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11274552" y="4167378"/>
            <a:ext cx="146304" cy="14630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8293608" y="3909060"/>
            <a:ext cx="2862072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fa-IR" altLang="en-US" sz="1400" dirty="0">
                <a:solidFill>
                  <a:schemeClr val="tx1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تبادل کلید ECDH: کلید موقت ما با کلید عمومی گیرنده، یک راز مشترک می‌سازد</a:t>
            </a:r>
            <a:endParaRPr lang="fa-IR" sz="1700" dirty="0"/>
          </a:p>
        </p:txBody>
      </p:sp>
      <p:sp>
        <p:nvSpPr>
          <p:cNvPr id="20" name="Point 5"/>
          <p:cNvSpPr/>
          <p:nvPr/>
        </p:nvSpPr>
        <p:spPr>
          <a:xfrm>
            <a:off x="8183880" y="4663440"/>
            <a:ext cx="3410712" cy="662940"/>
          </a:xfrm>
          <a:prstGeom prst="roundRect">
            <a:avLst>
              <a:gd name="adj" fmla="val 8276"/>
            </a:avLst>
          </a:prstGeom>
          <a:solidFill>
            <a:schemeClr val="bg1"/>
          </a:solidFill>
          <a:ln w="9525">
            <a:solidFill>
              <a:srgbClr val="E3DFD3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11274552" y="4921758"/>
            <a:ext cx="146304" cy="14630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8293608" y="4663440"/>
            <a:ext cx="2862072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fa-IR" altLang="en-US" sz="1400" dirty="0">
                <a:solidFill>
                  <a:schemeClr val="tx1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تابع HKDF راز مشترک را به یک کلید AES تبدیل می‌کند</a:t>
            </a:r>
            <a:endParaRPr lang="fa-IR" sz="1700" dirty="0"/>
          </a:p>
        </p:txBody>
      </p:sp>
      <p:sp>
        <p:nvSpPr>
          <p:cNvPr id="23" name="Point 6"/>
          <p:cNvSpPr/>
          <p:nvPr/>
        </p:nvSpPr>
        <p:spPr>
          <a:xfrm>
            <a:off x="8183880" y="5417820"/>
            <a:ext cx="3410712" cy="662940"/>
          </a:xfrm>
          <a:prstGeom prst="roundRect">
            <a:avLst>
              <a:gd name="adj" fmla="val 8276"/>
            </a:avLst>
          </a:prstGeom>
          <a:solidFill>
            <a:schemeClr val="bg1"/>
          </a:solidFill>
          <a:ln w="9525">
            <a:solidFill>
              <a:srgbClr val="E3DFD3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11274552" y="5676138"/>
            <a:ext cx="146304" cy="14630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8293608" y="5417820"/>
            <a:ext cx="2862072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fa-IR" altLang="en-US" sz="1400" dirty="0">
                <a:solidFill>
                  <a:schemeClr val="tx1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کلید AES فایل با آن کلید قفل می‌شود</a:t>
            </a:r>
            <a:endParaRPr lang="fa-IR" sz="17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"/>
          <p:cNvSpPr txBox="1"/>
          <p:nvPr/>
        </p:nvSpPr>
        <p:spPr>
          <a:xfrm>
            <a:off x="10680192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fa-IR" altLang="en-US" sz="1200" dirty="0">
                <a:solidFill>
                  <a:schemeClr val="accent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۳۲</a:t>
            </a:r>
            <a:endParaRPr lang="fa-IR" sz="1500" dirty="0"/>
          </a:p>
        </p:txBody>
      </p:sp>
      <p:sp>
        <p:nvSpPr>
          <p:cNvPr id="4" name="Text 1"/>
          <p:cNvSpPr txBox="1"/>
          <p:nvPr/>
        </p:nvSpPr>
        <p:spPr>
          <a:xfrm>
            <a:off x="4279392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fa-IR" altLang="en-US" sz="1200" b="1" dirty="0">
                <a:solidFill>
                  <a:schemeClr val="accent1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کد</a:t>
            </a:r>
            <a:endParaRPr lang="fa-IR" sz="1500" dirty="0"/>
          </a:p>
        </p:txBody>
      </p:sp>
      <p:sp>
        <p:nvSpPr>
          <p:cNvPr id="5" name="Text 2"/>
          <p:cNvSpPr txBox="1"/>
          <p:nvPr/>
        </p:nvSpPr>
        <p:spPr>
          <a:xfrm>
            <a:off x="2084832" y="640080"/>
            <a:ext cx="9509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 rtl="1">
              <a:buNone/>
            </a:pPr>
            <a:r>
              <a:rPr lang="fa-IR" altLang="en-US" sz="3000" b="1" dirty="0">
                <a:solidFill>
                  <a:schemeClr val="tx2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رمزنگاری: باز کردن کلید و قالب ذخیره‌سازی</a:t>
            </a:r>
            <a:endParaRPr lang="fa-IR" sz="3300" dirty="0"/>
          </a:p>
        </p:txBody>
      </p:sp>
      <p:sp>
        <p:nvSpPr>
          <p:cNvPr id="6" name="Code panel"/>
          <p:cNvSpPr/>
          <p:nvPr/>
        </p:nvSpPr>
        <p:spPr>
          <a:xfrm>
            <a:off x="594360" y="1645920"/>
            <a:ext cx="7315200" cy="4434840"/>
          </a:xfrm>
          <a:prstGeom prst="roundRect">
            <a:avLst>
              <a:gd name="adj" fmla="val 1649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77240" y="1737360"/>
            <a:ext cx="6949440" cy="4251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 async function unwrapKey(wrapped, recipientPrivateKey) {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ephPub = 0x04 + wrapped.ephemeralPublicKey64;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shared = secp.getSharedSecret(recipientPrivateKey, ephPub, true);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symKey = await deriveSymmetricKeyFromSharedPoint(shared);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aesKey = await crypto.subtle.decrypt(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 name: "AES-GCM", iv: wrapped.iv }, symKey, wrapped.ciphertext);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new Uint8Array(aesKey);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  <a:p>
            <a:pPr marL="0" indent="0" algn="l">
              <a:buNone/>
            </a:pP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 function serializeWrappedKey(w) {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bytesToHex(concat(w.ephemeralPublicKey64, w.iv, w.ciphertext));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 function deserializeWrappedKey(hex) {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b = hexToBytes(hex);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{ ephemeralPublicKey64: b.slice(0, 64),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iv: b.slice(64, 76), ciphertext: b.slice(76) };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</p:txBody>
      </p:sp>
      <p:sp>
        <p:nvSpPr>
          <p:cNvPr id="8" name="Point 1"/>
          <p:cNvSpPr/>
          <p:nvPr/>
        </p:nvSpPr>
        <p:spPr>
          <a:xfrm>
            <a:off x="8183880" y="1645920"/>
            <a:ext cx="3410712" cy="868680"/>
          </a:xfrm>
          <a:prstGeom prst="roundRect">
            <a:avLst>
              <a:gd name="adj" fmla="val 6316"/>
            </a:avLst>
          </a:prstGeom>
          <a:solidFill>
            <a:schemeClr val="bg1"/>
          </a:solidFill>
          <a:ln w="9525">
            <a:solidFill>
              <a:srgbClr val="E3DFD3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1274552" y="2007108"/>
            <a:ext cx="146304" cy="14630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8293608" y="1645920"/>
            <a:ext cx="28620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fa-IR" altLang="en-US" sz="1400" dirty="0">
                <a:solidFill>
                  <a:schemeClr val="tx1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گیرنده با کلید خصوصی خودش و کلید موقت فرستنده به همان راز می‌رسد</a:t>
            </a:r>
            <a:endParaRPr lang="fa-IR" sz="1700" dirty="0"/>
          </a:p>
        </p:txBody>
      </p:sp>
      <p:sp>
        <p:nvSpPr>
          <p:cNvPr id="11" name="Point 2"/>
          <p:cNvSpPr/>
          <p:nvPr/>
        </p:nvSpPr>
        <p:spPr>
          <a:xfrm>
            <a:off x="8183880" y="2606040"/>
            <a:ext cx="3410712" cy="868680"/>
          </a:xfrm>
          <a:prstGeom prst="roundRect">
            <a:avLst>
              <a:gd name="adj" fmla="val 6316"/>
            </a:avLst>
          </a:prstGeom>
          <a:solidFill>
            <a:schemeClr val="bg1"/>
          </a:solidFill>
          <a:ln w="9525">
            <a:solidFill>
              <a:srgbClr val="E3DFD3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1274552" y="2967228"/>
            <a:ext cx="146304" cy="14630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8293608" y="2606040"/>
            <a:ext cx="28620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fa-IR" altLang="en-US" sz="1400" dirty="0">
                <a:solidFill>
                  <a:schemeClr val="tx1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همان HKDF همان کلید AES را می‌سازد و کلید فایل باز می‌شود</a:t>
            </a:r>
            <a:endParaRPr lang="fa-IR" sz="1700" dirty="0"/>
          </a:p>
        </p:txBody>
      </p:sp>
      <p:sp>
        <p:nvSpPr>
          <p:cNvPr id="14" name="Point 3"/>
          <p:cNvSpPr/>
          <p:nvPr/>
        </p:nvSpPr>
        <p:spPr>
          <a:xfrm>
            <a:off x="8183880" y="3566160"/>
            <a:ext cx="3410712" cy="868680"/>
          </a:xfrm>
          <a:prstGeom prst="roundRect">
            <a:avLst>
              <a:gd name="adj" fmla="val 6316"/>
            </a:avLst>
          </a:prstGeom>
          <a:solidFill>
            <a:schemeClr val="bg1"/>
          </a:solidFill>
          <a:ln w="9525">
            <a:solidFill>
              <a:srgbClr val="E3DFD3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11274552" y="3927348"/>
            <a:ext cx="146304" cy="14630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293608" y="3566160"/>
            <a:ext cx="28620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fa-IR" altLang="en-US" sz="1400" dirty="0">
                <a:solidFill>
                  <a:schemeClr val="tx1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قالب ذخیره روی بلاکچین: اول ۶۴ بایت کلید موقت، بعد ۱۲ بایت IV، بعد داده‌ی رمزشده</a:t>
            </a:r>
            <a:endParaRPr lang="fa-IR" sz="1700" dirty="0"/>
          </a:p>
        </p:txBody>
      </p:sp>
      <p:sp>
        <p:nvSpPr>
          <p:cNvPr id="17" name="Point 4"/>
          <p:cNvSpPr/>
          <p:nvPr/>
        </p:nvSpPr>
        <p:spPr>
          <a:xfrm>
            <a:off x="8183880" y="4526280"/>
            <a:ext cx="3410712" cy="868680"/>
          </a:xfrm>
          <a:prstGeom prst="roundRect">
            <a:avLst>
              <a:gd name="adj" fmla="val 6316"/>
            </a:avLst>
          </a:prstGeom>
          <a:solidFill>
            <a:schemeClr val="bg1"/>
          </a:solidFill>
          <a:ln w="9525">
            <a:solidFill>
              <a:srgbClr val="E3DFD3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11274552" y="4887468"/>
            <a:ext cx="146304" cy="14630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8293608" y="4526280"/>
            <a:ext cx="28620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fa-IR" altLang="en-US" sz="1400" dirty="0">
                <a:solidFill>
                  <a:schemeClr val="tx1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deserialize دقیقاً برعکس serialize بریدن را انجام می‌دهد</a:t>
            </a:r>
            <a:endParaRPr lang="fa-IR" sz="17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"/>
          <p:cNvSpPr txBox="1"/>
          <p:nvPr/>
        </p:nvSpPr>
        <p:spPr>
          <a:xfrm>
            <a:off x="10680192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fa-IR" altLang="en-US" sz="1200" dirty="0">
                <a:solidFill>
                  <a:schemeClr val="accent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۳۳</a:t>
            </a:r>
            <a:endParaRPr lang="fa-IR" sz="1500" dirty="0"/>
          </a:p>
        </p:txBody>
      </p:sp>
      <p:sp>
        <p:nvSpPr>
          <p:cNvPr id="4" name="Text 1"/>
          <p:cNvSpPr txBox="1"/>
          <p:nvPr/>
        </p:nvSpPr>
        <p:spPr>
          <a:xfrm>
            <a:off x="4279392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fa-IR" altLang="en-US" sz="1200" b="1" dirty="0">
                <a:solidFill>
                  <a:schemeClr val="accent1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کد</a:t>
            </a:r>
            <a:endParaRPr lang="fa-IR" sz="1500" dirty="0"/>
          </a:p>
        </p:txBody>
      </p:sp>
      <p:sp>
        <p:nvSpPr>
          <p:cNvPr id="5" name="Text 2"/>
          <p:cNvSpPr txBox="1"/>
          <p:nvPr/>
        </p:nvSpPr>
        <p:spPr>
          <a:xfrm>
            <a:off x="2084832" y="640080"/>
            <a:ext cx="9509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 rtl="1">
              <a:buNone/>
            </a:pPr>
            <a:r>
              <a:rPr lang="fa-IR" altLang="en-US" sz="3000" b="1" dirty="0">
                <a:solidFill>
                  <a:schemeClr val="tx2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ذخیره‌سازی: آپلود و دانلود از IPFS</a:t>
            </a:r>
            <a:endParaRPr lang="fa-IR" sz="3300" dirty="0"/>
          </a:p>
        </p:txBody>
      </p:sp>
      <p:sp>
        <p:nvSpPr>
          <p:cNvPr id="6" name="Code panel"/>
          <p:cNvSpPr/>
          <p:nvPr/>
        </p:nvSpPr>
        <p:spPr>
          <a:xfrm>
            <a:off x="594360" y="1645920"/>
            <a:ext cx="7315200" cy="4434840"/>
          </a:xfrm>
          <a:prstGeom prst="roundRect">
            <a:avLst>
              <a:gd name="adj" fmla="val 1649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77240" y="1737360"/>
            <a:ext cx="6949440" cy="4251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PINATA_JWT = import.meta.env.VITE_PINATA_JWT;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PINATA_PIN_URL = "https://api.pinata.cloud/pinning/pinFileToIPFS";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PINATA_GATEWAY = "https://gateway.pinata.cloud/ipfs";</a:t>
            </a:r>
            <a:endParaRPr lang="en-US" sz="1100" dirty="0"/>
          </a:p>
          <a:p>
            <a:pPr marL="0" indent="0" algn="l">
              <a:buNone/>
            </a:pP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 async function uploadToStorage(encryptedBytes) {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formData = new FormData();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formData.append("file", new Blob([encryptedBytes]), "encrypted-credential");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response = await fetch(PINATA_PIN_URL, {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method: "POST",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headers: { Authorization: `Bearer ${PINATA_JWT}` },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body: formData,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});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result = await response.json();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result.IpfsHash;          // the CID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  <a:p>
            <a:pPr marL="0" indent="0" algn="l">
              <a:buNone/>
            </a:pP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 async function fetchFromStorage(cid) {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response = await fetch(`${PINATA_GATEWAY}/${cid}`);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new Uint8Array(await response.arrayBuffer());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  <p:sp>
        <p:nvSpPr>
          <p:cNvPr id="8" name="Point 1"/>
          <p:cNvSpPr/>
          <p:nvPr/>
        </p:nvSpPr>
        <p:spPr>
          <a:xfrm>
            <a:off x="8183880" y="1645920"/>
            <a:ext cx="3410712" cy="868680"/>
          </a:xfrm>
          <a:prstGeom prst="roundRect">
            <a:avLst>
              <a:gd name="adj" fmla="val 6316"/>
            </a:avLst>
          </a:prstGeom>
          <a:solidFill>
            <a:schemeClr val="bg1"/>
          </a:solidFill>
          <a:ln w="9525">
            <a:solidFill>
              <a:srgbClr val="E3DFD3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1274552" y="2007108"/>
            <a:ext cx="146304" cy="14630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8293608" y="1645920"/>
            <a:ext cx="28620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fa-IR" altLang="en-US" sz="1400" dirty="0">
                <a:solidFill>
                  <a:schemeClr val="tx1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آپلود: فایل رمزشده با توکن JWT به Pinata فرستاده می‌شود و CID برمی‌گردد</a:t>
            </a:r>
            <a:endParaRPr lang="fa-IR" sz="1700" dirty="0"/>
          </a:p>
        </p:txBody>
      </p:sp>
      <p:sp>
        <p:nvSpPr>
          <p:cNvPr id="11" name="Point 2"/>
          <p:cNvSpPr/>
          <p:nvPr/>
        </p:nvSpPr>
        <p:spPr>
          <a:xfrm>
            <a:off x="8183880" y="2606040"/>
            <a:ext cx="3410712" cy="868680"/>
          </a:xfrm>
          <a:prstGeom prst="roundRect">
            <a:avLst>
              <a:gd name="adj" fmla="val 6316"/>
            </a:avLst>
          </a:prstGeom>
          <a:solidFill>
            <a:schemeClr val="bg1"/>
          </a:solidFill>
          <a:ln w="9525">
            <a:solidFill>
              <a:srgbClr val="E3DFD3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1274552" y="2967228"/>
            <a:ext cx="146304" cy="14630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8293608" y="2606040"/>
            <a:ext cx="28620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fa-IR" altLang="en-US" sz="1400" dirty="0">
                <a:solidFill>
                  <a:schemeClr val="tx1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دانلود: خواندن از دروازه‌ی IPFS بدون نیاز به توکن</a:t>
            </a:r>
            <a:endParaRPr lang="fa-IR" sz="1700" dirty="0"/>
          </a:p>
        </p:txBody>
      </p:sp>
      <p:sp>
        <p:nvSpPr>
          <p:cNvPr id="14" name="Point 3"/>
          <p:cNvSpPr/>
          <p:nvPr/>
        </p:nvSpPr>
        <p:spPr>
          <a:xfrm>
            <a:off x="8183880" y="3566160"/>
            <a:ext cx="3410712" cy="868680"/>
          </a:xfrm>
          <a:prstGeom prst="roundRect">
            <a:avLst>
              <a:gd name="adj" fmla="val 6316"/>
            </a:avLst>
          </a:prstGeom>
          <a:solidFill>
            <a:schemeClr val="bg1"/>
          </a:solidFill>
          <a:ln w="9525">
            <a:solidFill>
              <a:srgbClr val="E3DFD3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11274552" y="3927348"/>
            <a:ext cx="146304" cy="14630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293608" y="3566160"/>
            <a:ext cx="28620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fa-IR" altLang="en-US" sz="1400" dirty="0">
                <a:solidFill>
                  <a:schemeClr val="tx1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آنچه آپلود می‌شود قبلاً رمز شده؛ Pinata چیزی از محتوا نمی‌بیند</a:t>
            </a:r>
            <a:endParaRPr lang="fa-IR" sz="1700" dirty="0"/>
          </a:p>
        </p:txBody>
      </p:sp>
      <p:sp>
        <p:nvSpPr>
          <p:cNvPr id="17" name="Point 4"/>
          <p:cNvSpPr/>
          <p:nvPr/>
        </p:nvSpPr>
        <p:spPr>
          <a:xfrm>
            <a:off x="8183880" y="4526280"/>
            <a:ext cx="3410712" cy="868680"/>
          </a:xfrm>
          <a:prstGeom prst="roundRect">
            <a:avLst>
              <a:gd name="adj" fmla="val 6316"/>
            </a:avLst>
          </a:prstGeom>
          <a:solidFill>
            <a:schemeClr val="bg1"/>
          </a:solidFill>
          <a:ln w="9525">
            <a:solidFill>
              <a:srgbClr val="E3DFD3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11274552" y="4887468"/>
            <a:ext cx="146304" cy="14630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8293608" y="4526280"/>
            <a:ext cx="28620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fa-IR" altLang="en-US" sz="1400" dirty="0">
                <a:solidFill>
                  <a:schemeClr val="tx1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کل برنامه فقط از این دو تابع استفاده می‌کند؛ ذخیره‌ساز به‌راحتی قابل تعویض است</a:t>
            </a:r>
            <a:endParaRPr lang="fa-IR" sz="17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"/>
          <p:cNvSpPr txBox="1"/>
          <p:nvPr/>
        </p:nvSpPr>
        <p:spPr>
          <a:xfrm>
            <a:off x="10680192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fa-IR" altLang="en-US" sz="1200" dirty="0">
                <a:solidFill>
                  <a:schemeClr val="accent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۳۴</a:t>
            </a:r>
            <a:endParaRPr lang="fa-IR" sz="1500" dirty="0"/>
          </a:p>
        </p:txBody>
      </p:sp>
      <p:sp>
        <p:nvSpPr>
          <p:cNvPr id="4" name="Text 1"/>
          <p:cNvSpPr txBox="1"/>
          <p:nvPr/>
        </p:nvSpPr>
        <p:spPr>
          <a:xfrm>
            <a:off x="4279392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fa-IR" altLang="en-US" sz="1200" b="1" dirty="0">
                <a:solidFill>
                  <a:schemeClr val="accent1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کد</a:t>
            </a:r>
            <a:endParaRPr lang="fa-IR" sz="1500" dirty="0"/>
          </a:p>
        </p:txBody>
      </p:sp>
      <p:sp>
        <p:nvSpPr>
          <p:cNvPr id="5" name="Text 2"/>
          <p:cNvSpPr txBox="1"/>
          <p:nvPr/>
        </p:nvSpPr>
        <p:spPr>
          <a:xfrm>
            <a:off x="2084832" y="640080"/>
            <a:ext cx="9509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 rtl="1">
              <a:buNone/>
            </a:pPr>
            <a:r>
              <a:rPr lang="fa-IR" altLang="en-US" sz="3000" b="1" dirty="0">
                <a:solidFill>
                  <a:schemeClr val="tx2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فرانت‌اند: صدور مدرک با تابع handleIssue</a:t>
            </a:r>
            <a:endParaRPr lang="fa-IR" sz="3300" dirty="0"/>
          </a:p>
        </p:txBody>
      </p:sp>
      <p:sp>
        <p:nvSpPr>
          <p:cNvPr id="6" name="Code panel"/>
          <p:cNvSpPr/>
          <p:nvPr/>
        </p:nvSpPr>
        <p:spPr>
          <a:xfrm>
            <a:off x="594360" y="1645920"/>
            <a:ext cx="7315200" cy="4434840"/>
          </a:xfrm>
          <a:prstGeom prst="roundRect">
            <a:avLst>
              <a:gd name="adj" fmla="val 1649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77240" y="1737360"/>
            <a:ext cx="6949440" cy="4251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1) the owner must have a registered public key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ownerPub = await accessControl.encryptionPublicKeys(owner);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(!ownerPub || ownerPub === "0x") throw new Error("...enable encryption first");</a:t>
            </a:r>
            <a:endParaRPr lang="en-US" sz="1100" dirty="0"/>
          </a:p>
          <a:p>
            <a:pPr marL="0" indent="0" algn="l">
              <a:buNone/>
            </a:pP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2) encrypt in the browser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packed = packWithFilename(await readFileAsBytes(file), file.name);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aesKey = generateAESKey();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{ ciphertext, iv } = await encryptDocument(packed, aesKey);</a:t>
            </a:r>
            <a:endParaRPr lang="en-US" sz="1100" dirty="0"/>
          </a:p>
          <a:p>
            <a:pPr marL="0" indent="0" algn="l">
              <a:buNone/>
            </a:pP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3) iv + ciphertext -&gt; IPFS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cid = await uploadToStorage(concat(iv, ciphertext));</a:t>
            </a:r>
            <a:endParaRPr lang="en-US" sz="1100" dirty="0"/>
          </a:p>
          <a:p>
            <a:pPr marL="0" indent="0" algn="l">
              <a:buNone/>
            </a:pP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4) lock the AES key for the owner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wrapped = await wrapKeyForRecipient(aesKey, hexToBytes(ownerPub));</a:t>
            </a:r>
            <a:endParaRPr lang="en-US" sz="1100" dirty="0"/>
          </a:p>
          <a:p>
            <a:pPr marL="0" indent="0" algn="l">
              <a:buNone/>
            </a:pP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5) write to the blockchain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tx = await credentialRegistry.issueCredential(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owner, cid, serializeWrappedKey(wrapped),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documentType, majorId, isTimeLimited, expiryTimestamp);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await tx.wait();</a:t>
            </a:r>
            <a:endParaRPr lang="en-US" sz="1100" dirty="0"/>
          </a:p>
        </p:txBody>
      </p:sp>
      <p:sp>
        <p:nvSpPr>
          <p:cNvPr id="8" name="Point 1"/>
          <p:cNvSpPr/>
          <p:nvPr/>
        </p:nvSpPr>
        <p:spPr>
          <a:xfrm>
            <a:off x="8183880" y="1645920"/>
            <a:ext cx="3410712" cy="813816"/>
          </a:xfrm>
          <a:prstGeom prst="roundRect">
            <a:avLst>
              <a:gd name="adj" fmla="val 6742"/>
            </a:avLst>
          </a:prstGeom>
          <a:solidFill>
            <a:schemeClr val="bg1"/>
          </a:solidFill>
          <a:ln w="9525">
            <a:solidFill>
              <a:srgbClr val="E3DFD3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1274552" y="1979676"/>
            <a:ext cx="146304" cy="14630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8293608" y="1645920"/>
            <a:ext cx="2862072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fa-IR" altLang="en-US" sz="1400" dirty="0">
                <a:solidFill>
                  <a:schemeClr val="tx1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اول بررسی‌های ارزان، تا قبل از آپلود و هزینه، خطا مشخص شود</a:t>
            </a:r>
            <a:endParaRPr lang="fa-IR" sz="1700" dirty="0"/>
          </a:p>
        </p:txBody>
      </p:sp>
      <p:sp>
        <p:nvSpPr>
          <p:cNvPr id="11" name="Point 2"/>
          <p:cNvSpPr/>
          <p:nvPr/>
        </p:nvSpPr>
        <p:spPr>
          <a:xfrm>
            <a:off x="8183880" y="2551176"/>
            <a:ext cx="3410712" cy="813816"/>
          </a:xfrm>
          <a:prstGeom prst="roundRect">
            <a:avLst>
              <a:gd name="adj" fmla="val 6742"/>
            </a:avLst>
          </a:prstGeom>
          <a:solidFill>
            <a:schemeClr val="bg1"/>
          </a:solidFill>
          <a:ln w="9525">
            <a:solidFill>
              <a:srgbClr val="E3DFD3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1274552" y="2884932"/>
            <a:ext cx="146304" cy="14630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8293608" y="2551176"/>
            <a:ext cx="2862072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fa-IR" altLang="en-US" sz="1400" dirty="0">
                <a:solidFill>
                  <a:schemeClr val="tx1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packWithFilename: نام اصلی فایل داخل داده‌ی رمزشونده قرار می‌گیرد</a:t>
            </a:r>
            <a:endParaRPr lang="fa-IR" sz="1700" dirty="0"/>
          </a:p>
        </p:txBody>
      </p:sp>
      <p:sp>
        <p:nvSpPr>
          <p:cNvPr id="14" name="Point 3"/>
          <p:cNvSpPr/>
          <p:nvPr/>
        </p:nvSpPr>
        <p:spPr>
          <a:xfrm>
            <a:off x="8183880" y="3456432"/>
            <a:ext cx="3410712" cy="813816"/>
          </a:xfrm>
          <a:prstGeom prst="roundRect">
            <a:avLst>
              <a:gd name="adj" fmla="val 6742"/>
            </a:avLst>
          </a:prstGeom>
          <a:solidFill>
            <a:schemeClr val="bg1"/>
          </a:solidFill>
          <a:ln w="9525">
            <a:solidFill>
              <a:srgbClr val="E3DFD3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11274552" y="3790188"/>
            <a:ext cx="146304" cy="14630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293608" y="3456432"/>
            <a:ext cx="2862072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fa-IR" altLang="en-US" sz="1400" dirty="0">
                <a:solidFill>
                  <a:schemeClr val="tx1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IV کنار فایل رمزشده ذخیره می‌شود</a:t>
            </a:r>
            <a:endParaRPr lang="fa-IR" sz="1700" dirty="0"/>
          </a:p>
        </p:txBody>
      </p:sp>
      <p:sp>
        <p:nvSpPr>
          <p:cNvPr id="17" name="Point 4"/>
          <p:cNvSpPr/>
          <p:nvPr/>
        </p:nvSpPr>
        <p:spPr>
          <a:xfrm>
            <a:off x="8183880" y="4361688"/>
            <a:ext cx="3410712" cy="813816"/>
          </a:xfrm>
          <a:prstGeom prst="roundRect">
            <a:avLst>
              <a:gd name="adj" fmla="val 6742"/>
            </a:avLst>
          </a:prstGeom>
          <a:solidFill>
            <a:schemeClr val="bg1"/>
          </a:solidFill>
          <a:ln w="9525">
            <a:solidFill>
              <a:srgbClr val="E3DFD3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11274552" y="4695444"/>
            <a:ext cx="146304" cy="14630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8293608" y="4361688"/>
            <a:ext cx="2862072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fa-IR" altLang="en-US" sz="1400" dirty="0">
                <a:solidFill>
                  <a:schemeClr val="tx1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ارسال تراکنش با tx و انتظار برای تأیید در بلاک با tx.wait</a:t>
            </a:r>
            <a:endParaRPr lang="fa-IR" sz="1700" dirty="0"/>
          </a:p>
        </p:txBody>
      </p:sp>
      <p:sp>
        <p:nvSpPr>
          <p:cNvPr id="20" name="Point 5"/>
          <p:cNvSpPr/>
          <p:nvPr/>
        </p:nvSpPr>
        <p:spPr>
          <a:xfrm>
            <a:off x="8183880" y="5266944"/>
            <a:ext cx="3410712" cy="813816"/>
          </a:xfrm>
          <a:prstGeom prst="roundRect">
            <a:avLst>
              <a:gd name="adj" fmla="val 6742"/>
            </a:avLst>
          </a:prstGeom>
          <a:solidFill>
            <a:schemeClr val="bg1"/>
          </a:solidFill>
          <a:ln w="9525">
            <a:solidFill>
              <a:srgbClr val="E3DFD3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11274552" y="5600700"/>
            <a:ext cx="146304" cy="14630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8293608" y="5266944"/>
            <a:ext cx="2862072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fa-IR" altLang="en-US" sz="1400" dirty="0">
                <a:solidFill>
                  <a:schemeClr val="tx1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همان ترتیب پنج‌مرحله‌ای طراحی، اینجا اجرا می‌شود</a:t>
            </a:r>
            <a:endParaRPr lang="fa-IR" sz="17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"/>
          <p:cNvSpPr txBox="1"/>
          <p:nvPr/>
        </p:nvSpPr>
        <p:spPr>
          <a:xfrm>
            <a:off x="10680192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fa-IR" altLang="en-US" sz="1200" dirty="0">
                <a:solidFill>
                  <a:schemeClr val="accent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۳۵</a:t>
            </a:r>
            <a:endParaRPr lang="fa-IR" sz="1500" dirty="0"/>
          </a:p>
        </p:txBody>
      </p:sp>
      <p:sp>
        <p:nvSpPr>
          <p:cNvPr id="4" name="Text 1"/>
          <p:cNvSpPr txBox="1"/>
          <p:nvPr/>
        </p:nvSpPr>
        <p:spPr>
          <a:xfrm>
            <a:off x="4279392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fa-IR" altLang="en-US" sz="1200" b="1" dirty="0">
                <a:solidFill>
                  <a:schemeClr val="accent1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کد</a:t>
            </a:r>
            <a:endParaRPr lang="fa-IR" sz="1500" dirty="0"/>
          </a:p>
        </p:txBody>
      </p:sp>
      <p:sp>
        <p:nvSpPr>
          <p:cNvPr id="5" name="Text 2"/>
          <p:cNvSpPr txBox="1"/>
          <p:nvPr/>
        </p:nvSpPr>
        <p:spPr>
          <a:xfrm>
            <a:off x="2084832" y="640080"/>
            <a:ext cx="9509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 rtl="1">
              <a:buNone/>
            </a:pPr>
            <a:r>
              <a:rPr lang="fa-IR" altLang="en-US" sz="3000" b="1" dirty="0">
                <a:solidFill>
                  <a:schemeClr val="tx2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فرانت‌اند: بررسی و دیدن مدرک توسط کارفرما</a:t>
            </a:r>
            <a:endParaRPr lang="fa-IR" sz="3300" dirty="0"/>
          </a:p>
        </p:txBody>
      </p:sp>
      <p:sp>
        <p:nvSpPr>
          <p:cNvPr id="6" name="Code panel"/>
          <p:cNvSpPr/>
          <p:nvPr/>
        </p:nvSpPr>
        <p:spPr>
          <a:xfrm>
            <a:off x="594360" y="1645920"/>
            <a:ext cx="7315200" cy="4434840"/>
          </a:xfrm>
          <a:prstGeom prst="roundRect">
            <a:avLst>
              <a:gd name="adj" fmla="val 1649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77240" y="1737360"/>
            <a:ext cx="6949440" cy="4251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public part: anyone can look up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c = await credentialRegistry.getCredential(credentialId);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c.status computed live inside the contract</a:t>
            </a:r>
            <a:endParaRPr lang="en-US" sz="1200" dirty="0"/>
          </a:p>
          <a:p>
            <a:pPr marL="0" indent="0" algn="l">
              <a:buNone/>
            </a:pP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wrappedHex = await credentialRegistry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.getWrappedKey(credentialId, wallet.address);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setHasAccess(wrappedHex &amp;&amp; wrappedHex !== "0x");</a:t>
            </a:r>
            <a:endParaRPr lang="en-US" sz="1200" dirty="0"/>
          </a:p>
          <a:p>
            <a:pPr marL="0" indent="0" algn="l">
              <a:buNone/>
            </a:pP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private part: only if a wrapped key exists for me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wrapped = deserializeWrappedKey(wrappedHex);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aesKey = await unwrapKey(wrapped, encryption.keypair.privateKey);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packaged = await fetchFromStorage(c.ipfsCid);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plaintext = await decryptDocument(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packaged.slice(12), packaged.slice(0, 12), aesKey);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{ filename, bytes } = unpackWithFilename(plaintext);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downloadBytes(bytes, filename);</a:t>
            </a:r>
            <a:endParaRPr lang="en-US" sz="1200" dirty="0"/>
          </a:p>
        </p:txBody>
      </p:sp>
      <p:sp>
        <p:nvSpPr>
          <p:cNvPr id="8" name="Point 1"/>
          <p:cNvSpPr/>
          <p:nvPr/>
        </p:nvSpPr>
        <p:spPr>
          <a:xfrm>
            <a:off x="8183880" y="1645920"/>
            <a:ext cx="3410712" cy="813816"/>
          </a:xfrm>
          <a:prstGeom prst="roundRect">
            <a:avLst>
              <a:gd name="adj" fmla="val 6742"/>
            </a:avLst>
          </a:prstGeom>
          <a:solidFill>
            <a:schemeClr val="bg1"/>
          </a:solidFill>
          <a:ln w="9525">
            <a:solidFill>
              <a:srgbClr val="E3DFD3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1274552" y="1979676"/>
            <a:ext cx="146304" cy="14630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8293608" y="1645920"/>
            <a:ext cx="2862072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fa-IR" altLang="en-US" sz="1400" dirty="0">
                <a:solidFill>
                  <a:schemeClr val="tx1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بخش عمومی: همه می‌توانند وضعیت و مشخصات را ببینند</a:t>
            </a:r>
            <a:endParaRPr lang="fa-IR" sz="1700" dirty="0"/>
          </a:p>
        </p:txBody>
      </p:sp>
      <p:sp>
        <p:nvSpPr>
          <p:cNvPr id="11" name="Point 2"/>
          <p:cNvSpPr/>
          <p:nvPr/>
        </p:nvSpPr>
        <p:spPr>
          <a:xfrm>
            <a:off x="8183880" y="2551176"/>
            <a:ext cx="3410712" cy="813816"/>
          </a:xfrm>
          <a:prstGeom prst="roundRect">
            <a:avLst>
              <a:gd name="adj" fmla="val 6742"/>
            </a:avLst>
          </a:prstGeom>
          <a:solidFill>
            <a:schemeClr val="bg1"/>
          </a:solidFill>
          <a:ln w="9525">
            <a:solidFill>
              <a:srgbClr val="E3DFD3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1274552" y="2884932"/>
            <a:ext cx="146304" cy="14630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8293608" y="2551176"/>
            <a:ext cx="2862072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fa-IR" altLang="en-US" sz="1400" dirty="0">
                <a:solidFill>
                  <a:schemeClr val="tx1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دسترسی یعنی وجود یک کلید قفل‌شده برای آدرس شما</a:t>
            </a:r>
            <a:endParaRPr lang="fa-IR" sz="1700" dirty="0"/>
          </a:p>
        </p:txBody>
      </p:sp>
      <p:sp>
        <p:nvSpPr>
          <p:cNvPr id="14" name="Point 3"/>
          <p:cNvSpPr/>
          <p:nvPr/>
        </p:nvSpPr>
        <p:spPr>
          <a:xfrm>
            <a:off x="8183880" y="3456432"/>
            <a:ext cx="3410712" cy="813816"/>
          </a:xfrm>
          <a:prstGeom prst="roundRect">
            <a:avLst>
              <a:gd name="adj" fmla="val 6742"/>
            </a:avLst>
          </a:prstGeom>
          <a:solidFill>
            <a:schemeClr val="bg1"/>
          </a:solidFill>
          <a:ln w="9525">
            <a:solidFill>
              <a:srgbClr val="E3DFD3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11274552" y="3790188"/>
            <a:ext cx="146304" cy="14630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293608" y="3456432"/>
            <a:ext cx="2862072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fa-IR" altLang="en-US" sz="1400" dirty="0">
                <a:solidFill>
                  <a:schemeClr val="tx1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کلید خصوصی از امضای کیف‌پول در همان لحظه ساخته می‌شود</a:t>
            </a:r>
            <a:endParaRPr lang="fa-IR" sz="1700" dirty="0"/>
          </a:p>
        </p:txBody>
      </p:sp>
      <p:sp>
        <p:nvSpPr>
          <p:cNvPr id="17" name="Point 4"/>
          <p:cNvSpPr/>
          <p:nvPr/>
        </p:nvSpPr>
        <p:spPr>
          <a:xfrm>
            <a:off x="8183880" y="4361688"/>
            <a:ext cx="3410712" cy="813816"/>
          </a:xfrm>
          <a:prstGeom prst="roundRect">
            <a:avLst>
              <a:gd name="adj" fmla="val 6742"/>
            </a:avLst>
          </a:prstGeom>
          <a:solidFill>
            <a:schemeClr val="bg1"/>
          </a:solidFill>
          <a:ln w="9525">
            <a:solidFill>
              <a:srgbClr val="E3DFD3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11274552" y="4695444"/>
            <a:ext cx="146304" cy="14630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8293608" y="4361688"/>
            <a:ext cx="2862072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fa-IR" altLang="en-US" sz="1400" dirty="0">
                <a:solidFill>
                  <a:schemeClr val="tx1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بعد از رمزگشایی، نام و پسوند اصلی فایل بازیابی می‌شود</a:t>
            </a:r>
            <a:endParaRPr lang="fa-IR" sz="1700" dirty="0"/>
          </a:p>
        </p:txBody>
      </p:sp>
      <p:sp>
        <p:nvSpPr>
          <p:cNvPr id="20" name="Point 5"/>
          <p:cNvSpPr/>
          <p:nvPr/>
        </p:nvSpPr>
        <p:spPr>
          <a:xfrm>
            <a:off x="8183880" y="5266944"/>
            <a:ext cx="3410712" cy="813816"/>
          </a:xfrm>
          <a:prstGeom prst="roundRect">
            <a:avLst>
              <a:gd name="adj" fmla="val 6742"/>
            </a:avLst>
          </a:prstGeom>
          <a:solidFill>
            <a:schemeClr val="bg1"/>
          </a:solidFill>
          <a:ln w="9525">
            <a:solidFill>
              <a:srgbClr val="E3DFD3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11274552" y="5600700"/>
            <a:ext cx="146304" cy="14630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8293608" y="5266944"/>
            <a:ext cx="2862072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fa-IR" altLang="en-US" sz="1400" dirty="0">
                <a:solidFill>
                  <a:schemeClr val="tx1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هر مرحله اگر دستکاری شده باشد با خطا متوقف می‌شود</a:t>
            </a:r>
            <a:endParaRPr lang="fa-IR" sz="17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"/>
          <p:cNvSpPr txBox="1"/>
          <p:nvPr/>
        </p:nvSpPr>
        <p:spPr>
          <a:xfrm>
            <a:off x="10680192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fa-IR" altLang="en-US" sz="1200" dirty="0">
                <a:solidFill>
                  <a:schemeClr val="accent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۳۶</a:t>
            </a:r>
            <a:endParaRPr lang="fa-IR" sz="1500" dirty="0"/>
          </a:p>
        </p:txBody>
      </p:sp>
      <p:sp>
        <p:nvSpPr>
          <p:cNvPr id="4" name="Text 1"/>
          <p:cNvSpPr txBox="1"/>
          <p:nvPr/>
        </p:nvSpPr>
        <p:spPr>
          <a:xfrm>
            <a:off x="4279392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fa-IR" altLang="en-US" sz="1200" b="1" dirty="0">
                <a:solidFill>
                  <a:schemeClr val="accent1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کد</a:t>
            </a:r>
            <a:endParaRPr lang="fa-IR" sz="1500" dirty="0"/>
          </a:p>
        </p:txBody>
      </p:sp>
      <p:sp>
        <p:nvSpPr>
          <p:cNvPr id="5" name="Text 2"/>
          <p:cNvSpPr txBox="1"/>
          <p:nvPr/>
        </p:nvSpPr>
        <p:spPr>
          <a:xfrm>
            <a:off x="2084832" y="640080"/>
            <a:ext cx="9509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 rtl="1">
              <a:buNone/>
            </a:pPr>
            <a:r>
              <a:rPr lang="fa-IR" altLang="en-US" sz="3000" b="1" dirty="0">
                <a:solidFill>
                  <a:schemeClr val="tx2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استقرار: اسکریپت Deploy و اتصال فرانت‌اند</a:t>
            </a:r>
            <a:endParaRPr lang="fa-IR" sz="3300" dirty="0"/>
          </a:p>
        </p:txBody>
      </p:sp>
      <p:sp>
        <p:nvSpPr>
          <p:cNvPr id="6" name="Code panel"/>
          <p:cNvSpPr/>
          <p:nvPr/>
        </p:nvSpPr>
        <p:spPr>
          <a:xfrm>
            <a:off x="594360" y="1645920"/>
            <a:ext cx="7315200" cy="4434840"/>
          </a:xfrm>
          <a:prstGeom prst="roundRect">
            <a:avLst>
              <a:gd name="adj" fmla="val 1649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77240" y="1737360"/>
            <a:ext cx="6949440" cy="4251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Deploy.s.sol  (Foundry)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vm.startBroadcast(deployerPrivateKey);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accessControl = new AccessControlRegistry(deployer);   // Admin = deployer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credentialRegistry = new CredentialRegistry(address(accessControl));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vm.stopBroadcast();</a:t>
            </a:r>
            <a:endParaRPr lang="en-US" sz="1200" dirty="0"/>
          </a:p>
          <a:p>
            <a:pPr marL="0" indent="0" algn="l">
              <a:buNone/>
            </a:pP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frontend/.env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VITE_ACCESS_CONTROL_REGISTRY_ADDRESS=0x...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VITE_CREDENTIAL_REGISTRY_ADDRESS=0x...</a:t>
            </a:r>
            <a:endParaRPr lang="en-US" sz="1200" dirty="0"/>
          </a:p>
          <a:p>
            <a:pPr marL="0" indent="0" algn="l">
              <a:buNone/>
            </a:pP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contracts.js — only the functions the app calls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 const CREDENTIAL_REGISTRY_ABI = [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"function issueCredential(address owner, string ipfsCid, ...)",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"function getStatus(bytes32 id) view returns (uint8)",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...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];</a:t>
            </a:r>
            <a:endParaRPr lang="en-US" sz="1200" dirty="0"/>
          </a:p>
        </p:txBody>
      </p:sp>
      <p:sp>
        <p:nvSpPr>
          <p:cNvPr id="8" name="Point 1"/>
          <p:cNvSpPr/>
          <p:nvPr/>
        </p:nvSpPr>
        <p:spPr>
          <a:xfrm>
            <a:off x="8183880" y="1645920"/>
            <a:ext cx="3410712" cy="868680"/>
          </a:xfrm>
          <a:prstGeom prst="roundRect">
            <a:avLst>
              <a:gd name="adj" fmla="val 6316"/>
            </a:avLst>
          </a:prstGeom>
          <a:solidFill>
            <a:schemeClr val="bg1"/>
          </a:solidFill>
          <a:ln w="9525">
            <a:solidFill>
              <a:srgbClr val="E3DFD3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1274552" y="2007108"/>
            <a:ext cx="146304" cy="14630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8293608" y="1645920"/>
            <a:ext cx="28620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fa-IR" altLang="en-US" sz="1400" dirty="0">
                <a:solidFill>
                  <a:schemeClr val="tx1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ترتیب استقرار ثابت است: اول قرارداد مجوزها، بعد قرارداد مدارک</a:t>
            </a:r>
            <a:endParaRPr lang="fa-IR" sz="1700" dirty="0"/>
          </a:p>
        </p:txBody>
      </p:sp>
      <p:sp>
        <p:nvSpPr>
          <p:cNvPr id="11" name="Point 2"/>
          <p:cNvSpPr/>
          <p:nvPr/>
        </p:nvSpPr>
        <p:spPr>
          <a:xfrm>
            <a:off x="8183880" y="2606040"/>
            <a:ext cx="3410712" cy="868680"/>
          </a:xfrm>
          <a:prstGeom prst="roundRect">
            <a:avLst>
              <a:gd name="adj" fmla="val 6316"/>
            </a:avLst>
          </a:prstGeom>
          <a:solidFill>
            <a:schemeClr val="bg1"/>
          </a:solidFill>
          <a:ln w="9525">
            <a:solidFill>
              <a:srgbClr val="E3DFD3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1274552" y="2967228"/>
            <a:ext cx="146304" cy="14630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8293608" y="2606040"/>
            <a:ext cx="28620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fa-IR" altLang="en-US" sz="1400" dirty="0">
                <a:solidFill>
                  <a:schemeClr val="tx1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مستقر‌کننده خودکار Admin می‌شود</a:t>
            </a:r>
            <a:endParaRPr lang="fa-IR" sz="1700" dirty="0"/>
          </a:p>
        </p:txBody>
      </p:sp>
      <p:sp>
        <p:nvSpPr>
          <p:cNvPr id="14" name="Point 3"/>
          <p:cNvSpPr/>
          <p:nvPr/>
        </p:nvSpPr>
        <p:spPr>
          <a:xfrm>
            <a:off x="8183880" y="3566160"/>
            <a:ext cx="3410712" cy="868680"/>
          </a:xfrm>
          <a:prstGeom prst="roundRect">
            <a:avLst>
              <a:gd name="adj" fmla="val 6316"/>
            </a:avLst>
          </a:prstGeom>
          <a:solidFill>
            <a:schemeClr val="bg1"/>
          </a:solidFill>
          <a:ln w="9525">
            <a:solidFill>
              <a:srgbClr val="E3DFD3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11274552" y="3927348"/>
            <a:ext cx="146304" cy="14630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293608" y="3566160"/>
            <a:ext cx="28620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fa-IR" altLang="en-US" sz="1400" dirty="0">
                <a:solidFill>
                  <a:schemeClr val="tx1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آدرس‌ها در متغیرهای محیطی ذخیره می‌شوند، نه داخل کد</a:t>
            </a:r>
            <a:endParaRPr lang="fa-IR" sz="1700" dirty="0"/>
          </a:p>
        </p:txBody>
      </p:sp>
      <p:sp>
        <p:nvSpPr>
          <p:cNvPr id="17" name="Point 4"/>
          <p:cNvSpPr/>
          <p:nvPr/>
        </p:nvSpPr>
        <p:spPr>
          <a:xfrm>
            <a:off x="8183880" y="4526280"/>
            <a:ext cx="3410712" cy="868680"/>
          </a:xfrm>
          <a:prstGeom prst="roundRect">
            <a:avLst>
              <a:gd name="adj" fmla="val 6316"/>
            </a:avLst>
          </a:prstGeom>
          <a:solidFill>
            <a:schemeClr val="bg1"/>
          </a:solidFill>
          <a:ln w="9525">
            <a:solidFill>
              <a:srgbClr val="E3DFD3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11274552" y="4887468"/>
            <a:ext cx="146304" cy="14630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8293608" y="4526280"/>
            <a:ext cx="28620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fa-IR" altLang="en-US" sz="1400" dirty="0">
                <a:solidFill>
                  <a:schemeClr val="tx1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ABI یعنی «فهرست توابع قرارداد» که فرانت‌اند به آن نیاز دارد</a:t>
            </a:r>
            <a:endParaRPr lang="fa-IR" sz="17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-1371600" y="-1371600"/>
            <a:ext cx="4114800" cy="4114800"/>
          </a:xfrm>
          <a:prstGeom prst="ellipse">
            <a:avLst/>
          </a:prstGeom>
          <a:solidFill>
            <a:schemeClr val="accent1">
              <a:alpha val="30000"/>
            </a:schemeClr>
          </a:solidFill>
          <a:ln w="12700">
            <a:solidFill>
              <a:schemeClr val="accent1">
                <a:alpha val="30000"/>
              </a:schemeClr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2450592" y="2468880"/>
            <a:ext cx="9144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fa-IR" altLang="en-US" sz="4800" b="1" dirty="0">
                <a:solidFill>
                  <a:schemeClr val="bg1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تست، استقرار و دمو</a:t>
            </a:r>
            <a:endParaRPr lang="fa-IR" sz="5100" dirty="0"/>
          </a:p>
        </p:txBody>
      </p:sp>
      <p:sp>
        <p:nvSpPr>
          <p:cNvPr id="5" name="Text 2"/>
          <p:cNvSpPr txBox="1"/>
          <p:nvPr/>
        </p:nvSpPr>
        <p:spPr>
          <a:xfrm>
            <a:off x="2450592" y="365760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fa-IR" altLang="en-US" sz="2200" dirty="0">
                <a:solidFill>
                  <a:schemeClr val="accent2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۶۴ تست · Arbitrum Sepolia · نمایش زنده</a:t>
            </a:r>
            <a:endParaRPr lang="fa-IR" sz="25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"/>
          <p:cNvSpPr txBox="1"/>
          <p:nvPr/>
        </p:nvSpPr>
        <p:spPr>
          <a:xfrm>
            <a:off x="10680192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fa-IR" altLang="en-US" sz="1200" dirty="0">
                <a:solidFill>
                  <a:schemeClr val="accent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۳۸</a:t>
            </a:r>
            <a:endParaRPr lang="fa-IR" sz="1500" dirty="0"/>
          </a:p>
        </p:txBody>
      </p:sp>
      <p:sp>
        <p:nvSpPr>
          <p:cNvPr id="4" name="Text 1"/>
          <p:cNvSpPr txBox="1"/>
          <p:nvPr/>
        </p:nvSpPr>
        <p:spPr>
          <a:xfrm>
            <a:off x="4279392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fa-IR" altLang="en-US" sz="1200" b="1" dirty="0">
                <a:solidFill>
                  <a:schemeClr val="accent1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تست و استقرار</a:t>
            </a:r>
            <a:endParaRPr lang="fa-IR" sz="1500" dirty="0"/>
          </a:p>
        </p:txBody>
      </p:sp>
      <p:sp>
        <p:nvSpPr>
          <p:cNvPr id="5" name="Text 2"/>
          <p:cNvSpPr txBox="1"/>
          <p:nvPr/>
        </p:nvSpPr>
        <p:spPr>
          <a:xfrm>
            <a:off x="2084832" y="640080"/>
            <a:ext cx="9509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 rtl="1">
              <a:buNone/>
            </a:pPr>
            <a:r>
              <a:rPr lang="fa-IR" altLang="en-US" sz="3000" b="1" dirty="0">
                <a:solidFill>
                  <a:schemeClr val="tx2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استراتژی تست: ۶۴ تست موفق</a:t>
            </a:r>
            <a:endParaRPr lang="fa-IR" sz="3300" dirty="0"/>
          </a:p>
        </p:txBody>
      </p:sp>
      <p:sp>
        <p:nvSpPr>
          <p:cNvPr id="6" name="Icon circle"/>
          <p:cNvSpPr/>
          <p:nvPr/>
        </p:nvSpPr>
        <p:spPr>
          <a:xfrm>
            <a:off x="594360" y="502920"/>
            <a:ext cx="777240" cy="7772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7" name="Icon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8" y="704088"/>
            <a:ext cx="374904" cy="374904"/>
          </a:xfrm>
          <a:prstGeom prst="rect">
            <a:avLst/>
          </a:prstGeom>
        </p:spPr>
      </p:pic>
      <p:sp>
        <p:nvSpPr>
          <p:cNvPr id="8" name="Card 1"/>
          <p:cNvSpPr/>
          <p:nvPr/>
        </p:nvSpPr>
        <p:spPr>
          <a:xfrm>
            <a:off x="6231636" y="1691640"/>
            <a:ext cx="5362956" cy="2057400"/>
          </a:xfrm>
          <a:prstGeom prst="roundRect">
            <a:avLst>
              <a:gd name="adj" fmla="val 4444"/>
            </a:avLst>
          </a:prstGeom>
          <a:solidFill>
            <a:schemeClr val="bg1"/>
          </a:solidFill>
          <a:ln w="9525">
            <a:solidFill>
              <a:srgbClr val="E3DFD3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10908792" y="1920240"/>
            <a:ext cx="438912" cy="43891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10908792" y="192024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a-IR" altLang="en-US" sz="1500" b="1" dirty="0">
                <a:solidFill>
                  <a:schemeClr val="bg1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۱</a:t>
            </a:r>
            <a:endParaRPr lang="fa-IR" sz="1800" dirty="0"/>
          </a:p>
        </p:txBody>
      </p:sp>
      <p:sp>
        <p:nvSpPr>
          <p:cNvPr id="11" name="Text 7"/>
          <p:cNvSpPr txBox="1"/>
          <p:nvPr/>
        </p:nvSpPr>
        <p:spPr>
          <a:xfrm>
            <a:off x="6505956" y="1920240"/>
            <a:ext cx="42656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fa-IR" altLang="en-US" sz="2200" b="1" dirty="0">
                <a:solidFill>
                  <a:schemeClr val="tx2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تست واحد: ۵۰ تست</a:t>
            </a:r>
            <a:endParaRPr lang="fa-IR" sz="2500" dirty="0"/>
          </a:p>
        </p:txBody>
      </p:sp>
      <p:sp>
        <p:nvSpPr>
          <p:cNvPr id="12" name="Text 8"/>
          <p:cNvSpPr txBox="1"/>
          <p:nvPr/>
        </p:nvSpPr>
        <p:spPr>
          <a:xfrm>
            <a:off x="6505956" y="2514600"/>
            <a:ext cx="481431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 rtl="1">
              <a:buNone/>
            </a:pPr>
            <a:r>
              <a:rPr lang="fa-IR" altLang="en-US" sz="2000" dirty="0">
                <a:solidFill>
                  <a:schemeClr val="tx1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هر تابع جداگانه: حالت درست و تمام خطاهای ممکن؛ با Mock برای جداسازی</a:t>
            </a:r>
            <a:endParaRPr lang="fa-IR" sz="2300" dirty="0"/>
          </a:p>
        </p:txBody>
      </p:sp>
      <p:sp>
        <p:nvSpPr>
          <p:cNvPr id="13" name="Card 2"/>
          <p:cNvSpPr/>
          <p:nvPr/>
        </p:nvSpPr>
        <p:spPr>
          <a:xfrm>
            <a:off x="594360" y="1691640"/>
            <a:ext cx="5362956" cy="2057400"/>
          </a:xfrm>
          <a:prstGeom prst="roundRect">
            <a:avLst>
              <a:gd name="adj" fmla="val 4444"/>
            </a:avLst>
          </a:prstGeom>
          <a:solidFill>
            <a:schemeClr val="bg1"/>
          </a:solidFill>
          <a:ln w="9525">
            <a:solidFill>
              <a:srgbClr val="E3DFD3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5271516" y="1920240"/>
            <a:ext cx="438912" cy="43891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5271516" y="192024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a-IR" altLang="en-US" sz="1500" b="1" dirty="0">
                <a:solidFill>
                  <a:schemeClr val="bg1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۲</a:t>
            </a:r>
            <a:endParaRPr lang="fa-IR" sz="1800" dirty="0"/>
          </a:p>
        </p:txBody>
      </p:sp>
      <p:sp>
        <p:nvSpPr>
          <p:cNvPr id="16" name="Text 12"/>
          <p:cNvSpPr txBox="1"/>
          <p:nvPr/>
        </p:nvSpPr>
        <p:spPr>
          <a:xfrm>
            <a:off x="868680" y="1920240"/>
            <a:ext cx="42656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fa-IR" altLang="en-US" sz="2200" b="1" dirty="0">
                <a:solidFill>
                  <a:schemeClr val="tx2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تست فازی: ۶ تست</a:t>
            </a:r>
            <a:endParaRPr lang="fa-IR" sz="2500" dirty="0"/>
          </a:p>
        </p:txBody>
      </p:sp>
      <p:sp>
        <p:nvSpPr>
          <p:cNvPr id="17" name="Text 13"/>
          <p:cNvSpPr txBox="1"/>
          <p:nvPr/>
        </p:nvSpPr>
        <p:spPr>
          <a:xfrm>
            <a:off x="868680" y="2514600"/>
            <a:ext cx="481431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 rtl="1">
              <a:buNone/>
            </a:pPr>
            <a:r>
              <a:rPr lang="fa-IR" altLang="en-US" sz="2000" dirty="0">
                <a:solidFill>
                  <a:schemeClr val="tx1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ورودی‌های تصادفی؛ هر تست ۲۵۶ بار با ورودی متفاوت اجرا می‌شود</a:t>
            </a:r>
            <a:endParaRPr lang="fa-IR" sz="2300" dirty="0"/>
          </a:p>
        </p:txBody>
      </p:sp>
      <p:sp>
        <p:nvSpPr>
          <p:cNvPr id="18" name="Card 3"/>
          <p:cNvSpPr/>
          <p:nvPr/>
        </p:nvSpPr>
        <p:spPr>
          <a:xfrm>
            <a:off x="6231636" y="4023360"/>
            <a:ext cx="5362956" cy="2057400"/>
          </a:xfrm>
          <a:prstGeom prst="roundRect">
            <a:avLst>
              <a:gd name="adj" fmla="val 4444"/>
            </a:avLst>
          </a:prstGeom>
          <a:solidFill>
            <a:schemeClr val="bg1"/>
          </a:solidFill>
          <a:ln w="9525">
            <a:solidFill>
              <a:srgbClr val="E3DFD3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10908792" y="4251960"/>
            <a:ext cx="438912" cy="43891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10908792" y="425196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a-IR" altLang="en-US" sz="1500" b="1" dirty="0">
                <a:solidFill>
                  <a:schemeClr val="bg1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۳</a:t>
            </a:r>
            <a:endParaRPr lang="fa-IR" sz="1800" dirty="0"/>
          </a:p>
        </p:txBody>
      </p:sp>
      <p:sp>
        <p:nvSpPr>
          <p:cNvPr id="21" name="Text 17"/>
          <p:cNvSpPr txBox="1"/>
          <p:nvPr/>
        </p:nvSpPr>
        <p:spPr>
          <a:xfrm>
            <a:off x="6505956" y="4251960"/>
            <a:ext cx="42656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fa-IR" altLang="en-US" sz="2200" b="1" dirty="0">
                <a:solidFill>
                  <a:schemeClr val="tx2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تست ناوردا: ۴ تست</a:t>
            </a:r>
            <a:endParaRPr lang="fa-IR" sz="2500" dirty="0"/>
          </a:p>
        </p:txBody>
      </p:sp>
      <p:sp>
        <p:nvSpPr>
          <p:cNvPr id="22" name="Text 18"/>
          <p:cNvSpPr txBox="1"/>
          <p:nvPr/>
        </p:nvSpPr>
        <p:spPr>
          <a:xfrm>
            <a:off x="6505956" y="4846320"/>
            <a:ext cx="481431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 rtl="1">
              <a:buNone/>
            </a:pPr>
            <a:r>
              <a:rPr lang="fa-IR" altLang="en-US" sz="2000" dirty="0">
                <a:solidFill>
                  <a:schemeClr val="tx1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هزاران توالی تصادفی از عملیات، و بررسی اینکه قوانین هرگز نقض نشوند</a:t>
            </a:r>
            <a:endParaRPr lang="fa-IR" sz="2300" dirty="0"/>
          </a:p>
        </p:txBody>
      </p:sp>
      <p:sp>
        <p:nvSpPr>
          <p:cNvPr id="23" name="Card 4"/>
          <p:cNvSpPr/>
          <p:nvPr/>
        </p:nvSpPr>
        <p:spPr>
          <a:xfrm>
            <a:off x="594360" y="4023360"/>
            <a:ext cx="5362956" cy="2057400"/>
          </a:xfrm>
          <a:prstGeom prst="roundRect">
            <a:avLst>
              <a:gd name="adj" fmla="val 4444"/>
            </a:avLst>
          </a:prstGeom>
          <a:solidFill>
            <a:schemeClr val="bg1"/>
          </a:solidFill>
          <a:ln w="9525">
            <a:solidFill>
              <a:srgbClr val="E3DFD3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5271516" y="4251960"/>
            <a:ext cx="438912" cy="43891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5" name="Text 21"/>
          <p:cNvSpPr txBox="1"/>
          <p:nvPr/>
        </p:nvSpPr>
        <p:spPr>
          <a:xfrm>
            <a:off x="5271516" y="425196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a-IR" altLang="en-US" sz="1500" b="1" dirty="0">
                <a:solidFill>
                  <a:schemeClr val="bg1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۴</a:t>
            </a:r>
            <a:endParaRPr lang="fa-IR" sz="1800" dirty="0"/>
          </a:p>
        </p:txBody>
      </p:sp>
      <p:sp>
        <p:nvSpPr>
          <p:cNvPr id="26" name="Text 22"/>
          <p:cNvSpPr txBox="1"/>
          <p:nvPr/>
        </p:nvSpPr>
        <p:spPr>
          <a:xfrm>
            <a:off x="868680" y="4251960"/>
            <a:ext cx="42656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fa-IR" altLang="en-US" sz="2200" b="1" dirty="0">
                <a:solidFill>
                  <a:schemeClr val="tx2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تست یکپارچه: ۴ تست</a:t>
            </a:r>
            <a:endParaRPr lang="fa-IR" sz="2500" dirty="0"/>
          </a:p>
        </p:txBody>
      </p:sp>
      <p:sp>
        <p:nvSpPr>
          <p:cNvPr id="27" name="Text 23"/>
          <p:cNvSpPr txBox="1"/>
          <p:nvPr/>
        </p:nvSpPr>
        <p:spPr>
          <a:xfrm>
            <a:off x="868680" y="4846320"/>
            <a:ext cx="481431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 rtl="1">
              <a:buNone/>
            </a:pPr>
            <a:r>
              <a:rPr lang="fa-IR" altLang="en-US" sz="2000" dirty="0">
                <a:solidFill>
                  <a:schemeClr val="tx1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سناریوی کامل صدور تا بررسی، با هر دو قرارداد واقعی</a:t>
            </a:r>
            <a:endParaRPr lang="fa-IR" sz="23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"/>
          <p:cNvSpPr txBox="1"/>
          <p:nvPr/>
        </p:nvSpPr>
        <p:spPr>
          <a:xfrm>
            <a:off x="10680192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fa-IR" altLang="en-US" sz="1200" dirty="0">
                <a:solidFill>
                  <a:schemeClr val="accent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۳۹</a:t>
            </a:r>
            <a:endParaRPr lang="fa-IR" sz="1500" dirty="0"/>
          </a:p>
        </p:txBody>
      </p:sp>
      <p:sp>
        <p:nvSpPr>
          <p:cNvPr id="4" name="Text 1"/>
          <p:cNvSpPr txBox="1"/>
          <p:nvPr/>
        </p:nvSpPr>
        <p:spPr>
          <a:xfrm>
            <a:off x="4279392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fa-IR" altLang="en-US" sz="1200" b="1" dirty="0">
                <a:solidFill>
                  <a:schemeClr val="accent1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تست و استقرار</a:t>
            </a:r>
            <a:endParaRPr lang="fa-IR" sz="1500" dirty="0"/>
          </a:p>
        </p:txBody>
      </p:sp>
      <p:sp>
        <p:nvSpPr>
          <p:cNvPr id="5" name="Text 2"/>
          <p:cNvSpPr txBox="1"/>
          <p:nvPr/>
        </p:nvSpPr>
        <p:spPr>
          <a:xfrm>
            <a:off x="2084832" y="640080"/>
            <a:ext cx="9509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 rtl="1">
              <a:buNone/>
            </a:pPr>
            <a:r>
              <a:rPr lang="fa-IR" altLang="en-US" sz="3000" b="1" dirty="0">
                <a:solidFill>
                  <a:schemeClr val="tx2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استقرار روی شبکه‌ی واقعی Arbitrum Sepolia</a:t>
            </a:r>
            <a:endParaRPr lang="fa-IR" sz="3300" dirty="0"/>
          </a:p>
        </p:txBody>
      </p:sp>
      <p:graphicFrame>
        <p:nvGraphicFramePr>
          <p:cNvPr id="40" name="Data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737360"/>
          <a:ext cx="11000232" cy="3840480"/>
        </p:xfrm>
        <a:graphic>
          <a:graphicData uri="http://schemas.openxmlformats.org/drawingml/2006/table">
            <a:tbl>
              <a:tblPr/>
              <a:tblGrid>
                <a:gridCol w="68201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800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marL="0" indent="0" algn="r" rtl="1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  <a:latin typeface="Vazirmatn" pitchFamily="34" charset="0"/>
                          <a:ea typeface="Vazirmatn" pitchFamily="34" charset="-122"/>
                          <a:cs typeface="Vazirmatn" pitchFamily="34" charset="-120"/>
                        </a:rPr>
                        <a:t>مقدار</a:t>
                      </a:r>
                      <a:endParaRPr lang="en-US" sz="1800" dirty="0">
                        <a:latin typeface="Vazirmatn" charset="0"/>
                        <a:ea typeface="Vazirmatn" charset="0"/>
                        <a:cs typeface="Vazirmatn" charset="0"/>
                      </a:endParaRPr>
                    </a:p>
                  </a:txBody>
                  <a:tcPr marL="137160" marR="137160" anchor="ctr">
                    <a:lnL w="9525" cap="flat" cmpd="sng" algn="ctr">
                      <a:solidFill>
                        <a:srgbClr val="E3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 rtl="1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  <a:latin typeface="Vazirmatn" pitchFamily="34" charset="0"/>
                          <a:ea typeface="Vazirmatn" pitchFamily="34" charset="-122"/>
                          <a:cs typeface="Vazirmatn" pitchFamily="34" charset="-120"/>
                        </a:rPr>
                        <a:t>مورد</a:t>
                      </a:r>
                      <a:endParaRPr lang="en-US" sz="1800" dirty="0">
                        <a:latin typeface="Vazirmatn" charset="0"/>
                        <a:ea typeface="Vazirmatn" charset="0"/>
                        <a:cs typeface="Vazirmatn" charset="0"/>
                      </a:endParaRPr>
                    </a:p>
                  </a:txBody>
                  <a:tcPr marL="137160" marR="137160" anchor="ctr">
                    <a:lnL w="9525" cap="flat" cmpd="sng" algn="ctr">
                      <a:solidFill>
                        <a:srgbClr val="E3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Vazirmatn" pitchFamily="34" charset="0"/>
                          <a:ea typeface="Vazirmatn" pitchFamily="34" charset="-122"/>
                          <a:cs typeface="Vazirmatn" pitchFamily="34" charset="-120"/>
                        </a:rPr>
                        <a:t>Arbitrum Sepolia (chain ID 421614)</a:t>
                      </a:r>
                      <a:endParaRPr lang="en-US" sz="1800" dirty="0">
                        <a:latin typeface="Vazirmatn" charset="0"/>
                        <a:ea typeface="Vazirmatn" charset="0"/>
                        <a:cs typeface="Vazirmatn" charset="0"/>
                      </a:endParaRPr>
                    </a:p>
                  </a:txBody>
                  <a:tcPr marL="137160" marR="137160" anchor="ctr">
                    <a:lnL w="9525" cap="flat" cmpd="sng" algn="ctr">
                      <a:solidFill>
                        <a:srgbClr val="E3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 rtl="1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  <a:latin typeface="Vazirmatn" pitchFamily="34" charset="0"/>
                          <a:ea typeface="Vazirmatn" pitchFamily="34" charset="-122"/>
                          <a:cs typeface="Vazirmatn" pitchFamily="34" charset="-120"/>
                        </a:rPr>
                        <a:t>شبکه</a:t>
                      </a:r>
                      <a:endParaRPr lang="en-US" sz="1800" dirty="0">
                        <a:latin typeface="Vazirmatn" charset="0"/>
                        <a:ea typeface="Vazirmatn" charset="0"/>
                        <a:cs typeface="Vazirmatn" charset="0"/>
                      </a:endParaRPr>
                    </a:p>
                  </a:txBody>
                  <a:tcPr marL="137160" marR="137160" anchor="ctr">
                    <a:lnL w="9525" cap="flat" cmpd="sng" algn="ctr">
                      <a:solidFill>
                        <a:srgbClr val="E3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Vazirmatn" pitchFamily="34" charset="0"/>
                          <a:ea typeface="Vazirmatn" pitchFamily="34" charset="-122"/>
                          <a:cs typeface="Vazirmatn" pitchFamily="34" charset="-120"/>
                        </a:rPr>
                        <a:t>0xf91a608c8584bBA45D771F29b3ABBe78796bEF60</a:t>
                      </a:r>
                      <a:endParaRPr lang="en-US" sz="1800" dirty="0">
                        <a:latin typeface="Vazirmatn" charset="0"/>
                        <a:ea typeface="Vazirmatn" charset="0"/>
                        <a:cs typeface="Vazirmatn" charset="0"/>
                      </a:endParaRPr>
                    </a:p>
                  </a:txBody>
                  <a:tcPr marL="137160" marR="137160" anchor="ctr">
                    <a:lnL w="9525" cap="flat" cmpd="sng" algn="ctr">
                      <a:solidFill>
                        <a:srgbClr val="E3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  <a:latin typeface="Vazirmatn" pitchFamily="34" charset="0"/>
                          <a:ea typeface="Vazirmatn" pitchFamily="34" charset="-122"/>
                          <a:cs typeface="Vazirmatn" pitchFamily="34" charset="-120"/>
                        </a:rPr>
                        <a:t>AccessControlRegistry</a:t>
                      </a:r>
                      <a:endParaRPr lang="en-US" sz="1800" dirty="0">
                        <a:latin typeface="Vazirmatn" charset="0"/>
                        <a:ea typeface="Vazirmatn" charset="0"/>
                        <a:cs typeface="Vazirmatn" charset="0"/>
                      </a:endParaRPr>
                    </a:p>
                  </a:txBody>
                  <a:tcPr marL="137160" marR="137160" anchor="ctr">
                    <a:lnL w="9525" cap="flat" cmpd="sng" algn="ctr">
                      <a:solidFill>
                        <a:srgbClr val="E3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Vazirmatn" pitchFamily="34" charset="0"/>
                          <a:ea typeface="Vazirmatn" pitchFamily="34" charset="-122"/>
                          <a:cs typeface="Vazirmatn" pitchFamily="34" charset="-120"/>
                        </a:rPr>
                        <a:t>0xDb02DC28122b841F02EF82ff624CA6afB0334CfB</a:t>
                      </a:r>
                      <a:endParaRPr lang="en-US" sz="1800" dirty="0">
                        <a:latin typeface="Vazirmatn" charset="0"/>
                        <a:ea typeface="Vazirmatn" charset="0"/>
                        <a:cs typeface="Vazirmatn" charset="0"/>
                      </a:endParaRPr>
                    </a:p>
                  </a:txBody>
                  <a:tcPr marL="137160" marR="137160" anchor="ctr">
                    <a:lnL w="9525" cap="flat" cmpd="sng" algn="ctr">
                      <a:solidFill>
                        <a:srgbClr val="E3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  <a:latin typeface="Vazirmatn" pitchFamily="34" charset="0"/>
                          <a:ea typeface="Vazirmatn" pitchFamily="34" charset="-122"/>
                          <a:cs typeface="Vazirmatn" pitchFamily="34" charset="-120"/>
                        </a:rPr>
                        <a:t>CredentialRegistry</a:t>
                      </a:r>
                      <a:endParaRPr lang="en-US" sz="1800" dirty="0">
                        <a:latin typeface="Vazirmatn" charset="0"/>
                        <a:ea typeface="Vazirmatn" charset="0"/>
                        <a:cs typeface="Vazirmatn" charset="0"/>
                      </a:endParaRPr>
                    </a:p>
                  </a:txBody>
                  <a:tcPr marL="137160" marR="137160" anchor="ctr">
                    <a:lnL w="9525" cap="flat" cmpd="sng" algn="ctr">
                      <a:solidFill>
                        <a:srgbClr val="E3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r" rtl="1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Vazirmatn" pitchFamily="34" charset="0"/>
                          <a:ea typeface="Vazirmatn" pitchFamily="34" charset="-122"/>
                          <a:cs typeface="Vazirmatn" pitchFamily="34" charset="-120"/>
                        </a:rPr>
                        <a:t>مستقر‌شده روی Vercel</a:t>
                      </a:r>
                      <a:endParaRPr lang="en-US" sz="1800" dirty="0">
                        <a:latin typeface="Vazirmatn" charset="0"/>
                        <a:ea typeface="Vazirmatn" charset="0"/>
                        <a:cs typeface="Vazirmatn" charset="0"/>
                      </a:endParaRPr>
                    </a:p>
                  </a:txBody>
                  <a:tcPr marL="137160" marR="137160" anchor="ctr">
                    <a:lnL w="9525" cap="flat" cmpd="sng" algn="ctr">
                      <a:solidFill>
                        <a:srgbClr val="E3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 rtl="1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  <a:latin typeface="Vazirmatn" pitchFamily="34" charset="0"/>
                          <a:ea typeface="Vazirmatn" pitchFamily="34" charset="-122"/>
                          <a:cs typeface="Vazirmatn" pitchFamily="34" charset="-120"/>
                        </a:rPr>
                        <a:t>فرانت‌اند</a:t>
                      </a:r>
                      <a:endParaRPr lang="en-US" sz="1800" dirty="0">
                        <a:latin typeface="Vazirmatn" charset="0"/>
                        <a:ea typeface="Vazirmatn" charset="0"/>
                        <a:cs typeface="Vazirmatn" charset="0"/>
                      </a:endParaRPr>
                    </a:p>
                  </a:txBody>
                  <a:tcPr marL="137160" marR="137160" anchor="ctr">
                    <a:lnL w="9525" cap="flat" cmpd="sng" algn="ctr">
                      <a:solidFill>
                        <a:srgbClr val="E3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r" rtl="1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Vazirmatn" pitchFamily="34" charset="0"/>
                          <a:ea typeface="Vazirmatn" pitchFamily="34" charset="-122"/>
                          <a:cs typeface="Vazirmatn" pitchFamily="34" charset="-120"/>
                        </a:rPr>
                        <a:t>IPFS از طریق Pinata</a:t>
                      </a:r>
                      <a:endParaRPr lang="en-US" sz="1800" dirty="0">
                        <a:latin typeface="Vazirmatn" charset="0"/>
                        <a:ea typeface="Vazirmatn" charset="0"/>
                        <a:cs typeface="Vazirmatn" charset="0"/>
                      </a:endParaRPr>
                    </a:p>
                  </a:txBody>
                  <a:tcPr marL="137160" marR="137160" anchor="ctr">
                    <a:lnL w="9525" cap="flat" cmpd="sng" algn="ctr">
                      <a:solidFill>
                        <a:srgbClr val="E3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 rtl="1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  <a:latin typeface="Vazirmatn" pitchFamily="34" charset="0"/>
                          <a:ea typeface="Vazirmatn" pitchFamily="34" charset="-122"/>
                          <a:cs typeface="Vazirmatn" pitchFamily="34" charset="-120"/>
                        </a:rPr>
                        <a:t>ذخیره‌ی فایل</a:t>
                      </a:r>
                      <a:endParaRPr lang="en-US" sz="1800" dirty="0">
                        <a:latin typeface="Vazirmatn" charset="0"/>
                        <a:ea typeface="Vazirmatn" charset="0"/>
                        <a:cs typeface="Vazirmatn" charset="0"/>
                      </a:endParaRPr>
                    </a:p>
                  </a:txBody>
                  <a:tcPr marL="137160" marR="137160" anchor="ctr">
                    <a:lnL w="9525" cap="flat" cmpd="sng" algn="ctr">
                      <a:solidFill>
                        <a:srgbClr val="E3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Vazirmatn" pitchFamily="34" charset="0"/>
                          <a:ea typeface="Vazirmatn" pitchFamily="34" charset="-122"/>
                          <a:cs typeface="Vazirmatn" pitchFamily="34" charset="-120"/>
                        </a:rPr>
                        <a:t>Foundry · React · Vite · Tailwind · ethers v6</a:t>
                      </a:r>
                      <a:endParaRPr lang="en-US" sz="1800" dirty="0">
                        <a:latin typeface="Vazirmatn" charset="0"/>
                        <a:ea typeface="Vazirmatn" charset="0"/>
                        <a:cs typeface="Vazirmatn" charset="0"/>
                      </a:endParaRPr>
                    </a:p>
                  </a:txBody>
                  <a:tcPr marL="137160" marR="137160" anchor="ctr">
                    <a:lnL w="9525" cap="flat" cmpd="sng" algn="ctr">
                      <a:solidFill>
                        <a:srgbClr val="E3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 rtl="1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  <a:latin typeface="Vazirmatn" pitchFamily="34" charset="0"/>
                          <a:ea typeface="Vazirmatn" pitchFamily="34" charset="-122"/>
                          <a:cs typeface="Vazirmatn" pitchFamily="34" charset="-120"/>
                        </a:rPr>
                        <a:t>ابزارها</a:t>
                      </a:r>
                      <a:endParaRPr lang="en-US" sz="1800" dirty="0">
                        <a:latin typeface="Vazirmatn" charset="0"/>
                        <a:ea typeface="Vazirmatn" charset="0"/>
                        <a:cs typeface="Vazirmatn" charset="0"/>
                      </a:endParaRPr>
                    </a:p>
                  </a:txBody>
                  <a:tcPr marL="137160" marR="137160" anchor="ctr">
                    <a:lnL w="9525" cap="flat" cmpd="sng" algn="ctr">
                      <a:solidFill>
                        <a:srgbClr val="E3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"/>
          <p:cNvSpPr txBox="1"/>
          <p:nvPr/>
        </p:nvSpPr>
        <p:spPr>
          <a:xfrm>
            <a:off x="10680192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fa-IR" altLang="en-US" sz="1200" dirty="0">
                <a:solidFill>
                  <a:schemeClr val="accent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۴۰</a:t>
            </a:r>
            <a:endParaRPr lang="fa-IR" sz="1500" dirty="0"/>
          </a:p>
        </p:txBody>
      </p:sp>
      <p:sp>
        <p:nvSpPr>
          <p:cNvPr id="4" name="Text 1"/>
          <p:cNvSpPr txBox="1"/>
          <p:nvPr/>
        </p:nvSpPr>
        <p:spPr>
          <a:xfrm>
            <a:off x="4279392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fa-IR" altLang="en-US" sz="1200" b="1" dirty="0">
                <a:solidFill>
                  <a:schemeClr val="accent1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تست و استقرار</a:t>
            </a:r>
            <a:endParaRPr lang="fa-IR" sz="1500" dirty="0"/>
          </a:p>
        </p:txBody>
      </p:sp>
      <p:sp>
        <p:nvSpPr>
          <p:cNvPr id="5" name="Text 2"/>
          <p:cNvSpPr txBox="1"/>
          <p:nvPr/>
        </p:nvSpPr>
        <p:spPr>
          <a:xfrm>
            <a:off x="2084832" y="640080"/>
            <a:ext cx="9509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 rtl="1">
              <a:buNone/>
            </a:pPr>
            <a:r>
              <a:rPr lang="fa-IR" altLang="en-US" sz="3000" b="1" dirty="0">
                <a:solidFill>
                  <a:schemeClr val="tx2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دمو: سناریوی کامل</a:t>
            </a:r>
            <a:endParaRPr lang="fa-IR" sz="3300" dirty="0"/>
          </a:p>
        </p:txBody>
      </p:sp>
      <p:sp>
        <p:nvSpPr>
          <p:cNvPr id="6" name="Step 1"/>
          <p:cNvSpPr/>
          <p:nvPr/>
        </p:nvSpPr>
        <p:spPr>
          <a:xfrm>
            <a:off x="594360" y="1691640"/>
            <a:ext cx="11000232" cy="556260"/>
          </a:xfrm>
          <a:prstGeom prst="roundRect">
            <a:avLst>
              <a:gd name="adj" fmla="val 13151"/>
            </a:avLst>
          </a:prstGeom>
          <a:solidFill>
            <a:schemeClr val="bg1"/>
          </a:solidFill>
          <a:ln w="9525">
            <a:solidFill>
              <a:srgbClr val="E3DFD3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0954512" y="174117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10954512" y="174117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a-IR" altLang="en-US" sz="1500" b="1" dirty="0">
                <a:solidFill>
                  <a:schemeClr val="bg1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۱</a:t>
            </a:r>
            <a:endParaRPr lang="fa-IR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868680" y="1691640"/>
            <a:ext cx="9811512" cy="5562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fa-IR" altLang="en-US" sz="1800" dirty="0">
                <a:solidFill>
                  <a:schemeClr val="tx1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مدیر: تأیید دانشگاه و افزودن رشته</a:t>
            </a:r>
            <a:endParaRPr lang="fa-IR" sz="2100" dirty="0"/>
          </a:p>
        </p:txBody>
      </p:sp>
      <p:sp>
        <p:nvSpPr>
          <p:cNvPr id="10" name="Step 2"/>
          <p:cNvSpPr/>
          <p:nvPr/>
        </p:nvSpPr>
        <p:spPr>
          <a:xfrm>
            <a:off x="594360" y="2375916"/>
            <a:ext cx="11000232" cy="556260"/>
          </a:xfrm>
          <a:prstGeom prst="roundRect">
            <a:avLst>
              <a:gd name="adj" fmla="val 13151"/>
            </a:avLst>
          </a:prstGeom>
          <a:solidFill>
            <a:schemeClr val="bg1"/>
          </a:solidFill>
          <a:ln w="9525">
            <a:solidFill>
              <a:srgbClr val="E3DFD3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0954512" y="2425446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10954512" y="242544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a-IR" altLang="en-US" sz="1500" b="1" dirty="0">
                <a:solidFill>
                  <a:schemeClr val="bg1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۲</a:t>
            </a:r>
            <a:endParaRPr lang="fa-IR" sz="1800" dirty="0"/>
          </a:p>
        </p:txBody>
      </p:sp>
      <p:sp>
        <p:nvSpPr>
          <p:cNvPr id="13" name="Text 10"/>
          <p:cNvSpPr txBox="1"/>
          <p:nvPr/>
        </p:nvSpPr>
        <p:spPr>
          <a:xfrm>
            <a:off x="868680" y="2375916"/>
            <a:ext cx="9811512" cy="5562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fa-IR" altLang="en-US" sz="1800" dirty="0">
                <a:solidFill>
                  <a:schemeClr val="tx1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دانشجو: فعال‌سازی رمزنگاری</a:t>
            </a:r>
            <a:endParaRPr lang="fa-IR" sz="2100" dirty="0"/>
          </a:p>
        </p:txBody>
      </p:sp>
      <p:sp>
        <p:nvSpPr>
          <p:cNvPr id="14" name="Step 3"/>
          <p:cNvSpPr/>
          <p:nvPr/>
        </p:nvSpPr>
        <p:spPr>
          <a:xfrm>
            <a:off x="594360" y="3060192"/>
            <a:ext cx="11000232" cy="556260"/>
          </a:xfrm>
          <a:prstGeom prst="roundRect">
            <a:avLst>
              <a:gd name="adj" fmla="val 13151"/>
            </a:avLst>
          </a:prstGeom>
          <a:solidFill>
            <a:schemeClr val="bg1"/>
          </a:solidFill>
          <a:ln w="9525">
            <a:solidFill>
              <a:srgbClr val="E3DFD3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10954512" y="3109722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10954512" y="310972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a-IR" altLang="en-US" sz="1500" b="1" dirty="0">
                <a:solidFill>
                  <a:schemeClr val="bg1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۳</a:t>
            </a:r>
            <a:endParaRPr lang="fa-IR" sz="1800" dirty="0"/>
          </a:p>
        </p:txBody>
      </p:sp>
      <p:sp>
        <p:nvSpPr>
          <p:cNvPr id="17" name="Text 14"/>
          <p:cNvSpPr txBox="1"/>
          <p:nvPr/>
        </p:nvSpPr>
        <p:spPr>
          <a:xfrm>
            <a:off x="868680" y="3060192"/>
            <a:ext cx="9811512" cy="5562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fa-IR" altLang="en-US" sz="1800" dirty="0">
                <a:solidFill>
                  <a:schemeClr val="tx1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دانشگاه: صدور مدرک و آپلود فایل</a:t>
            </a:r>
            <a:endParaRPr lang="fa-IR" sz="2100" dirty="0"/>
          </a:p>
        </p:txBody>
      </p:sp>
      <p:sp>
        <p:nvSpPr>
          <p:cNvPr id="18" name="Step 4"/>
          <p:cNvSpPr/>
          <p:nvPr/>
        </p:nvSpPr>
        <p:spPr>
          <a:xfrm>
            <a:off x="594360" y="3744468"/>
            <a:ext cx="11000232" cy="556260"/>
          </a:xfrm>
          <a:prstGeom prst="roundRect">
            <a:avLst>
              <a:gd name="adj" fmla="val 13151"/>
            </a:avLst>
          </a:prstGeom>
          <a:solidFill>
            <a:schemeClr val="bg1"/>
          </a:solidFill>
          <a:ln w="9525">
            <a:solidFill>
              <a:srgbClr val="E3DFD3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10954512" y="3793998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10954512" y="379399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a-IR" altLang="en-US" sz="1500" b="1" dirty="0">
                <a:solidFill>
                  <a:schemeClr val="bg1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۴</a:t>
            </a:r>
            <a:endParaRPr lang="fa-IR" sz="1800" dirty="0"/>
          </a:p>
        </p:txBody>
      </p:sp>
      <p:sp>
        <p:nvSpPr>
          <p:cNvPr id="21" name="Text 18"/>
          <p:cNvSpPr txBox="1"/>
          <p:nvPr/>
        </p:nvSpPr>
        <p:spPr>
          <a:xfrm>
            <a:off x="868680" y="3744468"/>
            <a:ext cx="9811512" cy="5562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fa-IR" altLang="en-US" sz="1800" dirty="0">
                <a:solidFill>
                  <a:schemeClr val="tx1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دانشجو: اعطای دسترسی به کارفرما</a:t>
            </a:r>
            <a:endParaRPr lang="fa-IR" sz="2100" dirty="0"/>
          </a:p>
        </p:txBody>
      </p:sp>
      <p:sp>
        <p:nvSpPr>
          <p:cNvPr id="22" name="Step 5"/>
          <p:cNvSpPr/>
          <p:nvPr/>
        </p:nvSpPr>
        <p:spPr>
          <a:xfrm>
            <a:off x="594360" y="4428744"/>
            <a:ext cx="11000232" cy="556260"/>
          </a:xfrm>
          <a:prstGeom prst="roundRect">
            <a:avLst>
              <a:gd name="adj" fmla="val 13151"/>
            </a:avLst>
          </a:prstGeom>
          <a:solidFill>
            <a:schemeClr val="bg1"/>
          </a:solidFill>
          <a:ln w="9525">
            <a:solidFill>
              <a:srgbClr val="E3DFD3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10954512" y="4478274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10954512" y="447827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a-IR" altLang="en-US" sz="1500" b="1" dirty="0">
                <a:solidFill>
                  <a:schemeClr val="bg1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۵</a:t>
            </a:r>
            <a:endParaRPr lang="fa-IR" sz="1800" dirty="0"/>
          </a:p>
        </p:txBody>
      </p:sp>
      <p:sp>
        <p:nvSpPr>
          <p:cNvPr id="25" name="Text 22"/>
          <p:cNvSpPr txBox="1"/>
          <p:nvPr/>
        </p:nvSpPr>
        <p:spPr>
          <a:xfrm>
            <a:off x="868680" y="4428744"/>
            <a:ext cx="9811512" cy="5562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fa-IR" altLang="en-US" sz="1800" dirty="0">
                <a:solidFill>
                  <a:schemeClr val="tx1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کارفرما: استعلام و دانلود مدرک</a:t>
            </a:r>
            <a:endParaRPr lang="fa-IR" sz="2100" dirty="0"/>
          </a:p>
        </p:txBody>
      </p:sp>
      <p:sp>
        <p:nvSpPr>
          <p:cNvPr id="26" name="Step 6"/>
          <p:cNvSpPr/>
          <p:nvPr/>
        </p:nvSpPr>
        <p:spPr>
          <a:xfrm>
            <a:off x="594360" y="5113020"/>
            <a:ext cx="11000232" cy="556260"/>
          </a:xfrm>
          <a:prstGeom prst="roundRect">
            <a:avLst>
              <a:gd name="adj" fmla="val 13151"/>
            </a:avLst>
          </a:prstGeom>
          <a:solidFill>
            <a:schemeClr val="bg1"/>
          </a:solidFill>
          <a:ln w="9525">
            <a:solidFill>
              <a:srgbClr val="E3DFD3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10954512" y="516255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10954512" y="516255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a-IR" altLang="en-US" sz="1500" b="1" dirty="0">
                <a:solidFill>
                  <a:schemeClr val="bg1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۶</a:t>
            </a:r>
            <a:endParaRPr lang="fa-IR" sz="1800" dirty="0"/>
          </a:p>
        </p:txBody>
      </p:sp>
      <p:sp>
        <p:nvSpPr>
          <p:cNvPr id="29" name="Text 26"/>
          <p:cNvSpPr txBox="1"/>
          <p:nvPr/>
        </p:nvSpPr>
        <p:spPr>
          <a:xfrm>
            <a:off x="868680" y="5113020"/>
            <a:ext cx="9811512" cy="5562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fa-IR" altLang="en-US" sz="1800" dirty="0">
                <a:solidFill>
                  <a:schemeClr val="tx1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دانشگاه: ابطال و استعلام دوباره</a:t>
            </a:r>
            <a:endParaRPr lang="fa-IR" sz="21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"/>
          <p:cNvSpPr txBox="1"/>
          <p:nvPr/>
        </p:nvSpPr>
        <p:spPr>
          <a:xfrm>
            <a:off x="10680192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fa-IR" altLang="en-US" sz="1200" dirty="0">
                <a:solidFill>
                  <a:schemeClr val="accent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۴۱</a:t>
            </a:r>
            <a:endParaRPr lang="fa-IR" sz="1500" dirty="0"/>
          </a:p>
        </p:txBody>
      </p:sp>
      <p:sp>
        <p:nvSpPr>
          <p:cNvPr id="4" name="Text 1"/>
          <p:cNvSpPr txBox="1"/>
          <p:nvPr/>
        </p:nvSpPr>
        <p:spPr>
          <a:xfrm>
            <a:off x="4279392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fa-IR" altLang="en-US" sz="1200" b="1" dirty="0">
                <a:solidFill>
                  <a:schemeClr val="accent1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تست و استقرار</a:t>
            </a:r>
            <a:endParaRPr lang="fa-IR" sz="1500" dirty="0"/>
          </a:p>
        </p:txBody>
      </p:sp>
      <p:sp>
        <p:nvSpPr>
          <p:cNvPr id="5" name="Text 2"/>
          <p:cNvSpPr txBox="1"/>
          <p:nvPr/>
        </p:nvSpPr>
        <p:spPr>
          <a:xfrm>
            <a:off x="2084832" y="640080"/>
            <a:ext cx="9509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 rtl="1">
              <a:buNone/>
            </a:pPr>
            <a:r>
              <a:rPr lang="fa-IR" altLang="en-US" sz="3000" b="1" dirty="0">
                <a:solidFill>
                  <a:schemeClr val="tx2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محدودیت‌ها و کارهای آینده</a:t>
            </a:r>
            <a:endParaRPr lang="fa-IR" sz="3300" dirty="0"/>
          </a:p>
        </p:txBody>
      </p:sp>
      <p:sp>
        <p:nvSpPr>
          <p:cNvPr id="6" name="Icon circle"/>
          <p:cNvSpPr/>
          <p:nvPr/>
        </p:nvSpPr>
        <p:spPr>
          <a:xfrm>
            <a:off x="594360" y="502920"/>
            <a:ext cx="777240" cy="7772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7" name="Icon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8" y="704088"/>
            <a:ext cx="374904" cy="374904"/>
          </a:xfrm>
          <a:prstGeom prst="rect">
            <a:avLst/>
          </a:prstGeom>
        </p:spPr>
      </p:pic>
      <p:sp>
        <p:nvSpPr>
          <p:cNvPr id="8" name="Card 1"/>
          <p:cNvSpPr/>
          <p:nvPr/>
        </p:nvSpPr>
        <p:spPr>
          <a:xfrm>
            <a:off x="6231636" y="1691640"/>
            <a:ext cx="5362956" cy="2057400"/>
          </a:xfrm>
          <a:prstGeom prst="roundRect">
            <a:avLst>
              <a:gd name="adj" fmla="val 4444"/>
            </a:avLst>
          </a:prstGeom>
          <a:solidFill>
            <a:schemeClr val="bg1"/>
          </a:solidFill>
          <a:ln w="9525">
            <a:solidFill>
              <a:srgbClr val="E3DFD3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10908792" y="1920240"/>
            <a:ext cx="438912" cy="43891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10908792" y="192024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a-IR" altLang="en-US" sz="1500" b="1" dirty="0">
                <a:solidFill>
                  <a:schemeClr val="bg1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۱</a:t>
            </a:r>
            <a:endParaRPr lang="fa-IR" sz="1800" dirty="0"/>
          </a:p>
        </p:txBody>
      </p:sp>
      <p:sp>
        <p:nvSpPr>
          <p:cNvPr id="11" name="Text 7"/>
          <p:cNvSpPr txBox="1"/>
          <p:nvPr/>
        </p:nvSpPr>
        <p:spPr>
          <a:xfrm>
            <a:off x="6505956" y="1920240"/>
            <a:ext cx="42656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fa-IR" altLang="en-US" sz="2200" b="1" dirty="0">
                <a:solidFill>
                  <a:schemeClr val="tx2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توکن Pinata در فرانت‌اند</a:t>
            </a:r>
            <a:endParaRPr lang="fa-IR" sz="2500" dirty="0"/>
          </a:p>
        </p:txBody>
      </p:sp>
      <p:sp>
        <p:nvSpPr>
          <p:cNvPr id="12" name="Text 8"/>
          <p:cNvSpPr txBox="1"/>
          <p:nvPr/>
        </p:nvSpPr>
        <p:spPr>
          <a:xfrm>
            <a:off x="6505956" y="2514600"/>
            <a:ext cx="481431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 rtl="1">
              <a:buNone/>
            </a:pPr>
            <a:r>
              <a:rPr lang="fa-IR" altLang="en-US" sz="2000" dirty="0">
                <a:solidFill>
                  <a:schemeClr val="tx1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در محیط تولید باید یک سرور واسط، یعنی proxy، کلید را نگه دارد</a:t>
            </a:r>
            <a:endParaRPr lang="fa-IR" sz="2300" dirty="0"/>
          </a:p>
        </p:txBody>
      </p:sp>
      <p:sp>
        <p:nvSpPr>
          <p:cNvPr id="13" name="Card 2"/>
          <p:cNvSpPr/>
          <p:nvPr/>
        </p:nvSpPr>
        <p:spPr>
          <a:xfrm>
            <a:off x="594360" y="1691640"/>
            <a:ext cx="5362956" cy="2057400"/>
          </a:xfrm>
          <a:prstGeom prst="roundRect">
            <a:avLst>
              <a:gd name="adj" fmla="val 4444"/>
            </a:avLst>
          </a:prstGeom>
          <a:solidFill>
            <a:schemeClr val="bg1"/>
          </a:solidFill>
          <a:ln w="9525">
            <a:solidFill>
              <a:srgbClr val="E3DFD3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5271516" y="1920240"/>
            <a:ext cx="438912" cy="43891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5271516" y="192024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a-IR" altLang="en-US" sz="1500" b="1" dirty="0">
                <a:solidFill>
                  <a:schemeClr val="bg1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۲</a:t>
            </a:r>
            <a:endParaRPr lang="fa-IR" sz="1800" dirty="0"/>
          </a:p>
        </p:txBody>
      </p:sp>
      <p:sp>
        <p:nvSpPr>
          <p:cNvPr id="16" name="Text 12"/>
          <p:cNvSpPr txBox="1"/>
          <p:nvPr/>
        </p:nvSpPr>
        <p:spPr>
          <a:xfrm>
            <a:off x="868680" y="1920240"/>
            <a:ext cx="42656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fa-IR" altLang="en-US" sz="2200" b="1" dirty="0">
                <a:solidFill>
                  <a:schemeClr val="tx2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اعتماد به مدیر</a:t>
            </a:r>
            <a:endParaRPr lang="fa-IR" sz="2500" dirty="0"/>
          </a:p>
        </p:txBody>
      </p:sp>
      <p:sp>
        <p:nvSpPr>
          <p:cNvPr id="17" name="Text 13"/>
          <p:cNvSpPr txBox="1"/>
          <p:nvPr/>
        </p:nvSpPr>
        <p:spPr>
          <a:xfrm>
            <a:off x="868680" y="2514600"/>
            <a:ext cx="481431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 rtl="1">
              <a:buNone/>
            </a:pPr>
            <a:r>
              <a:rPr lang="fa-IR" altLang="en-US" sz="2000" dirty="0">
                <a:solidFill>
                  <a:schemeClr val="tx1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مدیر باید نهاد معتبر باشد؛ در آینده می‌توان چندامضایی یا multisig کرد</a:t>
            </a:r>
            <a:endParaRPr lang="fa-IR" sz="2300" dirty="0"/>
          </a:p>
        </p:txBody>
      </p:sp>
      <p:sp>
        <p:nvSpPr>
          <p:cNvPr id="18" name="Card 3"/>
          <p:cNvSpPr/>
          <p:nvPr/>
        </p:nvSpPr>
        <p:spPr>
          <a:xfrm>
            <a:off x="6231636" y="4023360"/>
            <a:ext cx="5362956" cy="2057400"/>
          </a:xfrm>
          <a:prstGeom prst="roundRect">
            <a:avLst>
              <a:gd name="adj" fmla="val 4444"/>
            </a:avLst>
          </a:prstGeom>
          <a:solidFill>
            <a:schemeClr val="bg1"/>
          </a:solidFill>
          <a:ln w="9525">
            <a:solidFill>
              <a:srgbClr val="E3DFD3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10908792" y="4251960"/>
            <a:ext cx="438912" cy="43891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10908792" y="425196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a-IR" altLang="en-US" sz="1500" b="1" dirty="0">
                <a:solidFill>
                  <a:schemeClr val="bg1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۳</a:t>
            </a:r>
            <a:endParaRPr lang="fa-IR" sz="1800" dirty="0"/>
          </a:p>
        </p:txBody>
      </p:sp>
      <p:sp>
        <p:nvSpPr>
          <p:cNvPr id="21" name="Text 17"/>
          <p:cNvSpPr txBox="1"/>
          <p:nvPr/>
        </p:nvSpPr>
        <p:spPr>
          <a:xfrm>
            <a:off x="6505956" y="4251960"/>
            <a:ext cx="42656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fa-IR" altLang="en-US" sz="2200" b="1" dirty="0">
                <a:solidFill>
                  <a:schemeClr val="tx2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افشای قبلی غیرقابل پس‌گرفتن</a:t>
            </a:r>
            <a:endParaRPr lang="fa-IR" sz="2500" dirty="0"/>
          </a:p>
        </p:txBody>
      </p:sp>
      <p:sp>
        <p:nvSpPr>
          <p:cNvPr id="22" name="Text 18"/>
          <p:cNvSpPr txBox="1"/>
          <p:nvPr/>
        </p:nvSpPr>
        <p:spPr>
          <a:xfrm>
            <a:off x="6505956" y="4846320"/>
            <a:ext cx="481431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 rtl="1">
              <a:buNone/>
            </a:pPr>
            <a:r>
              <a:rPr lang="fa-IR" altLang="en-US" sz="2000" dirty="0">
                <a:solidFill>
                  <a:schemeClr val="tx1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اگر کارفرما فایل را قبلاً دانلود کرده، لغو دسترسی آن را برنمی‌گرداند</a:t>
            </a:r>
            <a:endParaRPr lang="fa-IR" sz="2300" dirty="0"/>
          </a:p>
        </p:txBody>
      </p:sp>
      <p:sp>
        <p:nvSpPr>
          <p:cNvPr id="23" name="Card 4"/>
          <p:cNvSpPr/>
          <p:nvPr/>
        </p:nvSpPr>
        <p:spPr>
          <a:xfrm>
            <a:off x="594360" y="4023360"/>
            <a:ext cx="5362956" cy="2057400"/>
          </a:xfrm>
          <a:prstGeom prst="roundRect">
            <a:avLst>
              <a:gd name="adj" fmla="val 4444"/>
            </a:avLst>
          </a:prstGeom>
          <a:solidFill>
            <a:schemeClr val="bg1"/>
          </a:solidFill>
          <a:ln w="9525">
            <a:solidFill>
              <a:srgbClr val="E3DFD3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5271516" y="4251960"/>
            <a:ext cx="438912" cy="43891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5" name="Text 21"/>
          <p:cNvSpPr txBox="1"/>
          <p:nvPr/>
        </p:nvSpPr>
        <p:spPr>
          <a:xfrm>
            <a:off x="5271516" y="425196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a-IR" altLang="en-US" sz="1500" b="1" dirty="0">
                <a:solidFill>
                  <a:schemeClr val="bg1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۴</a:t>
            </a:r>
            <a:endParaRPr lang="fa-IR" sz="1800" dirty="0"/>
          </a:p>
        </p:txBody>
      </p:sp>
      <p:sp>
        <p:nvSpPr>
          <p:cNvPr id="26" name="Text 22"/>
          <p:cNvSpPr txBox="1"/>
          <p:nvPr/>
        </p:nvSpPr>
        <p:spPr>
          <a:xfrm>
            <a:off x="868680" y="4251960"/>
            <a:ext cx="42656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fa-IR" altLang="en-US" sz="2200" b="1" dirty="0">
                <a:solidFill>
                  <a:schemeClr val="tx2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آینده</a:t>
            </a:r>
            <a:endParaRPr lang="fa-IR" sz="2500" dirty="0"/>
          </a:p>
        </p:txBody>
      </p:sp>
      <p:sp>
        <p:nvSpPr>
          <p:cNvPr id="27" name="Text 23"/>
          <p:cNvSpPr txBox="1"/>
          <p:nvPr/>
        </p:nvSpPr>
        <p:spPr>
          <a:xfrm>
            <a:off x="868680" y="4846320"/>
            <a:ext cx="481431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 rtl="1">
              <a:buNone/>
            </a:pPr>
            <a:r>
              <a:rPr lang="fa-IR" altLang="en-US" sz="2000" dirty="0">
                <a:solidFill>
                  <a:schemeClr val="tx1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اتصال به سامانه‌های دانشگاهی، تأیید هویت دانشجو، رابط موبایل</a:t>
            </a:r>
            <a:endParaRPr lang="fa-IR" sz="23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"/>
          <p:cNvSpPr txBox="1"/>
          <p:nvPr/>
        </p:nvSpPr>
        <p:spPr>
          <a:xfrm>
            <a:off x="10680192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fa-IR" altLang="en-US" sz="1200" dirty="0">
                <a:solidFill>
                  <a:schemeClr val="accent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۴۲</a:t>
            </a:r>
            <a:endParaRPr lang="fa-IR" sz="1500" dirty="0"/>
          </a:p>
        </p:txBody>
      </p:sp>
      <p:sp>
        <p:nvSpPr>
          <p:cNvPr id="4" name="Text 1"/>
          <p:cNvSpPr txBox="1"/>
          <p:nvPr/>
        </p:nvSpPr>
        <p:spPr>
          <a:xfrm>
            <a:off x="4279392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fa-IR" altLang="en-US" sz="1200" b="1" dirty="0">
                <a:solidFill>
                  <a:schemeClr val="accent1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تست و استقرار</a:t>
            </a:r>
            <a:endParaRPr lang="fa-IR" sz="1500" dirty="0"/>
          </a:p>
        </p:txBody>
      </p:sp>
      <p:sp>
        <p:nvSpPr>
          <p:cNvPr id="5" name="Text 2"/>
          <p:cNvSpPr txBox="1"/>
          <p:nvPr/>
        </p:nvSpPr>
        <p:spPr>
          <a:xfrm>
            <a:off x="2084832" y="640080"/>
            <a:ext cx="9509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 rtl="1">
              <a:buNone/>
            </a:pPr>
            <a:r>
              <a:rPr lang="fa-IR" altLang="en-US" sz="3000" b="1" dirty="0">
                <a:solidFill>
                  <a:schemeClr val="tx2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جمع‌بندی</a:t>
            </a:r>
            <a:endParaRPr lang="fa-IR" sz="3300" dirty="0"/>
          </a:p>
        </p:txBody>
      </p:sp>
      <p:sp>
        <p:nvSpPr>
          <p:cNvPr id="6" name="Statement card"/>
          <p:cNvSpPr/>
          <p:nvPr/>
        </p:nvSpPr>
        <p:spPr>
          <a:xfrm>
            <a:off x="594360" y="1737360"/>
            <a:ext cx="11000232" cy="2103120"/>
          </a:xfrm>
          <a:prstGeom prst="roundRect">
            <a:avLst>
              <a:gd name="adj" fmla="val 4348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051560" y="1737360"/>
            <a:ext cx="10085832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fa-IR" altLang="en-US" sz="2600" b="1" dirty="0">
                <a:solidFill>
                  <a:schemeClr val="bg1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Attestera نشان می‌دهد می‌توان اعتبار مدارک تحصیلی را بدون واسطه تأیید کرد، بدون اینکه حریم خصوصی دانشجو فدا شود.</a:t>
            </a:r>
            <a:endParaRPr lang="fa-IR" sz="2900" dirty="0"/>
          </a:p>
        </p:txBody>
      </p:sp>
      <p:sp>
        <p:nvSpPr>
          <p:cNvPr id="8" name="Point 1"/>
          <p:cNvSpPr/>
          <p:nvPr/>
        </p:nvSpPr>
        <p:spPr>
          <a:xfrm>
            <a:off x="8110728" y="4160520"/>
            <a:ext cx="3483864" cy="1737360"/>
          </a:xfrm>
          <a:prstGeom prst="roundRect">
            <a:avLst>
              <a:gd name="adj" fmla="val 5263"/>
            </a:avLst>
          </a:prstGeom>
          <a:solidFill>
            <a:schemeClr val="bg1"/>
          </a:solidFill>
          <a:ln w="9525">
            <a:solidFill>
              <a:srgbClr val="E3DFD3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385048" y="4343400"/>
            <a:ext cx="29352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fa-IR" altLang="en-US" sz="2400" b="1" dirty="0">
                <a:solidFill>
                  <a:schemeClr val="accent1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بلاکچین</a:t>
            </a:r>
            <a:endParaRPr lang="fa-IR" sz="2700" dirty="0"/>
          </a:p>
        </p:txBody>
      </p:sp>
      <p:sp>
        <p:nvSpPr>
          <p:cNvPr id="10" name="Text 7"/>
          <p:cNvSpPr txBox="1"/>
          <p:nvPr/>
        </p:nvSpPr>
        <p:spPr>
          <a:xfrm>
            <a:off x="8385048" y="4937760"/>
            <a:ext cx="29352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buNone/>
            </a:pPr>
            <a:r>
              <a:rPr lang="fa-IR" altLang="en-US" sz="1700" dirty="0">
                <a:solidFill>
                  <a:schemeClr val="tx1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اصالت و غیرقابل دستکاری</a:t>
            </a:r>
            <a:endParaRPr lang="fa-IR" sz="2000" dirty="0"/>
          </a:p>
        </p:txBody>
      </p:sp>
      <p:sp>
        <p:nvSpPr>
          <p:cNvPr id="11" name="Point 2"/>
          <p:cNvSpPr/>
          <p:nvPr/>
        </p:nvSpPr>
        <p:spPr>
          <a:xfrm>
            <a:off x="4352544" y="4160520"/>
            <a:ext cx="3483864" cy="1737360"/>
          </a:xfrm>
          <a:prstGeom prst="roundRect">
            <a:avLst>
              <a:gd name="adj" fmla="val 5263"/>
            </a:avLst>
          </a:prstGeom>
          <a:solidFill>
            <a:schemeClr val="bg1"/>
          </a:solidFill>
          <a:ln w="9525">
            <a:solidFill>
              <a:srgbClr val="E3DFD3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4626864" y="4343400"/>
            <a:ext cx="29352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fa-IR" altLang="en-US" sz="2400" b="1" dirty="0">
                <a:solidFill>
                  <a:schemeClr val="accent1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رمزنگاری</a:t>
            </a:r>
            <a:endParaRPr lang="fa-IR" sz="2700" dirty="0"/>
          </a:p>
        </p:txBody>
      </p:sp>
      <p:sp>
        <p:nvSpPr>
          <p:cNvPr id="13" name="Text 10"/>
          <p:cNvSpPr txBox="1"/>
          <p:nvPr/>
        </p:nvSpPr>
        <p:spPr>
          <a:xfrm>
            <a:off x="4626864" y="4937760"/>
            <a:ext cx="29352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buNone/>
            </a:pPr>
            <a:r>
              <a:rPr lang="fa-IR" altLang="en-US" sz="1700" dirty="0">
                <a:solidFill>
                  <a:schemeClr val="tx1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کنترل دست دانشجو</a:t>
            </a:r>
            <a:endParaRPr lang="fa-IR" sz="2000" dirty="0"/>
          </a:p>
        </p:txBody>
      </p:sp>
      <p:sp>
        <p:nvSpPr>
          <p:cNvPr id="14" name="Point 3"/>
          <p:cNvSpPr/>
          <p:nvPr/>
        </p:nvSpPr>
        <p:spPr>
          <a:xfrm>
            <a:off x="594360" y="4160520"/>
            <a:ext cx="3483864" cy="1737360"/>
          </a:xfrm>
          <a:prstGeom prst="roundRect">
            <a:avLst>
              <a:gd name="adj" fmla="val 5263"/>
            </a:avLst>
          </a:prstGeom>
          <a:solidFill>
            <a:schemeClr val="bg1"/>
          </a:solidFill>
          <a:ln w="9525">
            <a:solidFill>
              <a:srgbClr val="E3DFD3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868680" y="4343400"/>
            <a:ext cx="29352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fa-IR" altLang="en-US" sz="2400" b="1" dirty="0">
                <a:solidFill>
                  <a:schemeClr val="accent1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تست</a:t>
            </a:r>
            <a:endParaRPr lang="fa-IR" sz="2700" dirty="0"/>
          </a:p>
        </p:txBody>
      </p:sp>
      <p:sp>
        <p:nvSpPr>
          <p:cNvPr id="16" name="Text 13"/>
          <p:cNvSpPr txBox="1"/>
          <p:nvPr/>
        </p:nvSpPr>
        <p:spPr>
          <a:xfrm>
            <a:off x="868680" y="4937760"/>
            <a:ext cx="29352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buNone/>
            </a:pPr>
            <a:r>
              <a:rPr lang="fa-IR" altLang="en-US" sz="1700" dirty="0">
                <a:solidFill>
                  <a:schemeClr val="tx1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۶۴ تست، استقرار واقعی</a:t>
            </a:r>
            <a:endParaRPr lang="fa-IR" sz="20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-1371600" y="3840480"/>
            <a:ext cx="4572000" cy="4572000"/>
          </a:xfrm>
          <a:prstGeom prst="ellipse">
            <a:avLst/>
          </a:prstGeom>
          <a:solidFill>
            <a:schemeClr val="accent1">
              <a:alpha val="30000"/>
            </a:schemeClr>
          </a:solidFill>
          <a:ln w="12700">
            <a:solidFill>
              <a:schemeClr val="accent1">
                <a:alpha val="30000"/>
              </a:schemeClr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80192" y="1097280"/>
            <a:ext cx="914400" cy="914400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2450592" y="2194560"/>
            <a:ext cx="9144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fa-IR" altLang="en-US" sz="6600" b="1" dirty="0">
                <a:solidFill>
                  <a:schemeClr val="bg1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سپاسگزارم</a:t>
            </a:r>
            <a:endParaRPr lang="fa-IR" sz="6900" dirty="0"/>
          </a:p>
        </p:txBody>
      </p:sp>
      <p:sp>
        <p:nvSpPr>
          <p:cNvPr id="7" name="Text 3"/>
          <p:cNvSpPr txBox="1"/>
          <p:nvPr/>
        </p:nvSpPr>
        <p:spPr>
          <a:xfrm>
            <a:off x="2450592" y="530352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fa-IR" altLang="en-US" sz="1500" dirty="0">
                <a:solidFill>
                  <a:schemeClr val="bg2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Attestera · الميرا تقی‌نسب · github.com/Elmirataghinasab</a:t>
            </a:r>
            <a:endParaRPr lang="fa-IR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ttestera">
  <a:themeElements>
    <a:clrScheme name="Attestera">
      <a:dk1>
        <a:srgbClr val="1B2433"/>
      </a:dk1>
      <a:lt1>
        <a:srgbClr val="FFFFFF"/>
      </a:lt1>
      <a:dk2>
        <a:srgbClr val="12263F"/>
      </a:dk2>
      <a:lt2>
        <a:srgbClr val="F6F3EC"/>
      </a:lt2>
      <a:accent1>
        <a:srgbClr val="0E7C7B"/>
      </a:accent1>
      <a:accent2>
        <a:srgbClr val="E0A526"/>
      </a:accent2>
      <a:accent3>
        <a:srgbClr val="C2410C"/>
      </a:accent3>
      <a:accent4>
        <a:srgbClr val="3B6EA5"/>
      </a:accent4>
      <a:accent5>
        <a:srgbClr val="6B7280"/>
      </a:accent5>
      <a:accent6>
        <a:srgbClr val="7C3AED"/>
      </a:accent6>
      <a:hlink>
        <a:srgbClr val="0E7C7B"/>
      </a:hlink>
      <a:folHlink>
        <a:srgbClr val="6B7280"/>
      </a:folHlink>
    </a:clrScheme>
    <a:fontScheme name="Attestera">
      <a:majorFont>
        <a:latin typeface="Vazirmatn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Vazirmatn"/>
        <a:font script="Hebr" typeface="Vazirmat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azirmat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Vazirmatn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Vazirmatn"/>
        <a:font script="Hebr" typeface="Vazirmat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azirmat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4766</Words>
  <Application>Microsoft Macintosh PowerPoint</Application>
  <PresentationFormat>Widescreen</PresentationFormat>
  <Paragraphs>754</Paragraphs>
  <Slides>43</Slides>
  <Notes>43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43</vt:i4>
      </vt:variant>
    </vt:vector>
  </HeadingPairs>
  <TitlesOfParts>
    <vt:vector size="47" baseType="lpstr">
      <vt:lpstr>Arial</vt:lpstr>
      <vt:lpstr>Courier New</vt:lpstr>
      <vt:lpstr>Times New Roman</vt:lpstr>
      <vt:lpstr>Attestera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Attestera</dc:title>
  <dc:subject>PptxGenJS Presentation</dc:subject>
  <dc:creator>Elmira Taghinasab</dc:creator>
  <cp:lastModifiedBy>Elmira</cp:lastModifiedBy>
  <cp:revision>2</cp:revision>
  <dcterms:created xsi:type="dcterms:W3CDTF">2026-10-24T09:05:14Z</dcterms:created>
  <dcterms:modified xsi:type="dcterms:W3CDTF">2026-10-24T09:10:46Z</dcterms:modified>
</cp:coreProperties>
</file>